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各位评审专家好，我们的项目是 SmartMentor 智导师，一个基于大模型的个性化资源生成与学习多智能体系统。今天我想先把我们最核心的一句话讲清楚：传统学习工具只告诉学生"哪里错了"，而 SmartMentor 要回答"为什么不会"。我们沿着知识图谱定位每一个错误背后的深层根因，从源头把学生补起来，而不是再让他多做十道题。这是我们对中国软件杯 A3 赛题的回答。接下来大约八到十分钟，我会从项目背景、多智能体价值、前沿技术融合,以及创新功能四个部分展开。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今天汇报的四个部分。第一部分,我会交代赛题命题和我们的项目定位,以及我们要解决的痛点。第二部分是重点之一——多智能体的应用价值,包括我们的学习闭环、五个智能体的分工,以及它们如何协作。第三部分讲前沿 AI 技术的融合思路与实现方法,这也是评审最关心的技术深度所在。第四部分落到创新价值和真实可用的核心功能上。四个部分层层递进,从"为什么做"到"怎么做"再到"做成了什么"。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先看赛题。科大讯飞的 A3 赛题有三个核心要求:个性化资源生成、构建学习多智能体、以及融合大模型。我们的回答是——做一个高中数学的多 Agent 个性化诊断与知识溯源系统。这里的关键词是"诊断"和"溯源"。我们的核心命题前面已经点过:不止告诉学生哪里错,更要回答为什么不会,沿着知识图谱找到真正卡住他的那个点。我们的产品有三个支柱:可溯源、闭环式、规模化。考虑到比赛周期和打磨深度,我们一期重点把导数和函数这条知识链路做扎实、做到能完整跑通,后续再扩展到更多模块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一定要"治本"?看左边的三个痛点。第一,传统批改只说哪里错,不说为什么错,看不到背后断裂的知识链。第二,刷题治标不治本,反复练薄弱点,但根因始终没补上。第三,真正有效的一对一辅导资源稀缺、成本高,普通学生很难享受到。右边是我们看到的机遇:大模型加知识图谱,可以定位深层根因,而且做到可解释——每条诊断都附依赖理由,不是黑盒打分;同时 AI 智能体能以低成本、可规模化的方式提供一对一级别的辅导。一句话价值主张:发现根因,个性化补起,而不是"再做十道题"。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进入第二部分,先看产品全貌。SmartMentor 的核心是一条学习链路:诊断薄弱点,沿图谱溯源根因,生成个性化路径,分层教学伴学,最后检查评估。注意这不是一条走完就结束的直线——评估如果不达标,会自动回流到诊断,重新校准,直到学生真正掌握。所以它是一个闭环。这条链路同时服务两端:学生端有七大功能,教师端有六大功能。整套系统的三个关键词是自适应、可解释、闭环。下面几页我会把闭环、五个智能体、以及它们的协作机制逐一拆开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我们的核心理念:测-学-测-再规划的自动闭环。五个阶段构成一个环,诊断、溯源、规划、教学、评估。最关键的是绿色这条回流线——评估发现学生没达标,系统自动回到诊断重新校准,不需要人工干预。这里有三个设计要点。第一,它是事件驱动的,不是固定流水线:任何一个环节产生新事件,都能触发后续的智能体,灵活响应学生的真实状态。第二,正因为是闭环,我们必须防止它无限空转,所以设置了最大协作轮次上限,保证系统稳定收敛、响应可预期。这种"自动回流直到掌握"的机制,正是治本式学习能落地的关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闭环的每个阶段背后都是一个独立决策、独立推理的智能体,一共五个。诊断 Agent 做自适应出题,用 IRT 项目反应理论实时调整难度,通常五到八道题就能定位一个模块的薄弱点。中间这个琥珀色高亮的溯源 Agent 是我们的创新核心,我下一页会重点讲——它沿知识图谱前置依赖递归回溯,从表面错误找到真正的根因,还能跨模块溯源。规划 Agent 对薄弱点和它的前置依赖做拓扑排序,生成"先补根因、再攻难点"的科学路径。教学 Agent 按掌握度分层讲解,并按学生的认知风格适配讲法和例题。评估 Agent 在检查点评估,不达标就触发反馈循环。五个智能体各司其职,又通过事件相互驱动。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五个智能体怎么协作?我们没有把它们硬编码成一条固定管线,而是自研了一个 AgentOrchestrator 编排器,配合事件总线来调度。每个 Agent 把自己的产出作为事件发布到总线上,其他 Agent 订阅相关事件被唤醒,彼此松耦合。右边三个真实的协作示例。第一,评估 Agent 发现掌握度不达标,发布事件,触发诊断 Agent 重新校准路径。第二,溯源 Agent 发现解析几何的根因其实在代数,就触发规划 Agent 补充前置的代数知识点——这就是跨模块协作。第三是健壮性:任何单个 Agent 失败,我们会中断当前 Pipeline 并回退,加上前面提到的最大轮次上限,保证系统稳定收敛、不会陷入死循环。这种事件驱动架构也让未来加入新的智能体非常容易。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三部分技术融合,先讲我们的创新核心:知识图谱递归溯源。看左边这棵树,它演示了一次真实的溯源过程。学生表现出来的是"导数应用题失分",这是表面错题。系统沿前置依赖往下走:导数的几何意义没掌握、极限与变化率模糊,再往下,发现根子其实落在函数单调性、不等式求解,最终定位到最底层的根因——代数式恒等变形。注意,根因已经跨出了导数模块,落到了代数上,这就是跨模块溯源的价值。右边是三个支撑点:我们用 JSON 加内存图为高中数学八十到一百二十个知识点建模前置依赖;沿依赖链做 BFS/DFS 递归回溯;每条依赖边都标注了"为什么需要这个前置"的理由,所以我们的诊断是可解释、可追溯的,而不是一个黑盒分数。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这一页讲我们怎么把前沿 AI 能力工程化落地。最上面是大模型部分:我们以科大讯飞星火 v4 为主模型,DeepSeek 作为备用回退,通过一个统一的 LlmService 适配层屏蔽不同模型的协议差异,主模型异常时自动降级,保证生成服务高可用。下面四张卡是配套的关键技术。RAG 检索增强:用教材原文做向量检索锚定,生成内容必有教材依据,从源头抑制编造。流式输出 SSE:服务端边想边推,首字节小于一秒,伴学对话很顺滑。BKT/IRT:用贝叶斯知识追踪估计掌握度,项目反应理论驱动自适应难度。最后是知识图谱推理,为大模型注入学科结构,让推理能沿依赖关系展开。这几项不是孤立堆砌,而是围绕"准确、可用、可解释"这个目标融合在一起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教育场景对学科准确性的要求极高,一道题讲错可能误导学生,所以我们专门设计了防幻觉三层机制。大模型生成内容后,要依次过三道关。第一层 RAG 锚定:生成的内容必须能在教材原文里找到依据,没依据的不采纳。第二层 LLM 自检:让模型对自己的输出做二次校验,复核推理链条和结论是否合理。第三层规则校验:用领域规则兜底,检查数学符号、公式、答案格式的正确性。三层层层拦截,确保每道题、每句讲解都站得住脚。下面还有一个很实用的工程保障——离线演示模式:在没有网络、没有 API 密钥的情况下,系统自动切换到内置的高质量样例数据,仍然能完整演示诊断、溯源、教学全链路。这意味着今天的答辩现场零依赖、零风险。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这是系统的整体技术架构,五层,自上而下职责清晰。最上面是前端展现层,Vue 3 加 TypeScript,KaTeX 渲染数学公式,D3.js 做知识图谱和路径的可视化。第二层 API 路由层,Spring Boot 统一路由分发,JWT 做学生端和教师端基于角色的权限隔离,会话无状态。第三层是琥珀色高亮的多智能体编排层,也就是系统的大脑——AgentOrchestrator 编排器加事件总线,前面讲过了。第四层大模型适配层,LlmService 统一接入星火和 DeepSeek 并自动降级,防幻觉三层和 RAG 也在这一层。最底下数据存储层:MySQL 存用户题目和学习记录,Redis 缓存画像、命中率超过百分之八十,知识图谱以 JSON 加内存图存储。分层解耦的好处是每一层都能独立演进和替换。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这一页快速过一下具体技术栈,都是成熟稳定的主流选型,兼顾开发效率和可维护性。后端是 Java 17 加 Spring Boot 2.7,JPA/Hibernate 做持久化,Spring Security 加 JWT 做安全,OkHttp 调用外部模型,LangChain4j 辅助大模型集成。数据层 MySQL 加 Redis,Redis 同时承担画像缓存和 SSE 连接保活,Milvus 作为可选的向量库。前端 Vue 3 加 Vite 加 TypeScript,配 Vue Router 和 Axios,渲染上 KaTeX 负责公式、D3.js 负责图谱和路径可视化,Markdown-it 渲染讲解内容。底部是 DevOps:Maven 构建,Docker Compose 加 Nginx 部署,内嵌 Tomcat。整体技术选型保证了系统既能快速开发,又具备生产可用的稳定性。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部分讲真实可用的核心功能,先看学生端的七大功能,它们完整覆盖了从诊断到巩固的学习旅程。诊断测试做自适应出题和薄弱点汇总。溯源分析——也是高亮的那张——把薄弱点到根因的图谱路径可视化,每一步都带依赖理由。学习路径用 DAG 展示节点状态和掌握度进度。个性化教学做分层讲解,按认知风格适配。针对练习用检查点测试驱动巩固,通过解锁、失败补救,形成练习闭环。AI 伴学对话是另一个高亮点:在每个学习节点内嵌 Chat,它能感知当前知识点的上下文,随问随答、流式输出。最后是学习报告,掌握度历史曲线加错误模式分析,让学生看清自己的成长轨迹。强调一点:这些都是真实跑通的功能,不是界面占位。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师端的设计思路是数据驱动的因材施教,六大功能,所有结论都基于真实学习数据聚合,不是凭空生成。班级管理把学生列表、成绩、进度、预警集中呈现。中间高亮的知识热力图很受老师欢迎——全班各知识点的薄弱分布一目了然,还能下钻到具体知识点和学生,精准定位教学重点。分层作业生成自动产出基础、提高、拓展三层作业,而且是真实题目不是占位,一键布置。学生预警在掌握度下降、长期未学、连续错题时自动触发,让老师第一时间介入。班级周报基于真实数据给出有据可循的分析和建议,减轻老师负担。最后作业互通,教师布置的作业实时同步到学生"我的作业",完成情况再回流教师端,形成闭环。这一套让老师真正能用数据做决策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前面所有的智能决策——诊断怎么调难度、教学怎么分层、路径怎么规划——背后都依赖一个数据底座,就是这个五维学生画像。五个维度:知识状态,也就是各知识点的掌握度,用 BKT 估计,驱动诊断和路径;错误模式,记录高频错误类型和归因,辅助溯源定位;学习行为,反映学习时长频次和节奏;认知风格,判断学生偏好图示、文字还是步骤,驱动教学方式适配;目标画像,根据学习目标校准路径的深度和难度。这五维合起来,系统才能做到真正的个性化,而不是千人一面。工程上,画像存在 Redis 里,命中率超过百分之八十,保证了实时性。可以说,画像越准,整个闭环的每个决策就越精准。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我们的创新价值和差异化。顶部深色条是四个核心创新:事件驱动的多智能体协作、知识图谱递归溯源、防幻觉三层机制、多模型高可用,技术和产品双重创新。下面四个象限,我用对标的方式说明我们补上了别人缺的那块。对比题库 App:它只推题、只统计对错,我们做图谱溯源找根因,先补依赖再练习。对比通用 AI 助手:它没有学科结构、容易幻觉,我们用知识图谱注入结构加防幻觉三层,生成有据、推理可靠。对比传统自适应学习系统:它会调难度但缺乏知识点间的关联推理,我们做递归回溯和跨模块溯源。最后对比一对一辅导:效果好但资源稀缺、难规模化,而我们的 AI 智能体能 7×24 提供一对一级别的辅导,低成本、可复制。这四个差异化合起来,就是我们的护城河。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收束。治本式学习,我们已经从这里开始了。左边是已经落地的成果:五个智能体的完整闭环加知识图谱递归溯源、防幻觉三层加多模型高可用、学生端七大功能加教师端六大功能的完整界面、四十多个后端接口加离线演示模式,而且导数和函数这条知识链路已经全流程跑通。这些都不是 PPT 上的概念,是真实可运行的系统。我们也完整命中了 A3 赛题的三大要求:个性化资源生成、学习多智能体、融合大模型。右边是未来展望:知识图谱可视化编辑、题库质量自动评分、Agent 决策审计日志,以及从数学扩展到物理化学等更多学科,最终走向规模化部署和多校协同验证。以上就是 SmartMentor 智导师的全部汇报,感谢各位评审专家聆听,恳请批评指正,谢谢!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E2E5C"/>
                </a:gs>
                <a:gs pos="55000">
                  <a:srgbClr val="113A72"/>
                </a:gs>
                <a:gs pos="100000">
                  <a:srgbClr val="0A234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0A6D6">
                    <a:alpha val="30000"/>
                  </a:srgbClr>
                </a:gs>
                <a:gs pos="100000">
                  <a:srgbClr val="00A6D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B4B8A">
                    <a:alpha val="55000"/>
                  </a:srgbClr>
                </a:gs>
                <a:gs pos="100000">
                  <a:srgbClr val="1B4B8A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572500" y="1143000"/>
            <a:ext cx="2667000" cy="2952750"/>
            <a:chOff x="8572500" y="1143000"/>
            <a:chExt cx="2667000" cy="2952750"/>
          </a:xfrm>
        </p:grpSpPr>
        <p:sp>
          <p:nvSpPr>
            <p:cNvPr id="6" name="Line 6"/>
            <p:cNvSpPr/>
            <p:nvPr/>
          </p:nvSpPr>
          <p:spPr>
            <a:xfrm>
              <a:off x="9334500" y="1143000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0" y="476250"/>
                  </a:moveTo>
                  <a:lnTo>
                    <a:pt x="1238250" y="0"/>
                  </a:lnTo>
                </a:path>
              </a:pathLst>
            </a:custGeom>
            <a:noFill/>
            <a:ln w="11430">
              <a:solidFill>
                <a:srgbClr val="3E6BA0">
                  <a:alpha val="5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334500" y="1619250"/>
              <a:ext cx="952500" cy="1143000"/>
            </a:xfrm>
            <a:custGeom>
              <a:avLst/>
              <a:gdLst/>
              <a:ahLst/>
              <a:cxnLst/>
              <a:rect l="l" t="t" r="r" b="b"/>
              <a:pathLst>
                <a:path w="952500" h="1143000">
                  <a:moveTo>
                    <a:pt x="0" y="0"/>
                  </a:moveTo>
                  <a:lnTo>
                    <a:pt x="952500" y="1143000"/>
                  </a:lnTo>
                </a:path>
              </a:pathLst>
            </a:custGeom>
            <a:noFill/>
            <a:ln w="11430">
              <a:solidFill>
                <a:srgbClr val="3E6BA0">
                  <a:alpha val="5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0287000" y="2190750"/>
              <a:ext cx="952500" cy="571500"/>
            </a:xfrm>
            <a:custGeom>
              <a:avLst/>
              <a:gdLst/>
              <a:ahLst/>
              <a:cxnLst/>
              <a:rect l="l" t="t" r="r" b="b"/>
              <a:pathLst>
                <a:path w="952500" h="571500">
                  <a:moveTo>
                    <a:pt x="0" y="571500"/>
                  </a:moveTo>
                  <a:lnTo>
                    <a:pt x="952500" y="0"/>
                  </a:lnTo>
                </a:path>
              </a:pathLst>
            </a:custGeom>
            <a:noFill/>
            <a:ln w="11430">
              <a:solidFill>
                <a:srgbClr val="3E6BA0">
                  <a:alpha val="5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287000" y="2762250"/>
              <a:ext cx="571500" cy="1143000"/>
            </a:xfrm>
            <a:custGeom>
              <a:avLst/>
              <a:gdLst/>
              <a:ahLst/>
              <a:cxnLst/>
              <a:rect l="l" t="t" r="r" b="b"/>
              <a:pathLst>
                <a:path w="571500" h="1143000">
                  <a:moveTo>
                    <a:pt x="0" y="0"/>
                  </a:moveTo>
                  <a:lnTo>
                    <a:pt x="571500" y="1143000"/>
                  </a:lnTo>
                </a:path>
              </a:pathLst>
            </a:custGeom>
            <a:noFill/>
            <a:ln w="11430">
              <a:solidFill>
                <a:srgbClr val="3E6BA0">
                  <a:alpha val="5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572500" y="1619250"/>
              <a:ext cx="762000" cy="1238250"/>
            </a:xfrm>
            <a:custGeom>
              <a:avLst/>
              <a:gdLst/>
              <a:ahLst/>
              <a:cxnLst/>
              <a:rect l="l" t="t" r="r" b="b"/>
              <a:pathLst>
                <a:path w="762000" h="1238250">
                  <a:moveTo>
                    <a:pt x="762000" y="0"/>
                  </a:moveTo>
                  <a:lnTo>
                    <a:pt x="0" y="1238250"/>
                  </a:lnTo>
                </a:path>
              </a:pathLst>
            </a:custGeom>
            <a:noFill/>
            <a:ln w="11430">
              <a:solidFill>
                <a:srgbClr val="3E6BA0">
                  <a:alpha val="5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572500" y="2762250"/>
              <a:ext cx="1714500" cy="95250"/>
            </a:xfrm>
            <a:custGeom>
              <a:avLst/>
              <a:gdLst/>
              <a:ahLst/>
              <a:cxnLst/>
              <a:rect l="l" t="t" r="r" b="b"/>
              <a:pathLst>
                <a:path w="1714500" h="95250">
                  <a:moveTo>
                    <a:pt x="0" y="95250"/>
                  </a:moveTo>
                  <a:lnTo>
                    <a:pt x="1714500" y="0"/>
                  </a:lnTo>
                </a:path>
              </a:pathLst>
            </a:custGeom>
            <a:noFill/>
            <a:ln w="11430">
              <a:solidFill>
                <a:srgbClr val="3E6BA0">
                  <a:alpha val="5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572500" y="2857500"/>
              <a:ext cx="571500" cy="1238250"/>
            </a:xfrm>
            <a:custGeom>
              <a:avLst/>
              <a:gdLst/>
              <a:ahLst/>
              <a:cxnLst/>
              <a:rect l="l" t="t" r="r" b="b"/>
              <a:pathLst>
                <a:path w="571500" h="1238250">
                  <a:moveTo>
                    <a:pt x="0" y="0"/>
                  </a:moveTo>
                  <a:lnTo>
                    <a:pt x="571500" y="1238250"/>
                  </a:lnTo>
                </a:path>
              </a:pathLst>
            </a:custGeom>
            <a:noFill/>
            <a:ln w="11430">
              <a:solidFill>
                <a:srgbClr val="3E6BA0">
                  <a:alpha val="5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144000" y="3905250"/>
              <a:ext cx="1714500" cy="190500"/>
            </a:xfrm>
            <a:custGeom>
              <a:avLst/>
              <a:gdLst/>
              <a:ahLst/>
              <a:cxnLst/>
              <a:rect l="l" t="t" r="r" b="b"/>
              <a:pathLst>
                <a:path w="1714500" h="190500">
                  <a:moveTo>
                    <a:pt x="1714500" y="0"/>
                  </a:moveTo>
                  <a:lnTo>
                    <a:pt x="0" y="190500"/>
                  </a:lnTo>
                </a:path>
              </a:pathLst>
            </a:custGeom>
            <a:noFill/>
            <a:ln w="11430">
              <a:solidFill>
                <a:srgbClr val="3E6BA0">
                  <a:alpha val="55000"/>
                </a:srgbClr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8515350" y="1085850"/>
            <a:ext cx="2771775" cy="3086100"/>
            <a:chOff x="8515350" y="1085850"/>
            <a:chExt cx="2771775" cy="3086100"/>
          </a:xfrm>
        </p:grpSpPr>
        <p:sp>
          <p:nvSpPr>
            <p:cNvPr id="15" name="Ellipse 15"/>
            <p:cNvSpPr/>
            <p:nvPr/>
          </p:nvSpPr>
          <p:spPr>
            <a:xfrm>
              <a:off x="9248775" y="1533525"/>
              <a:ext cx="171450" cy="171450"/>
            </a:xfrm>
            <a:prstGeom prst="ellipse">
              <a:avLst/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515600" y="1085850"/>
              <a:ext cx="114300" cy="114300"/>
            </a:xfrm>
            <a:prstGeom prst="ellipse">
              <a:avLst/>
            </a:prstGeom>
            <a:solidFill>
              <a:srgbClr val="5FD0EE">
                <a:alpha val="80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182225" y="2657475"/>
              <a:ext cx="209550" cy="209550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191875" y="2143125"/>
              <a:ext cx="95250" cy="95250"/>
            </a:xfrm>
            <a:prstGeom prst="ellipse">
              <a:avLst/>
            </a:prstGeom>
            <a:solidFill>
              <a:srgbClr val="5FD0EE">
                <a:alpha val="7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791825" y="3838575"/>
              <a:ext cx="133350" cy="133350"/>
            </a:xfrm>
            <a:prstGeom prst="ellipse">
              <a:avLst/>
            </a:prstGeom>
            <a:solidFill>
              <a:srgbClr val="00A6D6">
                <a:alpha val="85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515350" y="2800350"/>
              <a:ext cx="114300" cy="114300"/>
            </a:xfrm>
            <a:prstGeom prst="ellipse">
              <a:avLst/>
            </a:prstGeom>
            <a:solidFill>
              <a:srgbClr val="5FD0EE">
                <a:alpha val="70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067800" y="4019550"/>
              <a:ext cx="152400" cy="152400"/>
            </a:xfrm>
            <a:prstGeom prst="ellipse">
              <a:avLst/>
            </a:prstGeom>
            <a:solidFill>
              <a:srgbClr val="00A6D6">
                <a:alpha val="800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53440" y="2209800"/>
            <a:ext cx="6997229" cy="2202656"/>
            <a:chOff x="853440" y="2209800"/>
            <a:chExt cx="6997229" cy="2202656"/>
          </a:xfrm>
        </p:grpSpPr>
        <p:sp>
          <p:nvSpPr>
            <p:cNvPr id="23" name="Rectangle 23"/>
            <p:cNvSpPr/>
            <p:nvPr/>
          </p:nvSpPr>
          <p:spPr>
            <a:xfrm>
              <a:off x="952500" y="2209800"/>
              <a:ext cx="609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A6D6"/>
                </a:gs>
                <a:gs pos="100000">
                  <a:srgbClr val="5FD0EE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3440" y="2348865"/>
              <a:ext cx="5849631" cy="1280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SmartMentor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7735" y="3361372"/>
              <a:ext cx="6922934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智导师 · </a:t>
              </a:r>
              <a:r>
                <a:rPr lang="zh-CN" sz="3450" b="1" dirty="0">
                  <a:solidFill>
                    <a:srgbClr val="5FD0EE"/>
                  </a:solidFill>
                  <a:latin typeface="Arial"/>
                  <a:ea typeface="Microsoft YaHei"/>
                  <a:cs typeface="Arial"/>
                </a:rPr>
                <a:t>让学习治本，而非治标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9168" y="4061936"/>
              <a:ext cx="510444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AFC4DF"/>
                  </a:solidFill>
                  <a:latin typeface="Arial"/>
                  <a:ea typeface="Microsoft YaHei"/>
                  <a:cs typeface="Arial"/>
                </a:rPr>
                <a:t>基于大模型的个性化资源生成与学习多智能体系统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1550" y="4629150"/>
            <a:ext cx="5543550" cy="381000"/>
            <a:chOff x="971550" y="4629150"/>
            <a:chExt cx="5543550" cy="381000"/>
          </a:xfrm>
        </p:grpSpPr>
        <p:sp>
          <p:nvSpPr>
            <p:cNvPr id="28" name="Rectangle 28"/>
            <p:cNvSpPr/>
            <p:nvPr/>
          </p:nvSpPr>
          <p:spPr>
            <a:xfrm>
              <a:off x="971550" y="4629150"/>
              <a:ext cx="177165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 w="11430">
              <a:solidFill>
                <a:srgbClr val="00A6D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66663" y="4747260"/>
              <a:ext cx="11814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4EEF8"/>
                  </a:solidFill>
                  <a:latin typeface="Arial"/>
                  <a:ea typeface="Microsoft YaHei"/>
                  <a:cs typeface="Arial"/>
                </a:rPr>
                <a:t>5 个智能体协作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857500" y="4629150"/>
              <a:ext cx="190500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 w="11430">
              <a:solidFill>
                <a:srgbClr val="00A6D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22676" y="474726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4EEF8"/>
                  </a:solidFill>
                  <a:latin typeface="Arial"/>
                  <a:ea typeface="Microsoft YaHei"/>
                  <a:cs typeface="Arial"/>
                </a:rPr>
                <a:t>知识图谱递归溯源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876800" y="4629150"/>
              <a:ext cx="1638300" cy="3810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"/>
              </a:srgbClr>
            </a:solidFill>
            <a:ln w="11430">
              <a:solidFill>
                <a:srgbClr val="00A6D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092636" y="47472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4EEF8"/>
                  </a:solidFill>
                  <a:latin typeface="Arial"/>
                  <a:ea typeface="Microsoft YaHei"/>
                  <a:cs typeface="Arial"/>
                </a:rPr>
                <a:t>闭环自适应学习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53452" y="5715000"/>
            <a:ext cx="10266998" cy="773906"/>
            <a:chOff x="953452" y="5715000"/>
            <a:chExt cx="10266998" cy="773906"/>
          </a:xfrm>
        </p:grpSpPr>
        <p:sp>
          <p:nvSpPr>
            <p:cNvPr id="35" name="Line 35"/>
            <p:cNvSpPr/>
            <p:nvPr/>
          </p:nvSpPr>
          <p:spPr>
            <a:xfrm>
              <a:off x="971550" y="5715000"/>
              <a:ext cx="10248900" cy="9525"/>
            </a:xfrm>
            <a:custGeom>
              <a:avLst/>
              <a:gdLst/>
              <a:ahLst/>
              <a:cxnLst/>
              <a:rect l="l" t="t" r="r" b="b"/>
              <a:pathLst>
                <a:path w="10248900" h="9525">
                  <a:moveTo>
                    <a:pt x="0" y="0"/>
                  </a:moveTo>
                  <a:lnTo>
                    <a:pt x="10248900" y="0"/>
                  </a:lnTo>
                </a:path>
              </a:pathLst>
            </a:custGeom>
            <a:noFill/>
            <a:ln w="9525">
              <a:solidFill>
                <a:srgbClr val="3E6BA0">
                  <a:alpha val="50000"/>
                </a:srgb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53452" y="5961221"/>
              <a:ext cx="473500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第十五届中国软件杯 · A3 赛题（科大讯飞）参赛汇报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7262" y="6260306"/>
              <a:ext cx="263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FA8C6"/>
                  </a:solidFill>
                  <a:latin typeface="Arial"/>
                  <a:ea typeface="Microsoft YaHei"/>
                  <a:cs typeface="Arial"/>
                </a:rPr>
                <a:t>高中数学个性化诊断与知识溯源 · 2026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10715625" y="5962650"/>
              <a:ext cx="323850" cy="295275"/>
              <a:chOff x="10715625" y="5962650"/>
              <a:chExt cx="323850" cy="2952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10858500" y="61341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63250" y="61341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953750" y="61341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858500" y="59626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906125" y="60483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810875" y="60483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906125" y="62198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810875" y="62198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715625" y="62198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001375" y="62198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0" y="0"/>
            <a:ext cx="4457700" cy="6858000"/>
            <a:chOff x="0" y="0"/>
            <a:chExt cx="44577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4457700" cy="6858000"/>
            </a:xfrm>
            <a:prstGeom prst="rect">
              <a:avLst/>
            </a:prstGeom>
            <a:gradFill>
              <a:gsLst>
                <a:gs pos="0">
                  <a:srgbClr val="0E2E5C"/>
                </a:gs>
                <a:gs pos="100000">
                  <a:srgbClr val="1B4B8A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4457700" cy="6858000"/>
            </a:xfrm>
            <a:prstGeom prst="rect">
              <a:avLst/>
            </a:prstGeom>
            <a:gradFill>
              <a:gsLst>
                <a:gs pos="0">
                  <a:srgbClr val="00A6D6">
                    <a:alpha val="25000"/>
                  </a:srgbClr>
                </a:gs>
                <a:gs pos="100000">
                  <a:srgbClr val="00A6D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3400" y="2209800"/>
              <a:ext cx="183261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目录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26745" y="3117532"/>
              <a:ext cx="11046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FD0EE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47700" y="3619500"/>
              <a:ext cx="685800" cy="57150"/>
            </a:xfrm>
            <a:prstGeom prst="roundRect">
              <a:avLst>
                <a:gd name="adj" fmla="val 50000"/>
              </a:avLst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31508" y="403431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FC4DF"/>
                  </a:solidFill>
                  <a:latin typeface="Arial"/>
                  <a:ea typeface="Microsoft YaHei"/>
                  <a:cs typeface="Arial"/>
                </a:rPr>
                <a:t>从赛题命题到技术实现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1508" y="430101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FC4DF"/>
                  </a:solidFill>
                  <a:latin typeface="Arial"/>
                  <a:ea typeface="Microsoft YaHei"/>
                  <a:cs typeface="Arial"/>
                </a:rPr>
                <a:t>四个维度展开汇报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14375" y="5362575"/>
              <a:ext cx="400050" cy="400050"/>
              <a:chOff x="714375" y="5362575"/>
              <a:chExt cx="400050" cy="4000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14375" y="56292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44450"/>
                    </a:move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88900"/>
                    </a:lnTo>
                    <a:cubicBezTo>
                      <a:pt x="133350" y="113449"/>
                      <a:pt x="113449" y="133350"/>
                      <a:pt x="88900" y="133350"/>
                    </a:cubicBezTo>
                    <a:lnTo>
                      <a:pt x="44450" y="133350"/>
                    </a:lnTo>
                    <a:cubicBezTo>
                      <a:pt x="19901" y="133350"/>
                      <a:pt x="0" y="113449"/>
                      <a:pt x="0" y="88900"/>
                    </a:cubicBez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1075" y="56292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44450"/>
                    </a:move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88900"/>
                    </a:lnTo>
                    <a:cubicBezTo>
                      <a:pt x="133350" y="113449"/>
                      <a:pt x="113449" y="133350"/>
                      <a:pt x="88900" y="133350"/>
                    </a:cubicBezTo>
                    <a:lnTo>
                      <a:pt x="44450" y="133350"/>
                    </a:lnTo>
                    <a:cubicBezTo>
                      <a:pt x="19901" y="133350"/>
                      <a:pt x="0" y="113449"/>
                      <a:pt x="0" y="88900"/>
                    </a:cubicBez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47725" y="53625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44450"/>
                    </a:move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88900"/>
                    </a:lnTo>
                    <a:cubicBezTo>
                      <a:pt x="133350" y="113449"/>
                      <a:pt x="113449" y="133350"/>
                      <a:pt x="88900" y="133350"/>
                    </a:cubicBezTo>
                    <a:lnTo>
                      <a:pt x="44450" y="133350"/>
                    </a:lnTo>
                    <a:cubicBezTo>
                      <a:pt x="19901" y="133350"/>
                      <a:pt x="0" y="113449"/>
                      <a:pt x="0" y="88900"/>
                    </a:cubicBez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81050" y="5562600"/>
                <a:ext cx="2667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222250" y="0"/>
                    </a:lnTo>
                    <a:cubicBezTo>
                      <a:pt x="246799" y="0"/>
                      <a:pt x="266700" y="19901"/>
                      <a:pt x="266700" y="44450"/>
                    </a:cubicBezTo>
                    <a:lnTo>
                      <a:pt x="266700" y="66675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14400" y="5495925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</p:grpSp>
      <p:grpSp>
        <p:nvGrpSpPr>
          <p:cNvPr id="37" name="Group 37"/>
          <p:cNvGrpSpPr/>
          <p:nvPr/>
        </p:nvGrpSpPr>
        <p:grpSpPr>
          <a:xfrm>
            <a:off x="5253990" y="1282065"/>
            <a:ext cx="5985510" cy="4118610"/>
            <a:chOff x="5253990" y="1282065"/>
            <a:chExt cx="5985510" cy="4118610"/>
          </a:xfrm>
        </p:grpSpPr>
        <p:grpSp>
          <p:nvGrpSpPr>
            <p:cNvPr id="21" name="Group 21"/>
            <p:cNvGrpSpPr/>
            <p:nvPr/>
          </p:nvGrpSpPr>
          <p:grpSpPr>
            <a:xfrm>
              <a:off x="5253990" y="1282065"/>
              <a:ext cx="5985510" cy="746760"/>
              <a:chOff x="5253990" y="1282065"/>
              <a:chExt cx="5985510" cy="74676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253990" y="1282065"/>
                <a:ext cx="476569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0E2E5C">
                        <a:alphaMod val="14000"/>
                      </a:srgbClr>
                    </a:solidFill>
                    <a:latin typeface="Arial Black"/>
                    <a:ea typeface="Microsoft YaHei"/>
                    <a:cs typeface="Arial Black"/>
                  </a:rPr>
                  <a:t>01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918835" y="1294448"/>
                <a:ext cx="196076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项目背景与定位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929312" y="1688306"/>
                <a:ext cx="21288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赛题命题、痛点机遇与产品定位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5943600" y="2019300"/>
                <a:ext cx="5295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95900" h="9525">
                    <a:moveTo>
                      <a:pt x="0" y="0"/>
                    </a:moveTo>
                    <a:lnTo>
                      <a:pt x="5295900" y="0"/>
                    </a:lnTo>
                  </a:path>
                </a:pathLst>
              </a:custGeom>
              <a:noFill/>
              <a:ln w="14288">
                <a:solidFill>
                  <a:srgbClr val="E2E8F0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5253990" y="2406015"/>
              <a:ext cx="5985510" cy="746760"/>
              <a:chOff x="5253990" y="2406015"/>
              <a:chExt cx="5985510" cy="74676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253990" y="2406015"/>
                <a:ext cx="592084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0E2E5C">
                        <a:alphaMod val="14000"/>
                      </a:srgbClr>
                    </a:solidFill>
                    <a:latin typeface="Arial Black"/>
                    <a:ea typeface="Microsoft YaHei"/>
                    <a:cs typeface="Arial Black"/>
                  </a:rPr>
                  <a:t>02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918835" y="2418398"/>
                <a:ext cx="2233803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多智能体应用价值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929312" y="281225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学习闭环、五大智能体与协作机制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5943600" y="3143250"/>
                <a:ext cx="5295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95900" h="9525">
                    <a:moveTo>
                      <a:pt x="0" y="0"/>
                    </a:moveTo>
                    <a:lnTo>
                      <a:pt x="5295900" y="0"/>
                    </a:lnTo>
                  </a:path>
                </a:pathLst>
              </a:custGeom>
              <a:noFill/>
              <a:ln w="14288">
                <a:solidFill>
                  <a:srgbClr val="E2E8F0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5253990" y="3529965"/>
              <a:ext cx="5985510" cy="746760"/>
              <a:chOff x="5253990" y="3529965"/>
              <a:chExt cx="5985510" cy="74676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5253990" y="3529965"/>
                <a:ext cx="592084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00A6D6">
                        <a:alphaMod val="20000"/>
                      </a:srgbClr>
                    </a:solidFill>
                    <a:latin typeface="Arial Black"/>
                    <a:ea typeface="Microsoft YaHei"/>
                    <a:cs typeface="Arial Black"/>
                  </a:rPr>
                  <a:t>03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918835" y="3542348"/>
                <a:ext cx="3448805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前沿 AI 技术融合与实现方法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929312" y="3936206"/>
                <a:ext cx="25788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图谱溯源、大模型融合、防幻觉与架构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5943600" y="4267200"/>
                <a:ext cx="5295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95900" h="9525">
                    <a:moveTo>
                      <a:pt x="0" y="0"/>
                    </a:moveTo>
                    <a:lnTo>
                      <a:pt x="5295900" y="0"/>
                    </a:lnTo>
                  </a:path>
                </a:pathLst>
              </a:custGeom>
              <a:noFill/>
              <a:ln w="14288">
                <a:solidFill>
                  <a:srgbClr val="E2E8F0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5253990" y="4653915"/>
              <a:ext cx="5985510" cy="746760"/>
              <a:chOff x="5253990" y="4653915"/>
              <a:chExt cx="5985510" cy="746760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5253990" y="4653915"/>
                <a:ext cx="592084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0E2E5C">
                        <a:alphaMod val="14000"/>
                      </a:srgbClr>
                    </a:solidFill>
                    <a:latin typeface="Arial Black"/>
                    <a:ea typeface="Microsoft YaHei"/>
                    <a:cs typeface="Arial Black"/>
                  </a:rPr>
                  <a:t>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18835" y="4666298"/>
                <a:ext cx="2506837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创新价值与核心功能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929312" y="506015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双端功能、五维画像与差异化优势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5943600" y="5391150"/>
                <a:ext cx="5295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95900" h="9525">
                    <a:moveTo>
                      <a:pt x="0" y="0"/>
                    </a:moveTo>
                    <a:lnTo>
                      <a:pt x="5295900" y="0"/>
                    </a:lnTo>
                  </a:path>
                </a:pathLst>
              </a:custGeom>
              <a:noFill/>
              <a:ln w="14288">
                <a:solidFill>
                  <a:srgbClr val="E2E8F0"/>
                </a:solidFill>
              </a:ln>
            </p:spPr>
          </p:sp>
        </p:grpSp>
      </p:grpSp>
      <p:grpSp>
        <p:nvGrpSpPr>
          <p:cNvPr id="40" name="Group 40"/>
          <p:cNvGrpSpPr/>
          <p:nvPr/>
        </p:nvGrpSpPr>
        <p:grpSpPr>
          <a:xfrm>
            <a:off x="5284470" y="6360795"/>
            <a:ext cx="5966461" cy="182880"/>
            <a:chOff x="5284470" y="6360795"/>
            <a:chExt cx="5966461" cy="18288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0" y="63607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96054" y="63607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3254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赛题命题 · 我们的回答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32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从“哪里不会”升级到“为什么不会”的个性化学习系统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11920" y="591502"/>
              <a:ext cx="783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01 项目背景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54" name="Group 54"/>
          <p:cNvGrpSpPr/>
          <p:nvPr/>
        </p:nvGrpSpPr>
        <p:grpSpPr>
          <a:xfrm>
            <a:off x="609600" y="1428750"/>
            <a:ext cx="3238500" cy="4667250"/>
            <a:chOff x="609600" y="1428750"/>
            <a:chExt cx="3238500" cy="46672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3238500" cy="4667250"/>
            </a:xfrm>
            <a:prstGeom prst="roundRect">
              <a:avLst>
                <a:gd name="adj" fmla="val 4706"/>
              </a:avLst>
            </a:prstGeom>
            <a:gradFill>
              <a:gsLst>
                <a:gs pos="0">
                  <a:srgbClr val="0E2E5C"/>
                </a:gs>
                <a:gs pos="100000">
                  <a:srgbClr val="1B4B8A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725" y="1719262"/>
              <a:ext cx="4036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FD0EE"/>
                  </a:solidFill>
                  <a:latin typeface="Arial Black"/>
                  <a:ea typeface="Microsoft YaHei"/>
                  <a:cs typeface="Arial Black"/>
                </a:rPr>
                <a:t>A3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1605" y="18164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科大讯飞赛题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76300" y="2152650"/>
              <a:ext cx="2705100" cy="9525"/>
            </a:xfrm>
            <a:custGeom>
              <a:avLst/>
              <a:gdLst/>
              <a:ahLst/>
              <a:cxnLst/>
              <a:rect l="l" t="t" r="r" b="b"/>
              <a:pathLst>
                <a:path w="2705100" h="9525">
                  <a:moveTo>
                    <a:pt x="0" y="0"/>
                  </a:moveTo>
                  <a:lnTo>
                    <a:pt x="2705100" y="0"/>
                  </a:lnTo>
                </a:path>
              </a:pathLst>
            </a:custGeom>
            <a:noFill/>
            <a:ln w="9525">
              <a:solidFill>
                <a:srgbClr val="3E6BA0">
                  <a:alpha val="60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2012" y="23741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FC4DF"/>
                  </a:solidFill>
                  <a:latin typeface="Arial"/>
                  <a:ea typeface="Microsoft YaHei"/>
                  <a:cs typeface="Arial"/>
                </a:rPr>
                <a:t>命题三大核心要求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923925" y="2738914"/>
              <a:ext cx="1664971" cy="459105"/>
              <a:chOff x="923925" y="2738914"/>
              <a:chExt cx="1664971" cy="459105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923925" y="2809875"/>
                <a:ext cx="190500" cy="190500"/>
                <a:chOff x="923925" y="2809875"/>
                <a:chExt cx="190500" cy="19050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923925" y="2857500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947738" y="2809875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0"/>
                      </a:move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47738" y="2905125"/>
                  <a:ext cx="95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0">
                      <a:moveTo>
                        <a:pt x="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95362" y="2928938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019175" y="2809875"/>
                  <a:ext cx="9525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9062">
                      <a:moveTo>
                        <a:pt x="0" y="0"/>
                      </a:moveTo>
                      <a:lnTo>
                        <a:pt x="0" y="119062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019175" y="2976562"/>
                  <a:ext cx="9525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3812">
                      <a:moveTo>
                        <a:pt x="0" y="0"/>
                      </a:move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066800" y="282178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090612" y="2809875"/>
                  <a:ext cx="9525" cy="11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906">
                      <a:moveTo>
                        <a:pt x="0" y="0"/>
                      </a:moveTo>
                      <a:lnTo>
                        <a:pt x="0" y="11906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090612" y="2869406"/>
                  <a:ext cx="9525" cy="130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0969">
                      <a:moveTo>
                        <a:pt x="0" y="0"/>
                      </a:moveTo>
                      <a:lnTo>
                        <a:pt x="0" y="130969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1260158" y="273891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个性化资源生成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63968" y="299989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FA8C6"/>
                    </a:solidFill>
                    <a:latin typeface="Arial"/>
                    <a:ea typeface="Microsoft YaHei"/>
                    <a:cs typeface="Arial"/>
                  </a:rPr>
                  <a:t>因人而异的题目与讲解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917972" y="3462814"/>
              <a:ext cx="1456397" cy="459105"/>
              <a:chOff x="917972" y="3462814"/>
              <a:chExt cx="1456397" cy="459105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917972" y="3533775"/>
                <a:ext cx="202406" cy="184546"/>
                <a:chOff x="917972" y="3533775"/>
                <a:chExt cx="202406" cy="184546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1007269" y="3640931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947738" y="3640931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066800" y="3640931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007269" y="3533775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037034" y="3587353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977503" y="3587353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037034" y="369450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977503" y="369450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917972" y="369450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096566" y="369450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260158" y="346281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学习多智能体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263968" y="3723799"/>
                <a:ext cx="11104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FA8C6"/>
                    </a:solidFill>
                    <a:latin typeface="Arial"/>
                    <a:ea typeface="Microsoft YaHei"/>
                    <a:cs typeface="Arial"/>
                  </a:rPr>
                  <a:t>多 Agent 分工协作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912019" y="4186714"/>
              <a:ext cx="1546860" cy="459105"/>
              <a:chOff x="912019" y="4186714"/>
              <a:chExt cx="1546860" cy="459105"/>
            </a:xfrm>
          </p:grpSpPr>
          <p:grpSp>
            <p:nvGrpSpPr>
              <p:cNvPr id="47" name="Group 47"/>
              <p:cNvGrpSpPr/>
              <p:nvPr/>
            </p:nvGrpSpPr>
            <p:grpSpPr>
              <a:xfrm>
                <a:off x="912019" y="4245769"/>
                <a:ext cx="214312" cy="214312"/>
                <a:chOff x="912019" y="4245769"/>
                <a:chExt cx="214312" cy="214312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019175" y="4364831"/>
                  <a:ext cx="83344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95250">
                      <a:moveTo>
                        <a:pt x="41672" y="0"/>
                      </a:moveTo>
                      <a:cubicBezTo>
                        <a:pt x="18657" y="0"/>
                        <a:pt x="0" y="18657"/>
                        <a:pt x="0" y="41672"/>
                      </a:cubicBezTo>
                      <a:lnTo>
                        <a:pt x="0" y="53578"/>
                      </a:lnTo>
                      <a:cubicBezTo>
                        <a:pt x="0" y="76593"/>
                        <a:pt x="18657" y="95250"/>
                        <a:pt x="41672" y="95250"/>
                      </a:cubicBezTo>
                      <a:cubicBezTo>
                        <a:pt x="64687" y="95250"/>
                        <a:pt x="83344" y="76593"/>
                        <a:pt x="83344" y="53578"/>
                      </a:cubicBezTo>
                      <a:lnTo>
                        <a:pt x="83344" y="32147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935831" y="4364831"/>
                  <a:ext cx="83344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95250">
                      <a:moveTo>
                        <a:pt x="41672" y="0"/>
                      </a:moveTo>
                      <a:cubicBezTo>
                        <a:pt x="64687" y="0"/>
                        <a:pt x="83344" y="18657"/>
                        <a:pt x="83344" y="41672"/>
                      </a:cubicBezTo>
                      <a:lnTo>
                        <a:pt x="83344" y="53578"/>
                      </a:lnTo>
                      <a:cubicBezTo>
                        <a:pt x="83344" y="76593"/>
                        <a:pt x="64687" y="95250"/>
                        <a:pt x="41672" y="95250"/>
                      </a:cubicBezTo>
                      <a:cubicBezTo>
                        <a:pt x="18657" y="95250"/>
                        <a:pt x="0" y="76593"/>
                        <a:pt x="0" y="53578"/>
                      </a:cubicBezTo>
                      <a:lnTo>
                        <a:pt x="0" y="32147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078706" y="4317206"/>
                  <a:ext cx="47625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83344">
                      <a:moveTo>
                        <a:pt x="5953" y="83344"/>
                      </a:moveTo>
                      <a:cubicBezTo>
                        <a:pt x="28968" y="83344"/>
                        <a:pt x="47625" y="64687"/>
                        <a:pt x="47625" y="41672"/>
                      </a:cubicBezTo>
                      <a:cubicBezTo>
                        <a:pt x="47625" y="18657"/>
                        <a:pt x="28968" y="0"/>
                        <a:pt x="5953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019175" y="4245769"/>
                  <a:ext cx="83344" cy="75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75009">
                      <a:moveTo>
                        <a:pt x="83344" y="75009"/>
                      </a:moveTo>
                      <a:lnTo>
                        <a:pt x="83344" y="41672"/>
                      </a:lnTo>
                      <a:cubicBezTo>
                        <a:pt x="83344" y="18657"/>
                        <a:pt x="64687" y="0"/>
                        <a:pt x="41672" y="0"/>
                      </a:cubicBezTo>
                      <a:cubicBezTo>
                        <a:pt x="18657" y="0"/>
                        <a:pt x="0" y="18657"/>
                        <a:pt x="0" y="41672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912019" y="4317206"/>
                  <a:ext cx="47625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83344">
                      <a:moveTo>
                        <a:pt x="41672" y="83344"/>
                      </a:moveTo>
                      <a:cubicBezTo>
                        <a:pt x="18657" y="83344"/>
                        <a:pt x="0" y="64687"/>
                        <a:pt x="0" y="41672"/>
                      </a:cubicBezTo>
                      <a:cubicBezTo>
                        <a:pt x="0" y="18657"/>
                        <a:pt x="18657" y="0"/>
                        <a:pt x="41672" y="0"/>
                      </a:cubicBez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935831" y="4245769"/>
                  <a:ext cx="83344" cy="160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160734">
                      <a:moveTo>
                        <a:pt x="0" y="75009"/>
                      </a:moveTo>
                      <a:lnTo>
                        <a:pt x="0" y="41672"/>
                      </a:lnTo>
                      <a:cubicBezTo>
                        <a:pt x="0" y="18657"/>
                        <a:pt x="18657" y="0"/>
                        <a:pt x="41672" y="0"/>
                      </a:cubicBezTo>
                      <a:cubicBezTo>
                        <a:pt x="64687" y="0"/>
                        <a:pt x="83344" y="18657"/>
                        <a:pt x="83344" y="41672"/>
                      </a:cubicBezTo>
                      <a:lnTo>
                        <a:pt x="83344" y="160734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1260158" y="418671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融合大模型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263968" y="44476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FA8C6"/>
                    </a:solidFill>
                    <a:latin typeface="Arial"/>
                    <a:ea typeface="Microsoft YaHei"/>
                    <a:cs typeface="Arial"/>
                  </a:rPr>
                  <a:t>星火大模型驱动生成</a:t>
                </a:r>
              </a:p>
            </p:txBody>
          </p:sp>
        </p:grpSp>
        <p:sp>
          <p:nvSpPr>
            <p:cNvPr id="51" name="Rectangle 51"/>
            <p:cNvSpPr/>
            <p:nvPr/>
          </p:nvSpPr>
          <p:spPr>
            <a:xfrm>
              <a:off x="876300" y="5029200"/>
              <a:ext cx="2705100" cy="800100"/>
            </a:xfrm>
            <a:prstGeom prst="roundRect">
              <a:avLst>
                <a:gd name="adj" fmla="val 11905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5368" y="52096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FD0EE"/>
                  </a:solidFill>
                  <a:latin typeface="Arial"/>
                  <a:ea typeface="Microsoft YaHei"/>
                  <a:cs typeface="Arial"/>
                </a:rPr>
                <a:t>一期聚焦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2510" y="5452110"/>
              <a:ext cx="20719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高中数学 · 导数与函数链路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4162425" y="1650206"/>
            <a:ext cx="7419975" cy="4331494"/>
            <a:chOff x="4162425" y="1650206"/>
            <a:chExt cx="7419975" cy="4331494"/>
          </a:xfrm>
        </p:grpSpPr>
        <p:sp>
          <p:nvSpPr>
            <p:cNvPr id="55" name="TextBox 55"/>
            <p:cNvSpPr txBox="1"/>
            <p:nvPr/>
          </p:nvSpPr>
          <p:spPr>
            <a:xfrm>
              <a:off x="4176712" y="165020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A6D6"/>
                  </a:solidFill>
                  <a:latin typeface="Arial"/>
                  <a:ea typeface="Microsoft YaHei"/>
                  <a:cs typeface="Arial"/>
                </a:rPr>
                <a:t>我们的定位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162425" y="1966912"/>
              <a:ext cx="259321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高中数学多 Agent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162425" y="2386012"/>
              <a:ext cx="383762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个性化</a:t>
              </a:r>
              <a:r>
                <a:rPr lang="zh-CN" sz="2250" b="1" dirty="0">
                  <a:solidFill>
                    <a:srgbClr val="00A6D6"/>
                  </a:solidFill>
                  <a:latin typeface="Arial"/>
                  <a:ea typeface="Microsoft YaHei"/>
                  <a:cs typeface="Arial"/>
                </a:rPr>
                <a:t>诊断与知识溯源</a:t>
              </a:r>
              <a:r>
                <a:rPr lang="zh-CN" sz="22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系统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4191000" y="3048000"/>
              <a:ext cx="7391400" cy="1176338"/>
              <a:chOff x="4191000" y="3048000"/>
              <a:chExt cx="7391400" cy="1176338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4191000" y="3048000"/>
                <a:ext cx="739140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4F7FB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4191000" y="3048000"/>
                <a:ext cx="47625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grpSp>
            <p:nvGrpSpPr>
              <p:cNvPr id="64" name="Group 64"/>
              <p:cNvGrpSpPr/>
              <p:nvPr/>
            </p:nvGrpSpPr>
            <p:grpSpPr>
              <a:xfrm>
                <a:off x="4524375" y="3381375"/>
                <a:ext cx="285750" cy="285750"/>
                <a:chOff x="4524375" y="3381375"/>
                <a:chExt cx="285750" cy="28575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4524375" y="3381375"/>
                  <a:ext cx="222250" cy="22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222250">
                      <a:moveTo>
                        <a:pt x="0" y="111125"/>
                      </a:moveTo>
                      <a:cubicBezTo>
                        <a:pt x="0" y="172498"/>
                        <a:pt x="49752" y="222250"/>
                        <a:pt x="111125" y="222250"/>
                      </a:cubicBezTo>
                      <a:cubicBezTo>
                        <a:pt x="172498" y="222250"/>
                        <a:pt x="222250" y="172498"/>
                        <a:pt x="222250" y="111125"/>
                      </a:cubicBezTo>
                      <a:cubicBezTo>
                        <a:pt x="222250" y="49752"/>
                        <a:pt x="172498" y="0"/>
                        <a:pt x="111125" y="0"/>
                      </a:cubicBezTo>
                      <a:cubicBezTo>
                        <a:pt x="49752" y="0"/>
                        <a:pt x="0" y="49752"/>
                        <a:pt x="0" y="111125"/>
                      </a:cubicBez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714875" y="35718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952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4635500" y="35401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4617402" y="3442471"/>
                  <a:ext cx="43836" cy="50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36" h="50034">
                      <a:moveTo>
                        <a:pt x="18098" y="50029"/>
                      </a:moveTo>
                      <a:cubicBezTo>
                        <a:pt x="29109" y="50034"/>
                        <a:pt x="38689" y="42489"/>
                        <a:pt x="41262" y="31782"/>
                      </a:cubicBezTo>
                      <a:cubicBezTo>
                        <a:pt x="43836" y="21075"/>
                        <a:pt x="38733" y="10000"/>
                        <a:pt x="28922" y="5000"/>
                      </a:cubicBezTo>
                      <a:cubicBezTo>
                        <a:pt x="19110" y="0"/>
                        <a:pt x="7150" y="2379"/>
                        <a:pt x="0" y="10754"/>
                      </a:cubicBez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5010150" y="33432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核心命题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5012055" y="3702368"/>
                <a:ext cx="422881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不止告诉学生</a:t>
                </a:r>
                <a:r>
                  <a:rPr lang="zh-CN" sz="1350" b="1" dirty="0">
                    <a:solidFill>
                      <a:srgbClr val="E04F4F"/>
                    </a:solidFill>
                    <a:latin typeface="Arial"/>
                    <a:ea typeface="Microsoft YaHei"/>
                    <a:cs typeface="Arial"/>
                  </a:rPr>
                  <a:t>“哪里错了”</a:t>
                </a:r>
                <a:r>
                  <a:rPr lang="zh-CN" sz="13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，更要回答</a:t>
                </a:r>
                <a:r>
                  <a:rPr lang="zh-CN" sz="1350" b="1" dirty="0">
                    <a:solidFill>
                      <a:srgbClr val="16A34A"/>
                    </a:solidFill>
                    <a:latin typeface="Arial"/>
                    <a:ea typeface="Microsoft YaHei"/>
                    <a:cs typeface="Arial"/>
                  </a:rPr>
                  <a:t>“为什么不会”</a:t>
                </a:r>
                <a:r>
                  <a:rPr lang="zh-CN" sz="13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——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5012055" y="3950018"/>
                <a:ext cx="327469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沿知识图谱定位深层根因，从源头补起。</a:t>
                </a: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4191000" y="4457700"/>
              <a:ext cx="7391400" cy="1524000"/>
              <a:chOff x="4191000" y="4457700"/>
              <a:chExt cx="7391400" cy="1524000"/>
            </a:xfrm>
          </p:grpSpPr>
          <p:grpSp>
            <p:nvGrpSpPr>
              <p:cNvPr id="77" name="Group 77"/>
              <p:cNvGrpSpPr/>
              <p:nvPr/>
            </p:nvGrpSpPr>
            <p:grpSpPr>
              <a:xfrm>
                <a:off x="4191000" y="4457700"/>
                <a:ext cx="2381250" cy="1524000"/>
                <a:chOff x="4191000" y="4457700"/>
                <a:chExt cx="2381250" cy="1524000"/>
              </a:xfrm>
            </p:grpSpPr>
            <p:sp>
              <p:nvSpPr>
                <p:cNvPr id="69" name="Rectangle 69"/>
                <p:cNvSpPr/>
                <p:nvPr/>
              </p:nvSpPr>
              <p:spPr>
                <a:xfrm>
                  <a:off x="4191000" y="4457700"/>
                  <a:ext cx="2381250" cy="1524000"/>
                </a:xfrm>
                <a:prstGeom prst="roundRect">
                  <a:avLst>
                    <a:gd name="adj" fmla="val 8750"/>
                  </a:avLst>
                </a:prstGeom>
                <a:solidFill>
                  <a:srgbClr val="FFFFFF"/>
                </a:solidFill>
                <a:ln w="14288">
                  <a:solidFill>
                    <a:srgbClr val="E2E8F0"/>
                  </a:solidFill>
                </a:ln>
              </p:spPr>
            </p:sp>
            <p:grpSp>
              <p:nvGrpSpPr>
                <p:cNvPr id="73" name="Group 73"/>
                <p:cNvGrpSpPr/>
                <p:nvPr/>
              </p:nvGrpSpPr>
              <p:grpSpPr>
                <a:xfrm>
                  <a:off x="4479131" y="4745831"/>
                  <a:ext cx="242888" cy="242888"/>
                  <a:chOff x="4479131" y="4745831"/>
                  <a:chExt cx="242888" cy="242888"/>
                </a:xfrm>
              </p:grpSpPr>
              <p:sp>
                <p:nvSpPr>
                  <p:cNvPr id="70" name="Freeform 70"/>
                  <p:cNvSpPr/>
                  <p:nvPr/>
                </p:nvSpPr>
                <p:spPr>
                  <a:xfrm>
                    <a:off x="4479131" y="4934744"/>
                    <a:ext cx="53975" cy="53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975" h="53975">
                        <a:moveTo>
                          <a:pt x="0" y="26987"/>
                        </a:moveTo>
                        <a:cubicBezTo>
                          <a:pt x="0" y="41892"/>
                          <a:pt x="12083" y="53975"/>
                          <a:pt x="26987" y="53975"/>
                        </a:cubicBezTo>
                        <a:cubicBezTo>
                          <a:pt x="41892" y="53975"/>
                          <a:pt x="53975" y="41892"/>
                          <a:pt x="53975" y="26987"/>
                        </a:cubicBezTo>
                        <a:cubicBezTo>
                          <a:pt x="53975" y="12083"/>
                          <a:pt x="41892" y="0"/>
                          <a:pt x="26987" y="0"/>
                        </a:cubicBezTo>
                        <a:cubicBezTo>
                          <a:pt x="12083" y="0"/>
                          <a:pt x="0" y="12083"/>
                          <a:pt x="0" y="26987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A6D6"/>
                    </a:solidFill>
                  </a:ln>
                </p:spPr>
              </p:sp>
              <p:sp>
                <p:nvSpPr>
                  <p:cNvPr id="71" name="Freeform 71"/>
                  <p:cNvSpPr/>
                  <p:nvPr/>
                </p:nvSpPr>
                <p:spPr>
                  <a:xfrm>
                    <a:off x="4668044" y="4745831"/>
                    <a:ext cx="53975" cy="53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975" h="53975">
                        <a:moveTo>
                          <a:pt x="26988" y="53975"/>
                        </a:moveTo>
                        <a:cubicBezTo>
                          <a:pt x="41892" y="53975"/>
                          <a:pt x="53975" y="41892"/>
                          <a:pt x="53975" y="26987"/>
                        </a:cubicBezTo>
                        <a:cubicBezTo>
                          <a:pt x="53975" y="12083"/>
                          <a:pt x="41892" y="0"/>
                          <a:pt x="26988" y="0"/>
                        </a:cubicBezTo>
                        <a:cubicBezTo>
                          <a:pt x="12083" y="0"/>
                          <a:pt x="0" y="12083"/>
                          <a:pt x="0" y="26987"/>
                        </a:cubicBezTo>
                        <a:cubicBezTo>
                          <a:pt x="0" y="41892"/>
                          <a:pt x="12083" y="53975"/>
                          <a:pt x="26988" y="53975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A6D6"/>
                    </a:solidFill>
                  </a:ln>
                </p:spPr>
              </p:sp>
              <p:sp>
                <p:nvSpPr>
                  <p:cNvPr id="72" name="Freeform 72"/>
                  <p:cNvSpPr/>
                  <p:nvPr/>
                </p:nvSpPr>
                <p:spPr>
                  <a:xfrm>
                    <a:off x="4506119" y="4772819"/>
                    <a:ext cx="202406" cy="1889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406" h="188912">
                        <a:moveTo>
                          <a:pt x="80962" y="188912"/>
                        </a:moveTo>
                        <a:lnTo>
                          <a:pt x="155178" y="188912"/>
                        </a:lnTo>
                        <a:cubicBezTo>
                          <a:pt x="181261" y="188912"/>
                          <a:pt x="202406" y="167768"/>
                          <a:pt x="202406" y="141684"/>
                        </a:cubicBezTo>
                        <a:cubicBezTo>
                          <a:pt x="202406" y="115601"/>
                          <a:pt x="181261" y="94456"/>
                          <a:pt x="155178" y="94456"/>
                        </a:cubicBezTo>
                        <a:lnTo>
                          <a:pt x="47228" y="94456"/>
                        </a:lnTo>
                        <a:cubicBezTo>
                          <a:pt x="21145" y="94456"/>
                          <a:pt x="0" y="73311"/>
                          <a:pt x="0" y="47228"/>
                        </a:cubicBezTo>
                        <a:cubicBezTo>
                          <a:pt x="0" y="21145"/>
                          <a:pt x="21145" y="0"/>
                          <a:pt x="47228" y="0"/>
                        </a:cubicBezTo>
                        <a:lnTo>
                          <a:pt x="107950" y="0"/>
                        </a:lnTo>
                      </a:path>
                    </a:pathLst>
                  </a:custGeom>
                  <a:noFill/>
                  <a:ln w="19050">
                    <a:solidFill>
                      <a:srgbClr val="00A6D6"/>
                    </a:solidFill>
                  </a:ln>
                </p:spPr>
              </p:sp>
            </p:grpSp>
            <p:sp>
              <p:nvSpPr>
                <p:cNvPr id="74" name="TextBox 74"/>
                <p:cNvSpPr txBox="1"/>
                <p:nvPr/>
              </p:nvSpPr>
              <p:spPr>
                <a:xfrm>
                  <a:off x="4421505" y="5150168"/>
                  <a:ext cx="601361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可溯源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4425315" y="5449252"/>
                  <a:ext cx="866775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B7280"/>
                      </a:solidFill>
                      <a:latin typeface="Arial"/>
                      <a:ea typeface="Microsoft YaHei"/>
                      <a:cs typeface="Arial"/>
                    </a:rPr>
                    <a:t>沿前置依赖链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4425315" y="5658802"/>
                  <a:ext cx="114681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B7280"/>
                      </a:solidFill>
                      <a:latin typeface="Arial"/>
                      <a:ea typeface="Microsoft YaHei"/>
                      <a:cs typeface="Arial"/>
                    </a:rPr>
                    <a:t>回溯到根本知识点</a:t>
                  </a:r>
                </a:p>
              </p:txBody>
            </p:sp>
          </p:grpSp>
          <p:grpSp>
            <p:nvGrpSpPr>
              <p:cNvPr id="85" name="Group 85"/>
              <p:cNvGrpSpPr/>
              <p:nvPr/>
            </p:nvGrpSpPr>
            <p:grpSpPr>
              <a:xfrm>
                <a:off x="6696075" y="4457700"/>
                <a:ext cx="2381250" cy="1524000"/>
                <a:chOff x="6696075" y="4457700"/>
                <a:chExt cx="2381250" cy="1524000"/>
              </a:xfrm>
            </p:grpSpPr>
            <p:sp>
              <p:nvSpPr>
                <p:cNvPr id="78" name="Rectangle 78"/>
                <p:cNvSpPr/>
                <p:nvPr/>
              </p:nvSpPr>
              <p:spPr>
                <a:xfrm>
                  <a:off x="6696075" y="4457700"/>
                  <a:ext cx="2381250" cy="1524000"/>
                </a:xfrm>
                <a:prstGeom prst="roundRect">
                  <a:avLst>
                    <a:gd name="adj" fmla="val 8750"/>
                  </a:avLst>
                </a:prstGeom>
                <a:solidFill>
                  <a:srgbClr val="FFFFFF"/>
                </a:solidFill>
                <a:ln w="14288">
                  <a:solidFill>
                    <a:srgbClr val="E2E8F0"/>
                  </a:solidFill>
                </a:ln>
              </p:spPr>
            </p:sp>
            <p:grpSp>
              <p:nvGrpSpPr>
                <p:cNvPr id="81" name="Group 81"/>
                <p:cNvGrpSpPr/>
                <p:nvPr/>
              </p:nvGrpSpPr>
              <p:grpSpPr>
                <a:xfrm>
                  <a:off x="6997700" y="4754119"/>
                  <a:ext cx="215900" cy="226313"/>
                  <a:chOff x="6997700" y="4754119"/>
                  <a:chExt cx="215900" cy="226313"/>
                </a:xfrm>
              </p:grpSpPr>
              <p:sp>
                <p:nvSpPr>
                  <p:cNvPr id="79" name="Freeform 79"/>
                  <p:cNvSpPr/>
                  <p:nvPr/>
                </p:nvSpPr>
                <p:spPr>
                  <a:xfrm>
                    <a:off x="6997700" y="4754119"/>
                    <a:ext cx="215900" cy="99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5900" h="99663">
                        <a:moveTo>
                          <a:pt x="215900" y="99663"/>
                        </a:moveTo>
                        <a:cubicBezTo>
                          <a:pt x="209116" y="50849"/>
                          <a:pt x="170505" y="12613"/>
                          <a:pt x="121628" y="6307"/>
                        </a:cubicBezTo>
                        <a:cubicBezTo>
                          <a:pt x="72751" y="0"/>
                          <a:pt x="25699" y="27183"/>
                          <a:pt x="6747" y="72675"/>
                        </a:cubicBezTo>
                        <a:moveTo>
                          <a:pt x="0" y="18700"/>
                        </a:moveTo>
                        <a:lnTo>
                          <a:pt x="0" y="72675"/>
                        </a:lnTo>
                        <a:lnTo>
                          <a:pt x="53975" y="72675"/>
                        </a:lnTo>
                      </a:path>
                    </a:pathLst>
                  </a:custGeom>
                  <a:noFill/>
                  <a:ln w="19050">
                    <a:solidFill>
                      <a:srgbClr val="00A6D6"/>
                    </a:solidFill>
                  </a:ln>
                </p:spPr>
              </p:sp>
              <p:sp>
                <p:nvSpPr>
                  <p:cNvPr id="80" name="Freeform 80"/>
                  <p:cNvSpPr/>
                  <p:nvPr/>
                </p:nvSpPr>
                <p:spPr>
                  <a:xfrm>
                    <a:off x="6997700" y="4880769"/>
                    <a:ext cx="215900" cy="99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5900" h="99663">
                        <a:moveTo>
                          <a:pt x="0" y="0"/>
                        </a:moveTo>
                        <a:cubicBezTo>
                          <a:pt x="6784" y="48813"/>
                          <a:pt x="45395" y="87049"/>
                          <a:pt x="94272" y="93356"/>
                        </a:cubicBezTo>
                        <a:cubicBezTo>
                          <a:pt x="143149" y="99663"/>
                          <a:pt x="190201" y="72480"/>
                          <a:pt x="209153" y="26988"/>
                        </a:cubicBezTo>
                        <a:moveTo>
                          <a:pt x="215900" y="80962"/>
                        </a:moveTo>
                        <a:lnTo>
                          <a:pt x="215900" y="26988"/>
                        </a:lnTo>
                        <a:lnTo>
                          <a:pt x="161925" y="26988"/>
                        </a:lnTo>
                      </a:path>
                    </a:pathLst>
                  </a:custGeom>
                  <a:noFill/>
                  <a:ln w="19050">
                    <a:solidFill>
                      <a:srgbClr val="00A6D6"/>
                    </a:solidFill>
                  </a:ln>
                </p:spPr>
              </p:sp>
            </p:grpSp>
            <p:sp>
              <p:nvSpPr>
                <p:cNvPr id="82" name="TextBox 82"/>
                <p:cNvSpPr txBox="1"/>
                <p:nvPr/>
              </p:nvSpPr>
              <p:spPr>
                <a:xfrm>
                  <a:off x="6926580" y="5150168"/>
                  <a:ext cx="601361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闭环式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6930390" y="5449252"/>
                  <a:ext cx="1097804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B7280"/>
                      </a:solidFill>
                      <a:latin typeface="Arial"/>
                      <a:ea typeface="Microsoft YaHei"/>
                      <a:cs typeface="Arial"/>
                    </a:rPr>
                    <a:t>测-学-测-再规划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6930390" y="5658802"/>
                  <a:ext cx="1146810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B7280"/>
                      </a:solidFill>
                      <a:latin typeface="Arial"/>
                      <a:ea typeface="Microsoft YaHei"/>
                      <a:cs typeface="Arial"/>
                    </a:rPr>
                    <a:t>自动驱动直至掌握</a:t>
                  </a:r>
                </a:p>
              </p:txBody>
            </p:sp>
          </p:grpSp>
          <p:grpSp>
            <p:nvGrpSpPr>
              <p:cNvPr id="95" name="Group 95"/>
              <p:cNvGrpSpPr/>
              <p:nvPr/>
            </p:nvGrpSpPr>
            <p:grpSpPr>
              <a:xfrm>
                <a:off x="9201150" y="4457700"/>
                <a:ext cx="2381250" cy="1524000"/>
                <a:chOff x="9201150" y="4457700"/>
                <a:chExt cx="2381250" cy="1524000"/>
              </a:xfrm>
            </p:grpSpPr>
            <p:sp>
              <p:nvSpPr>
                <p:cNvPr id="86" name="Rectangle 86"/>
                <p:cNvSpPr/>
                <p:nvPr/>
              </p:nvSpPr>
              <p:spPr>
                <a:xfrm>
                  <a:off x="9201150" y="4457700"/>
                  <a:ext cx="2381250" cy="1524000"/>
                </a:xfrm>
                <a:prstGeom prst="roundRect">
                  <a:avLst>
                    <a:gd name="adj" fmla="val 8750"/>
                  </a:avLst>
                </a:prstGeom>
                <a:solidFill>
                  <a:srgbClr val="FFFFFF"/>
                </a:solidFill>
                <a:ln w="14288">
                  <a:solidFill>
                    <a:srgbClr val="E2E8F0"/>
                  </a:solidFill>
                </a:ln>
              </p:spPr>
            </p:sp>
            <p:grpSp>
              <p:nvGrpSpPr>
                <p:cNvPr id="91" name="Group 91"/>
                <p:cNvGrpSpPr/>
                <p:nvPr/>
              </p:nvGrpSpPr>
              <p:grpSpPr>
                <a:xfrm>
                  <a:off x="9489281" y="4745831"/>
                  <a:ext cx="242888" cy="242887"/>
                  <a:chOff x="9489281" y="4745831"/>
                  <a:chExt cx="242888" cy="242887"/>
                </a:xfrm>
              </p:grpSpPr>
              <p:sp>
                <p:nvSpPr>
                  <p:cNvPr id="87" name="Freeform 87"/>
                  <p:cNvSpPr/>
                  <p:nvPr/>
                </p:nvSpPr>
                <p:spPr>
                  <a:xfrm>
                    <a:off x="9516269" y="4745831"/>
                    <a:ext cx="107950" cy="107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950" h="107950">
                        <a:moveTo>
                          <a:pt x="0" y="53975"/>
                        </a:moveTo>
                        <a:cubicBezTo>
                          <a:pt x="0" y="83785"/>
                          <a:pt x="24165" y="107950"/>
                          <a:pt x="53975" y="107950"/>
                        </a:cubicBezTo>
                        <a:cubicBezTo>
                          <a:pt x="83785" y="107950"/>
                          <a:pt x="107950" y="83785"/>
                          <a:pt x="107950" y="53975"/>
                        </a:cubicBezTo>
                        <a:cubicBezTo>
                          <a:pt x="107950" y="24165"/>
                          <a:pt x="83785" y="0"/>
                          <a:pt x="53975" y="0"/>
                        </a:cubicBezTo>
                        <a:cubicBezTo>
                          <a:pt x="24165" y="0"/>
                          <a:pt x="0" y="24165"/>
                          <a:pt x="0" y="53975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A6D6"/>
                    </a:solidFill>
                  </a:ln>
                </p:spPr>
              </p:sp>
              <p:sp>
                <p:nvSpPr>
                  <p:cNvPr id="88" name="Freeform 88"/>
                  <p:cNvSpPr/>
                  <p:nvPr/>
                </p:nvSpPr>
                <p:spPr>
                  <a:xfrm>
                    <a:off x="9489281" y="4907756"/>
                    <a:ext cx="161925" cy="809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925" h="80962">
                        <a:moveTo>
                          <a:pt x="0" y="80962"/>
                        </a:moveTo>
                        <a:lnTo>
                          <a:pt x="0" y="53975"/>
                        </a:lnTo>
                        <a:cubicBezTo>
                          <a:pt x="0" y="24165"/>
                          <a:pt x="24165" y="0"/>
                          <a:pt x="53975" y="0"/>
                        </a:cubicBezTo>
                        <a:lnTo>
                          <a:pt x="107950" y="0"/>
                        </a:lnTo>
                        <a:cubicBezTo>
                          <a:pt x="137760" y="0"/>
                          <a:pt x="161925" y="24165"/>
                          <a:pt x="161925" y="53975"/>
                        </a:cubicBezTo>
                        <a:lnTo>
                          <a:pt x="161925" y="80962"/>
                        </a:lnTo>
                      </a:path>
                    </a:pathLst>
                  </a:custGeom>
                  <a:noFill/>
                  <a:ln w="19050">
                    <a:solidFill>
                      <a:srgbClr val="00A6D6"/>
                    </a:solidFill>
                  </a:ln>
                </p:spPr>
              </p:sp>
              <p:sp>
                <p:nvSpPr>
                  <p:cNvPr id="89" name="Freeform 89"/>
                  <p:cNvSpPr/>
                  <p:nvPr/>
                </p:nvSpPr>
                <p:spPr>
                  <a:xfrm>
                    <a:off x="9664700" y="4747585"/>
                    <a:ext cx="40587" cy="10457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587" h="104577">
                        <a:moveTo>
                          <a:pt x="0" y="0"/>
                        </a:moveTo>
                        <a:cubicBezTo>
                          <a:pt x="23883" y="6115"/>
                          <a:pt x="40587" y="27635"/>
                          <a:pt x="40587" y="52288"/>
                        </a:cubicBezTo>
                        <a:cubicBezTo>
                          <a:pt x="40587" y="76941"/>
                          <a:pt x="23883" y="98462"/>
                          <a:pt x="0" y="104577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A6D6"/>
                    </a:solidFill>
                  </a:ln>
                </p:spPr>
              </p:sp>
              <p:sp>
                <p:nvSpPr>
                  <p:cNvPr id="90" name="Freeform 90"/>
                  <p:cNvSpPr/>
                  <p:nvPr/>
                </p:nvSpPr>
                <p:spPr>
                  <a:xfrm>
                    <a:off x="9691688" y="4909780"/>
                    <a:ext cx="40481" cy="789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481" h="78938">
                        <a:moveTo>
                          <a:pt x="40481" y="78938"/>
                        </a:moveTo>
                        <a:lnTo>
                          <a:pt x="40481" y="51951"/>
                        </a:lnTo>
                        <a:cubicBezTo>
                          <a:pt x="40340" y="27454"/>
                          <a:pt x="23720" y="6124"/>
                          <a:pt x="0" y="0"/>
                        </a:cubicBezTo>
                      </a:path>
                    </a:pathLst>
                  </a:custGeom>
                  <a:noFill/>
                  <a:ln w="19050">
                    <a:solidFill>
                      <a:srgbClr val="00A6D6"/>
                    </a:solidFill>
                  </a:ln>
                </p:spPr>
              </p:sp>
            </p:grpSp>
            <p:sp>
              <p:nvSpPr>
                <p:cNvPr id="92" name="TextBox 92"/>
                <p:cNvSpPr txBox="1"/>
                <p:nvPr/>
              </p:nvSpPr>
              <p:spPr>
                <a:xfrm>
                  <a:off x="9431655" y="5150168"/>
                  <a:ext cx="601361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规模化</a:t>
                  </a: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9435465" y="5449252"/>
                  <a:ext cx="726758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B7280"/>
                      </a:solidFill>
                      <a:latin typeface="Arial"/>
                      <a:ea typeface="Microsoft YaHei"/>
                      <a:cs typeface="Arial"/>
                    </a:rPr>
                    <a:t>低成本提供</a:t>
                  </a:r>
                </a:p>
              </p:txBody>
            </p:sp>
            <p:sp>
              <p:nvSpPr>
                <p:cNvPr id="94" name="TextBox 94"/>
                <p:cNvSpPr txBox="1"/>
                <p:nvPr/>
              </p:nvSpPr>
              <p:spPr>
                <a:xfrm>
                  <a:off x="9435465" y="5658802"/>
                  <a:ext cx="1006792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6B7280"/>
                      </a:solidFill>
                      <a:latin typeface="Arial"/>
                      <a:ea typeface="Microsoft YaHei"/>
                      <a:cs typeface="Arial"/>
                    </a:rPr>
                    <a:t>一对一级别辅导</a:t>
                  </a:r>
                </a:p>
              </p:txBody>
            </p:sp>
          </p:grpSp>
        </p:grpSp>
      </p:grpSp>
      <p:grpSp>
        <p:nvGrpSpPr>
          <p:cNvPr id="100" name="Group 100"/>
          <p:cNvGrpSpPr/>
          <p:nvPr/>
        </p:nvGrpSpPr>
        <p:grpSpPr>
          <a:xfrm>
            <a:off x="598170" y="6475095"/>
            <a:ext cx="10995661" cy="182880"/>
            <a:chOff x="598170" y="6475095"/>
            <a:chExt cx="10995661" cy="182880"/>
          </a:xfrm>
        </p:grpSpPr>
        <p:sp>
          <p:nvSpPr>
            <p:cNvPr id="98" name="TextBox 98"/>
            <p:cNvSpPr txBox="1"/>
            <p:nvPr/>
          </p:nvSpPr>
          <p:spPr>
            <a:xfrm>
              <a:off x="598170" y="64750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438954" y="64750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9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35540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为什么需要“治本式”学习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传统学习的结构性痛点，正是大模型时代的机遇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11920" y="591502"/>
              <a:ext cx="783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01 项目背景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609600" y="1428750"/>
            <a:ext cx="5143500" cy="4152900"/>
            <a:chOff x="609600" y="1428750"/>
            <a:chExt cx="5143500" cy="415290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5143500" cy="4152900"/>
            </a:xfrm>
            <a:prstGeom prst="roundRect">
              <a:avLst>
                <a:gd name="adj" fmla="val 3670"/>
              </a:avLst>
            </a:prstGeom>
            <a:solidFill>
              <a:srgbClr val="FDF3F3"/>
            </a:solidFill>
            <a:ln w="14288">
              <a:solidFill>
                <a:srgbClr val="F2D5D5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16781" y="1735931"/>
              <a:ext cx="242887" cy="242887"/>
              <a:chOff x="916781" y="1735931"/>
              <a:chExt cx="242887" cy="24288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16781" y="1735931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3">
                    <a:moveTo>
                      <a:pt x="0" y="94456"/>
                    </a:moveTo>
                    <a:cubicBezTo>
                      <a:pt x="0" y="146623"/>
                      <a:pt x="42290" y="188913"/>
                      <a:pt x="94456" y="188913"/>
                    </a:cubicBezTo>
                    <a:cubicBezTo>
                      <a:pt x="146623" y="188913"/>
                      <a:pt x="188913" y="146623"/>
                      <a:pt x="188913" y="94456"/>
                    </a:cubicBezTo>
                    <a:cubicBezTo>
                      <a:pt x="188913" y="42290"/>
                      <a:pt x="146623" y="0"/>
                      <a:pt x="94456" y="0"/>
                    </a:cubicBezTo>
                    <a:cubicBezTo>
                      <a:pt x="42290" y="0"/>
                      <a:pt x="0" y="42290"/>
                      <a:pt x="0" y="94456"/>
                    </a:cubicBezTo>
                  </a:path>
                </a:pathLst>
              </a:custGeom>
              <a:noFill/>
              <a:ln w="19050">
                <a:solidFill>
                  <a:srgbClr val="E04F4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8706" y="189785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80962" y="809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04F4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11238" y="187086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E04F4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5855" y="1787863"/>
                <a:ext cx="37261" cy="42529"/>
              </a:xfrm>
              <a:custGeom>
                <a:avLst/>
                <a:gdLst/>
                <a:ahLst/>
                <a:cxnLst/>
                <a:rect l="l" t="t" r="r" b="b"/>
                <a:pathLst>
                  <a:path w="37261" h="42529">
                    <a:moveTo>
                      <a:pt x="15383" y="42524"/>
                    </a:moveTo>
                    <a:cubicBezTo>
                      <a:pt x="24743" y="42529"/>
                      <a:pt x="32885" y="36115"/>
                      <a:pt x="35073" y="27015"/>
                    </a:cubicBezTo>
                    <a:cubicBezTo>
                      <a:pt x="37261" y="17914"/>
                      <a:pt x="32923" y="8500"/>
                      <a:pt x="24583" y="4250"/>
                    </a:cubicBezTo>
                    <a:cubicBezTo>
                      <a:pt x="16244" y="0"/>
                      <a:pt x="6078" y="2023"/>
                      <a:pt x="0" y="9141"/>
                    </a:cubicBezTo>
                  </a:path>
                </a:pathLst>
              </a:custGeom>
              <a:noFill/>
              <a:ln w="19050">
                <a:solidFill>
                  <a:srgbClr val="E04F4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74445" y="17554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4F4F"/>
                  </a:solidFill>
                  <a:latin typeface="Arial"/>
                  <a:ea typeface="Microsoft YaHei"/>
                  <a:cs typeface="Arial"/>
                </a:rPr>
                <a:t>传统学习痛点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952500" y="2349818"/>
              <a:ext cx="3258503" cy="493394"/>
              <a:chOff x="952500" y="2349818"/>
              <a:chExt cx="3258503" cy="493394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952500" y="2495550"/>
                <a:ext cx="114300" cy="114300"/>
              </a:xfrm>
              <a:prstGeom prst="ellipse">
                <a:avLst/>
              </a:prstGeom>
              <a:solidFill>
                <a:srgbClr val="E04F4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40155" y="2349818"/>
                <a:ext cx="271842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只说“哪里错”，不说“为什么错”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43965" y="2629852"/>
                <a:ext cx="29670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批改停留在表面错误，看不到背后断裂的知识链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952500" y="3130868"/>
              <a:ext cx="3118485" cy="493394"/>
              <a:chOff x="952500" y="3130868"/>
              <a:chExt cx="3118485" cy="493394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952500" y="3276600"/>
                <a:ext cx="114300" cy="114300"/>
              </a:xfrm>
              <a:prstGeom prst="ellipse">
                <a:avLst/>
              </a:prstGeom>
              <a:solidFill>
                <a:srgbClr val="E04F4F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40155" y="313086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刷题治标不治本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43965" y="3410902"/>
                <a:ext cx="28270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题海战术重复练习薄弱点，根因始终没被补上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952500" y="3911918"/>
              <a:ext cx="3118485" cy="493394"/>
              <a:chOff x="952500" y="3911918"/>
              <a:chExt cx="3118485" cy="493394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952500" y="4057650"/>
                <a:ext cx="114300" cy="114300"/>
              </a:xfrm>
              <a:prstGeom prst="ellipse">
                <a:avLst/>
              </a:prstGeom>
              <a:solidFill>
                <a:srgbClr val="E04F4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40155" y="3911918"/>
                <a:ext cx="23025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一对一辅导稀缺、难规模化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43965" y="4191952"/>
                <a:ext cx="28270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优质教师资源有限，个性化辅导成本居高不下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52500" y="4692968"/>
              <a:ext cx="2838450" cy="493394"/>
              <a:chOff x="952500" y="4692968"/>
              <a:chExt cx="2838450" cy="493394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952500" y="4838700"/>
                <a:ext cx="114300" cy="114300"/>
              </a:xfrm>
              <a:prstGeom prst="ellipse">
                <a:avLst/>
              </a:prstGeom>
              <a:solidFill>
                <a:srgbClr val="E04F4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40155" y="4692968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千人一面的统一进度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43965" y="4973002"/>
                <a:ext cx="25469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同一套讲解面向所有学生，无法因材施教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772150" y="3181350"/>
            <a:ext cx="647700" cy="647700"/>
            <a:chOff x="5772150" y="3181350"/>
            <a:chExt cx="647700" cy="647700"/>
          </a:xfrm>
        </p:grpSpPr>
        <p:sp>
          <p:nvSpPr>
            <p:cNvPr id="33" name="Ellipse 33"/>
            <p:cNvSpPr/>
            <p:nvPr/>
          </p:nvSpPr>
          <p:spPr>
            <a:xfrm>
              <a:off x="5772150" y="3181350"/>
              <a:ext cx="647700" cy="647700"/>
            </a:xfrm>
            <a:prstGeom prst="ellipse">
              <a:avLst/>
            </a:prstGeom>
            <a:solidFill>
              <a:srgbClr val="0E2E5C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5962650" y="3409950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0" y="95250"/>
                  </a:moveTo>
                  <a:lnTo>
                    <a:pt x="247650" y="95250"/>
                  </a:lnTo>
                  <a:moveTo>
                    <a:pt x="171450" y="0"/>
                  </a:moveTo>
                  <a:lnTo>
                    <a:pt x="285750" y="95250"/>
                  </a:lnTo>
                  <a:lnTo>
                    <a:pt x="171450" y="19050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  <a:round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6438900" y="1428750"/>
            <a:ext cx="5143500" cy="4152900"/>
            <a:chOff x="6438900" y="1428750"/>
            <a:chExt cx="5143500" cy="4152900"/>
          </a:xfrm>
        </p:grpSpPr>
        <p:sp>
          <p:nvSpPr>
            <p:cNvPr id="36" name="Rectangle 36"/>
            <p:cNvSpPr/>
            <p:nvPr/>
          </p:nvSpPr>
          <p:spPr>
            <a:xfrm>
              <a:off x="6438900" y="1428750"/>
              <a:ext cx="5143500" cy="4152900"/>
            </a:xfrm>
            <a:prstGeom prst="roundRect">
              <a:avLst>
                <a:gd name="adj" fmla="val 3670"/>
              </a:avLst>
            </a:prstGeom>
            <a:solidFill>
              <a:srgbClr val="EEF8F1"/>
            </a:solidFill>
            <a:ln w="14288">
              <a:solidFill>
                <a:srgbClr val="CFE9D8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746081" y="1735931"/>
              <a:ext cx="242888" cy="242888"/>
              <a:chOff x="6746081" y="1735931"/>
              <a:chExt cx="242888" cy="24288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746081" y="1735931"/>
                <a:ext cx="24288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21444">
                    <a:moveTo>
                      <a:pt x="0" y="121444"/>
                    </a:moveTo>
                    <a:lnTo>
                      <a:pt x="13494" y="121444"/>
                    </a:lnTo>
                    <a:moveTo>
                      <a:pt x="121444" y="0"/>
                    </a:moveTo>
                    <a:lnTo>
                      <a:pt x="121444" y="13494"/>
                    </a:lnTo>
                    <a:moveTo>
                      <a:pt x="229394" y="121444"/>
                    </a:moveTo>
                    <a:lnTo>
                      <a:pt x="242888" y="121444"/>
                    </a:lnTo>
                    <a:moveTo>
                      <a:pt x="35084" y="35084"/>
                    </a:moveTo>
                    <a:lnTo>
                      <a:pt x="44529" y="44529"/>
                    </a:lnTo>
                    <a:moveTo>
                      <a:pt x="207804" y="35084"/>
                    </a:moveTo>
                    <a:lnTo>
                      <a:pt x="198358" y="44529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94335" y="1789906"/>
                <a:ext cx="14638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46380" h="188913">
                    <a:moveTo>
                      <a:pt x="32709" y="121444"/>
                    </a:moveTo>
                    <a:cubicBezTo>
                      <a:pt x="9476" y="104019"/>
                      <a:pt x="0" y="73684"/>
                      <a:pt x="9183" y="46133"/>
                    </a:cubicBezTo>
                    <a:cubicBezTo>
                      <a:pt x="18367" y="18583"/>
                      <a:pt x="44149" y="0"/>
                      <a:pt x="73190" y="0"/>
                    </a:cubicBezTo>
                    <a:cubicBezTo>
                      <a:pt x="102231" y="0"/>
                      <a:pt x="128013" y="18583"/>
                      <a:pt x="137196" y="46133"/>
                    </a:cubicBezTo>
                    <a:cubicBezTo>
                      <a:pt x="146380" y="73684"/>
                      <a:pt x="136904" y="104019"/>
                      <a:pt x="113671" y="121444"/>
                    </a:cubicBezTo>
                    <a:cubicBezTo>
                      <a:pt x="102986" y="132021"/>
                      <a:pt x="97976" y="147053"/>
                      <a:pt x="100177" y="161925"/>
                    </a:cubicBezTo>
                    <a:cubicBezTo>
                      <a:pt x="100177" y="176830"/>
                      <a:pt x="88095" y="188913"/>
                      <a:pt x="73190" y="188913"/>
                    </a:cubicBezTo>
                    <a:cubicBezTo>
                      <a:pt x="58285" y="188913"/>
                      <a:pt x="46202" y="176830"/>
                      <a:pt x="46202" y="161925"/>
                    </a:cubicBezTo>
                    <a:cubicBezTo>
                      <a:pt x="48404" y="147053"/>
                      <a:pt x="43394" y="132021"/>
                      <a:pt x="32709" y="121444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36489" y="1924844"/>
                <a:ext cx="6207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071" h="9525">
                    <a:moveTo>
                      <a:pt x="0" y="0"/>
                    </a:moveTo>
                    <a:lnTo>
                      <a:pt x="62071" y="0"/>
                    </a:ln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103745" y="1755458"/>
              <a:ext cx="20634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SmartMentor 机遇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715125" y="2349818"/>
              <a:ext cx="3185160" cy="493394"/>
              <a:chOff x="6715125" y="2349818"/>
              <a:chExt cx="3185160" cy="493394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715125" y="24288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23812">
                <a:solidFill>
                  <a:srgbClr val="16A34A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069455" y="2349818"/>
                <a:ext cx="27089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大模型 + 知识图谱定位深层根因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073265" y="2629852"/>
                <a:ext cx="28270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沿前置依赖回溯，找到真正卡住学生的那个点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715125" y="3130868"/>
              <a:ext cx="2625090" cy="493394"/>
              <a:chOff x="6715125" y="3130868"/>
              <a:chExt cx="2625090" cy="49339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715125" y="32099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23812">
                <a:solidFill>
                  <a:srgbClr val="16A34A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069455" y="313086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可解释、可信赖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073265" y="34109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每条诊断都附依赖理由，非黑盒打分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715125" y="3911918"/>
              <a:ext cx="2618089" cy="493394"/>
              <a:chOff x="6715125" y="3911918"/>
              <a:chExt cx="2618089" cy="49339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715125" y="39909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23812">
                <a:solidFill>
                  <a:srgbClr val="16A34A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069455" y="391191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规模化、低成本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073265" y="4191952"/>
                <a:ext cx="22599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AI 智能体 7×24 提供一对一级别辅导</a:t>
                </a:r>
              </a:p>
            </p:txBody>
          </p:sp>
        </p:grpSp>
        <p:sp>
          <p:nvSpPr>
            <p:cNvPr id="54" name="Rectangle 54"/>
            <p:cNvSpPr/>
            <p:nvPr/>
          </p:nvSpPr>
          <p:spPr>
            <a:xfrm>
              <a:off x="6667500" y="4724400"/>
              <a:ext cx="4686300" cy="647700"/>
            </a:xfrm>
            <a:prstGeom prst="roundRect">
              <a:avLst>
                <a:gd name="adj" fmla="val 14706"/>
              </a:avLst>
            </a:prstGeom>
            <a:solidFill>
              <a:srgbClr val="16A34A">
                <a:alpha val="1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44665" y="49158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价值主张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41808" y="5120164"/>
              <a:ext cx="34689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发现根因 → 个性化补起，而非“再做十道题”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98170" y="6475095"/>
            <a:ext cx="10995661" cy="182880"/>
            <a:chOff x="598170" y="6475095"/>
            <a:chExt cx="10995661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98170" y="64750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438954" y="64750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62319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一个闭环：诊断 → 溯源 → 规划 → 教学 → 评估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3772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SmartMentor 的核心学习链路，自适应、可解释、闭环驱动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02 应用价值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70" name="Group 70"/>
          <p:cNvGrpSpPr/>
          <p:nvPr/>
        </p:nvGrpSpPr>
        <p:grpSpPr>
          <a:xfrm>
            <a:off x="1143000" y="2209800"/>
            <a:ext cx="9906000" cy="3105150"/>
            <a:chOff x="1143000" y="2209800"/>
            <a:chExt cx="9906000" cy="3105150"/>
          </a:xfrm>
        </p:grpSpPr>
        <p:sp>
          <p:nvSpPr>
            <p:cNvPr id="9" name="Line 9"/>
            <p:cNvSpPr/>
            <p:nvPr/>
          </p:nvSpPr>
          <p:spPr>
            <a:xfrm>
              <a:off x="1695450" y="2762250"/>
              <a:ext cx="8801100" cy="9525"/>
            </a:xfrm>
            <a:custGeom>
              <a:avLst/>
              <a:gdLst/>
              <a:ahLst/>
              <a:cxnLst/>
              <a:rect l="l" t="t" r="r" b="b"/>
              <a:pathLst>
                <a:path w="8801100" h="9525">
                  <a:moveTo>
                    <a:pt x="0" y="0"/>
                  </a:moveTo>
                  <a:lnTo>
                    <a:pt x="880110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143000" y="2209800"/>
              <a:ext cx="1104900" cy="1966912"/>
              <a:chOff x="1143000" y="2209800"/>
              <a:chExt cx="1104900" cy="1966912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143000" y="2209800"/>
                <a:ext cx="1104900" cy="1104900"/>
              </a:xfrm>
              <a:prstGeom prst="ellipse">
                <a:avLst/>
              </a:prstGeom>
              <a:solidFill>
                <a:srgbClr val="0E2E5C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1493044" y="2445544"/>
                <a:ext cx="286543" cy="271462"/>
                <a:chOff x="1493044" y="2445544"/>
                <a:chExt cx="286543" cy="271462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493044" y="2460625"/>
                  <a:ext cx="165894" cy="165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94" h="165894">
                      <a:moveTo>
                        <a:pt x="45244" y="0"/>
                      </a:moveTo>
                      <a:lnTo>
                        <a:pt x="30162" y="0"/>
                      </a:lnTo>
                      <a:cubicBezTo>
                        <a:pt x="13504" y="0"/>
                        <a:pt x="0" y="13504"/>
                        <a:pt x="0" y="30163"/>
                      </a:cubicBezTo>
                      <a:lnTo>
                        <a:pt x="0" y="82947"/>
                      </a:lnTo>
                      <a:cubicBezTo>
                        <a:pt x="0" y="128757"/>
                        <a:pt x="37137" y="165894"/>
                        <a:pt x="82947" y="165894"/>
                      </a:cubicBezTo>
                      <a:cubicBezTo>
                        <a:pt x="128757" y="165894"/>
                        <a:pt x="165894" y="128757"/>
                        <a:pt x="165894" y="82947"/>
                      </a:cubicBezTo>
                      <a:lnTo>
                        <a:pt x="165894" y="30163"/>
                      </a:lnTo>
                      <a:cubicBezTo>
                        <a:pt x="165894" y="13504"/>
                        <a:pt x="152390" y="0"/>
                        <a:pt x="135731" y="0"/>
                      </a:cubicBezTo>
                      <a:lnTo>
                        <a:pt x="1206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568450" y="2581275"/>
                  <a:ext cx="180975" cy="135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135731">
                      <a:moveTo>
                        <a:pt x="0" y="45244"/>
                      </a:moveTo>
                      <a:cubicBezTo>
                        <a:pt x="0" y="95219"/>
                        <a:pt x="40513" y="135731"/>
                        <a:pt x="90488" y="135731"/>
                      </a:cubicBezTo>
                      <a:cubicBezTo>
                        <a:pt x="140462" y="135731"/>
                        <a:pt x="180975" y="95219"/>
                        <a:pt x="180975" y="45244"/>
                      </a:cubicBezTo>
                      <a:lnTo>
                        <a:pt x="1809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613694" y="2445544"/>
                  <a:ext cx="9525" cy="3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163">
                      <a:moveTo>
                        <a:pt x="0" y="0"/>
                      </a:moveTo>
                      <a:lnTo>
                        <a:pt x="0" y="301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8288" y="2445544"/>
                  <a:ext cx="9525" cy="30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163">
                      <a:moveTo>
                        <a:pt x="0" y="0"/>
                      </a:moveTo>
                      <a:lnTo>
                        <a:pt x="0" y="301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719262" y="2520950"/>
                  <a:ext cx="6032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60325">
                      <a:moveTo>
                        <a:pt x="0" y="30162"/>
                      </a:moveTo>
                      <a:cubicBezTo>
                        <a:pt x="0" y="46821"/>
                        <a:pt x="13504" y="60325"/>
                        <a:pt x="30162" y="60325"/>
                      </a:cubicBezTo>
                      <a:cubicBezTo>
                        <a:pt x="46821" y="60325"/>
                        <a:pt x="60325" y="46821"/>
                        <a:pt x="60325" y="30162"/>
                      </a:cubicBezTo>
                      <a:cubicBezTo>
                        <a:pt x="60325" y="13504"/>
                        <a:pt x="46821" y="0"/>
                        <a:pt x="30162" y="0"/>
                      </a:cubicBezTo>
                      <a:cubicBezTo>
                        <a:pt x="13504" y="0"/>
                        <a:pt x="0" y="13504"/>
                        <a:pt x="0" y="30162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512189" y="289941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诊断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91944" y="3514249"/>
                <a:ext cx="4070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6D6"/>
                    </a:solidFill>
                    <a:latin typeface="Arial"/>
                    <a:ea typeface="Microsoft YaHei"/>
                    <a:cs typeface="Arial"/>
                  </a:rPr>
                  <a:t>STEP 1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32071" y="37538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自适应出题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32071" y="39633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定位薄弱点</a:t>
                </a: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2362200" y="2686050"/>
              <a:ext cx="495300" cy="152400"/>
            </a:xfrm>
            <a:custGeom>
              <a:avLst/>
              <a:gdLst/>
              <a:ahLst/>
              <a:cxnLst/>
              <a:rect l="l" t="t" r="r" b="b"/>
              <a:pathLst>
                <a:path w="495300" h="152400">
                  <a:moveTo>
                    <a:pt x="0" y="76200"/>
                  </a:moveTo>
                  <a:lnTo>
                    <a:pt x="457200" y="76200"/>
                  </a:lnTo>
                  <a:moveTo>
                    <a:pt x="381000" y="0"/>
                  </a:moveTo>
                  <a:lnTo>
                    <a:pt x="495300" y="76200"/>
                  </a:lnTo>
                  <a:lnTo>
                    <a:pt x="381000" y="152400"/>
                  </a:lnTo>
                </a:path>
              </a:pathLst>
            </a:custGeom>
            <a:noFill/>
            <a:ln w="23812" cap="rnd">
              <a:solidFill>
                <a:srgbClr val="94A3B8"/>
              </a:solidFill>
              <a:round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3323623" y="2209800"/>
              <a:ext cx="1144205" cy="1966912"/>
              <a:chOff x="3323623" y="2209800"/>
              <a:chExt cx="1144205" cy="1966912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3343275" y="2209800"/>
                <a:ext cx="1104900" cy="110490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3693319" y="2445544"/>
                <a:ext cx="271462" cy="271462"/>
                <a:chOff x="3693319" y="2445544"/>
                <a:chExt cx="271462" cy="271462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3693319" y="2656681"/>
                  <a:ext cx="6032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60325">
                      <a:moveTo>
                        <a:pt x="0" y="30162"/>
                      </a:moveTo>
                      <a:cubicBezTo>
                        <a:pt x="0" y="46821"/>
                        <a:pt x="13504" y="60325"/>
                        <a:pt x="30163" y="60325"/>
                      </a:cubicBezTo>
                      <a:cubicBezTo>
                        <a:pt x="46821" y="60325"/>
                        <a:pt x="60325" y="46821"/>
                        <a:pt x="60325" y="30162"/>
                      </a:cubicBezTo>
                      <a:cubicBezTo>
                        <a:pt x="60325" y="13504"/>
                        <a:pt x="46821" y="0"/>
                        <a:pt x="30163" y="0"/>
                      </a:cubicBezTo>
                      <a:cubicBezTo>
                        <a:pt x="13504" y="0"/>
                        <a:pt x="0" y="13504"/>
                        <a:pt x="0" y="30162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904456" y="2445544"/>
                  <a:ext cx="6032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60325">
                      <a:moveTo>
                        <a:pt x="30162" y="60325"/>
                      </a:moveTo>
                      <a:cubicBezTo>
                        <a:pt x="46821" y="60325"/>
                        <a:pt x="60325" y="46821"/>
                        <a:pt x="60325" y="30163"/>
                      </a:cubicBezTo>
                      <a:cubicBezTo>
                        <a:pt x="60325" y="13504"/>
                        <a:pt x="46821" y="0"/>
                        <a:pt x="30162" y="0"/>
                      </a:cubicBezTo>
                      <a:cubicBezTo>
                        <a:pt x="13504" y="0"/>
                        <a:pt x="0" y="13504"/>
                        <a:pt x="0" y="30163"/>
                      </a:cubicBezTo>
                      <a:cubicBezTo>
                        <a:pt x="0" y="46821"/>
                        <a:pt x="13504" y="60325"/>
                        <a:pt x="30162" y="603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723481" y="2475706"/>
                  <a:ext cx="226219" cy="211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219" h="211137">
                      <a:moveTo>
                        <a:pt x="90488" y="211137"/>
                      </a:moveTo>
                      <a:lnTo>
                        <a:pt x="173434" y="211137"/>
                      </a:lnTo>
                      <a:cubicBezTo>
                        <a:pt x="202586" y="211137"/>
                        <a:pt x="226219" y="187505"/>
                        <a:pt x="226219" y="158353"/>
                      </a:cubicBezTo>
                      <a:cubicBezTo>
                        <a:pt x="226219" y="129201"/>
                        <a:pt x="202586" y="105569"/>
                        <a:pt x="173434" y="105569"/>
                      </a:cubicBezTo>
                      <a:lnTo>
                        <a:pt x="52784" y="105569"/>
                      </a:lnTo>
                      <a:cubicBezTo>
                        <a:pt x="23632" y="105569"/>
                        <a:pt x="0" y="81936"/>
                        <a:pt x="0" y="52784"/>
                      </a:cubicBezTo>
                      <a:cubicBezTo>
                        <a:pt x="0" y="23632"/>
                        <a:pt x="23632" y="0"/>
                        <a:pt x="52784" y="0"/>
                      </a:cubicBezTo>
                      <a:lnTo>
                        <a:pt x="1206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3712464" y="289941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溯源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23623" y="3514249"/>
                <a:ext cx="11442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D97706"/>
                    </a:solidFill>
                    <a:latin typeface="Arial"/>
                    <a:ea typeface="Microsoft YaHei"/>
                    <a:cs typeface="Arial"/>
                  </a:rPr>
                  <a:t>STEP 2 · 创新核心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532346" y="37538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沿图谱回溯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532346" y="39633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找深层根因</a:t>
                </a: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4562475" y="2686050"/>
              <a:ext cx="495300" cy="152400"/>
            </a:xfrm>
            <a:custGeom>
              <a:avLst/>
              <a:gdLst/>
              <a:ahLst/>
              <a:cxnLst/>
              <a:rect l="l" t="t" r="r" b="b"/>
              <a:pathLst>
                <a:path w="495300" h="152400">
                  <a:moveTo>
                    <a:pt x="0" y="76200"/>
                  </a:moveTo>
                  <a:lnTo>
                    <a:pt x="457200" y="76200"/>
                  </a:lnTo>
                  <a:moveTo>
                    <a:pt x="381000" y="0"/>
                  </a:moveTo>
                  <a:lnTo>
                    <a:pt x="495300" y="76200"/>
                  </a:lnTo>
                  <a:lnTo>
                    <a:pt x="381000" y="152400"/>
                  </a:lnTo>
                </a:path>
              </a:pathLst>
            </a:custGeom>
            <a:noFill/>
            <a:ln w="23812" cap="rnd">
              <a:solidFill>
                <a:srgbClr val="94A3B8"/>
              </a:solidFill>
              <a:round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5543550" y="2209800"/>
              <a:ext cx="1104900" cy="1966912"/>
              <a:chOff x="5543550" y="2209800"/>
              <a:chExt cx="1104900" cy="1966912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5543550" y="2209800"/>
                <a:ext cx="1104900" cy="1104900"/>
              </a:xfrm>
              <a:prstGeom prst="ellipse">
                <a:avLst/>
              </a:prstGeom>
              <a:solidFill>
                <a:srgbClr val="1B4B8A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5893594" y="2460625"/>
                <a:ext cx="271462" cy="241300"/>
                <a:chOff x="5893594" y="2460625"/>
                <a:chExt cx="271462" cy="241300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5893594" y="2460625"/>
                  <a:ext cx="271462" cy="24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241300">
                      <a:moveTo>
                        <a:pt x="0" y="45244"/>
                      </a:moveTo>
                      <a:lnTo>
                        <a:pt x="90488" y="0"/>
                      </a:lnTo>
                      <a:lnTo>
                        <a:pt x="180975" y="45244"/>
                      </a:lnTo>
                      <a:lnTo>
                        <a:pt x="271462" y="0"/>
                      </a:lnTo>
                      <a:lnTo>
                        <a:pt x="271462" y="196056"/>
                      </a:lnTo>
                      <a:lnTo>
                        <a:pt x="180975" y="241300"/>
                      </a:lnTo>
                      <a:lnTo>
                        <a:pt x="90488" y="196056"/>
                      </a:lnTo>
                      <a:lnTo>
                        <a:pt x="0" y="241300"/>
                      </a:lnTo>
                      <a:lnTo>
                        <a:pt x="0" y="45244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5984081" y="2460625"/>
                  <a:ext cx="9525" cy="196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6056">
                      <a:moveTo>
                        <a:pt x="0" y="0"/>
                      </a:moveTo>
                      <a:lnTo>
                        <a:pt x="0" y="196056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074569" y="2505869"/>
                  <a:ext cx="9525" cy="196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6056">
                      <a:moveTo>
                        <a:pt x="0" y="0"/>
                      </a:moveTo>
                      <a:lnTo>
                        <a:pt x="0" y="196056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5912739" y="289941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规划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875429" y="3514249"/>
                <a:ext cx="4411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6D6"/>
                    </a:solidFill>
                    <a:latin typeface="Arial"/>
                    <a:ea typeface="Microsoft YaHei"/>
                    <a:cs typeface="Arial"/>
                  </a:rPr>
                  <a:t>STEP 3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802630" y="37538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拓扑排序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662612" y="39633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生成学习路径</a:t>
                </a:r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6762750" y="2686050"/>
              <a:ext cx="495300" cy="152400"/>
            </a:xfrm>
            <a:custGeom>
              <a:avLst/>
              <a:gdLst/>
              <a:ahLst/>
              <a:cxnLst/>
              <a:rect l="l" t="t" r="r" b="b"/>
              <a:pathLst>
                <a:path w="495300" h="152400">
                  <a:moveTo>
                    <a:pt x="0" y="76200"/>
                  </a:moveTo>
                  <a:lnTo>
                    <a:pt x="457200" y="76200"/>
                  </a:lnTo>
                  <a:moveTo>
                    <a:pt x="381000" y="0"/>
                  </a:moveTo>
                  <a:lnTo>
                    <a:pt x="495300" y="76200"/>
                  </a:lnTo>
                  <a:lnTo>
                    <a:pt x="381000" y="152400"/>
                  </a:lnTo>
                </a:path>
              </a:pathLst>
            </a:custGeom>
            <a:noFill/>
            <a:ln w="23812" cap="rnd">
              <a:solidFill>
                <a:srgbClr val="94A3B8"/>
              </a:solidFill>
              <a:round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743825" y="2209800"/>
              <a:ext cx="1104900" cy="1966912"/>
              <a:chOff x="7743825" y="2209800"/>
              <a:chExt cx="1104900" cy="1966912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7743825" y="2209800"/>
                <a:ext cx="1104900" cy="1104900"/>
              </a:xfrm>
              <a:prstGeom prst="ellipse">
                <a:avLst/>
              </a:prstGeom>
              <a:solidFill>
                <a:srgbClr val="00A6D6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8078788" y="2475706"/>
                <a:ext cx="301625" cy="211138"/>
                <a:chOff x="8078788" y="2475706"/>
                <a:chExt cx="301625" cy="211138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8078788" y="2475706"/>
                  <a:ext cx="301625" cy="150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5" h="150812">
                      <a:moveTo>
                        <a:pt x="301625" y="60325"/>
                      </a:moveTo>
                      <a:lnTo>
                        <a:pt x="150813" y="0"/>
                      </a:lnTo>
                      <a:lnTo>
                        <a:pt x="0" y="60325"/>
                      </a:lnTo>
                      <a:lnTo>
                        <a:pt x="150813" y="120650"/>
                      </a:lnTo>
                      <a:lnTo>
                        <a:pt x="301625" y="60325"/>
                      </a:lnTo>
                      <a:lnTo>
                        <a:pt x="301625" y="1508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8139112" y="2560161"/>
                  <a:ext cx="180975" cy="1266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126683">
                      <a:moveTo>
                        <a:pt x="0" y="0"/>
                      </a:moveTo>
                      <a:lnTo>
                        <a:pt x="0" y="81439"/>
                      </a:lnTo>
                      <a:cubicBezTo>
                        <a:pt x="0" y="106426"/>
                        <a:pt x="40513" y="126683"/>
                        <a:pt x="90488" y="126683"/>
                      </a:cubicBezTo>
                      <a:cubicBezTo>
                        <a:pt x="140462" y="126683"/>
                        <a:pt x="180975" y="106426"/>
                        <a:pt x="180975" y="81439"/>
                      </a:cubicBezTo>
                      <a:lnTo>
                        <a:pt x="1809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8113014" y="289941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教学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075704" y="3514249"/>
                <a:ext cx="4411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6D6"/>
                    </a:solidFill>
                    <a:latin typeface="Arial"/>
                    <a:ea typeface="Microsoft YaHei"/>
                    <a:cs typeface="Arial"/>
                  </a:rPr>
                  <a:t>STEP 4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002905" y="37538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分层讲解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862888" y="39633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认知风格适配</a:t>
                </a:r>
              </a:p>
            </p:txBody>
          </p:sp>
        </p:grpSp>
        <p:sp>
          <p:nvSpPr>
            <p:cNvPr id="54" name="Freeform 54"/>
            <p:cNvSpPr/>
            <p:nvPr/>
          </p:nvSpPr>
          <p:spPr>
            <a:xfrm>
              <a:off x="8963025" y="2686050"/>
              <a:ext cx="495300" cy="152400"/>
            </a:xfrm>
            <a:custGeom>
              <a:avLst/>
              <a:gdLst/>
              <a:ahLst/>
              <a:cxnLst/>
              <a:rect l="l" t="t" r="r" b="b"/>
              <a:pathLst>
                <a:path w="495300" h="152400">
                  <a:moveTo>
                    <a:pt x="0" y="76200"/>
                  </a:moveTo>
                  <a:lnTo>
                    <a:pt x="457200" y="76200"/>
                  </a:lnTo>
                  <a:moveTo>
                    <a:pt x="381000" y="0"/>
                  </a:moveTo>
                  <a:lnTo>
                    <a:pt x="495300" y="76200"/>
                  </a:lnTo>
                  <a:lnTo>
                    <a:pt x="381000" y="152400"/>
                  </a:lnTo>
                </a:path>
              </a:pathLst>
            </a:custGeom>
            <a:noFill/>
            <a:ln w="23812" cap="rnd">
              <a:solidFill>
                <a:srgbClr val="94A3B8"/>
              </a:solidFill>
              <a:round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944100" y="2209800"/>
              <a:ext cx="1104900" cy="1966912"/>
              <a:chOff x="9944100" y="2209800"/>
              <a:chExt cx="1104900" cy="1966912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9944100" y="2209800"/>
                <a:ext cx="1104900" cy="1104900"/>
              </a:xfrm>
              <a:prstGeom prst="ellipse">
                <a:avLst/>
              </a:prstGeom>
              <a:solidFill>
                <a:srgbClr val="0E2E5C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10324306" y="2460625"/>
                <a:ext cx="226220" cy="256381"/>
                <a:chOff x="10324306" y="2460625"/>
                <a:chExt cx="226220" cy="256381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10324306" y="2460625"/>
                  <a:ext cx="180975" cy="24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241300">
                      <a:moveTo>
                        <a:pt x="69600" y="241300"/>
                      </a:moveTo>
                      <a:lnTo>
                        <a:pt x="30162" y="241300"/>
                      </a:lnTo>
                      <a:cubicBezTo>
                        <a:pt x="13504" y="241300"/>
                        <a:pt x="0" y="227796"/>
                        <a:pt x="0" y="211138"/>
                      </a:cubicBezTo>
                      <a:lnTo>
                        <a:pt x="0" y="30163"/>
                      </a:lnTo>
                      <a:cubicBezTo>
                        <a:pt x="0" y="13504"/>
                        <a:pt x="13504" y="0"/>
                        <a:pt x="30162" y="0"/>
                      </a:cubicBezTo>
                      <a:lnTo>
                        <a:pt x="150812" y="0"/>
                      </a:lnTo>
                      <a:cubicBezTo>
                        <a:pt x="167471" y="0"/>
                        <a:pt x="180975" y="13504"/>
                        <a:pt x="180975" y="30163"/>
                      </a:cubicBezTo>
                      <a:lnTo>
                        <a:pt x="180975" y="1508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10460038" y="2656681"/>
                  <a:ext cx="90488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8" h="60325">
                      <a:moveTo>
                        <a:pt x="0" y="30162"/>
                      </a:moveTo>
                      <a:lnTo>
                        <a:pt x="30162" y="60325"/>
                      </a:lnTo>
                      <a:lnTo>
                        <a:pt x="90488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10384631" y="2520950"/>
                  <a:ext cx="603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25" h="9525">
                      <a:moveTo>
                        <a:pt x="0" y="0"/>
                      </a:moveTo>
                      <a:lnTo>
                        <a:pt x="6032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10384631" y="2581275"/>
                  <a:ext cx="301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3" h="9525">
                      <a:moveTo>
                        <a:pt x="0" y="0"/>
                      </a:moveTo>
                      <a:lnTo>
                        <a:pt x="30163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10313289" y="289941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评估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0275979" y="3514249"/>
                <a:ext cx="4411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6D6"/>
                    </a:solidFill>
                    <a:latin typeface="Arial"/>
                    <a:ea typeface="Microsoft YaHei"/>
                    <a:cs typeface="Arial"/>
                  </a:rPr>
                  <a:t>STEP 5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0133171" y="37538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检查点评估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0063162" y="39633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74151"/>
                    </a:solidFill>
                    <a:latin typeface="Arial"/>
                    <a:ea typeface="Microsoft YaHei"/>
                    <a:cs typeface="Arial"/>
                  </a:rPr>
                  <a:t>不达标再规划</a:t>
                </a:r>
              </a:p>
            </p:txBody>
          </p:sp>
        </p:grpSp>
        <p:sp>
          <p:nvSpPr>
            <p:cNvPr id="66" name="Freeform 66"/>
            <p:cNvSpPr/>
            <p:nvPr/>
          </p:nvSpPr>
          <p:spPr>
            <a:xfrm>
              <a:off x="1695450" y="4476750"/>
              <a:ext cx="8801100" cy="666750"/>
            </a:xfrm>
            <a:custGeom>
              <a:avLst/>
              <a:gdLst/>
              <a:ahLst/>
              <a:cxnLst/>
              <a:rect l="l" t="t" r="r" b="b"/>
              <a:pathLst>
                <a:path w="8801100" h="666750">
                  <a:moveTo>
                    <a:pt x="8801100" y="0"/>
                  </a:moveTo>
                  <a:cubicBezTo>
                    <a:pt x="8801100" y="444500"/>
                    <a:pt x="8159750" y="666750"/>
                    <a:pt x="6877050" y="666750"/>
                  </a:cubicBezTo>
                  <a:lnTo>
                    <a:pt x="1924050" y="666750"/>
                  </a:lnTo>
                  <a:cubicBezTo>
                    <a:pt x="641350" y="666750"/>
                    <a:pt x="0" y="444500"/>
                    <a:pt x="0" y="0"/>
                  </a:cubicBezTo>
                </a:path>
              </a:pathLst>
            </a:custGeom>
            <a:noFill/>
            <a:ln w="23812">
              <a:solidFill>
                <a:srgbClr val="16A34A"/>
              </a:solidFill>
              <a:custDash>
                <a:ds d="320000" sp="200000"/>
              </a:custDash>
            </a:ln>
          </p:spPr>
        </p:sp>
        <p:sp>
          <p:nvSpPr>
            <p:cNvPr id="67" name="Freeform 67"/>
            <p:cNvSpPr/>
            <p:nvPr/>
          </p:nvSpPr>
          <p:spPr>
            <a:xfrm>
              <a:off x="1619250" y="447675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152400" y="133350"/>
                  </a:moveTo>
                  <a:lnTo>
                    <a:pt x="76200" y="0"/>
                  </a:lnTo>
                  <a:lnTo>
                    <a:pt x="0" y="133350"/>
                  </a:lnTo>
                </a:path>
              </a:pathLst>
            </a:custGeom>
            <a:noFill/>
            <a:ln w="23812" cap="rnd">
              <a:solidFill>
                <a:srgbClr val="16A34A"/>
              </a:solidFill>
              <a:round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448300" y="4972050"/>
              <a:ext cx="1295400" cy="342900"/>
            </a:xfrm>
            <a:prstGeom prst="roundRect">
              <a:avLst>
                <a:gd name="adj" fmla="val 50000"/>
              </a:avLst>
            </a:prstGeom>
            <a:solidFill>
              <a:srgbClr val="EEF8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410056" y="5087302"/>
              <a:ext cx="1371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6A34A"/>
                  </a:solidFill>
                  <a:latin typeface="Arial"/>
                  <a:ea typeface="Microsoft YaHei"/>
                  <a:cs typeface="Arial"/>
                </a:rPr>
                <a:t>闭环反馈 · 自动回流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09600" y="5600700"/>
            <a:ext cx="10972800" cy="588169"/>
            <a:chOff x="609600" y="5600700"/>
            <a:chExt cx="10972800" cy="588169"/>
          </a:xfrm>
        </p:grpSpPr>
        <p:sp>
          <p:nvSpPr>
            <p:cNvPr id="71" name="Rectangle 71"/>
            <p:cNvSpPr/>
            <p:nvPr/>
          </p:nvSpPr>
          <p:spPr>
            <a:xfrm>
              <a:off x="609600" y="5600700"/>
              <a:ext cx="5334000" cy="552450"/>
            </a:xfrm>
            <a:prstGeom prst="roundRect">
              <a:avLst>
                <a:gd name="adj" fmla="val 20690"/>
              </a:avLst>
            </a:prstGeom>
            <a:solidFill>
              <a:srgbClr val="F4F7FB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852488" y="5776912"/>
              <a:ext cx="200024" cy="200025"/>
              <a:chOff x="852488" y="5776912"/>
              <a:chExt cx="200024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74712" y="5776912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52488" y="5910262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996950" y="5778357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1019175" y="5911929"/>
                <a:ext cx="33337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7" h="65008">
                    <a:moveTo>
                      <a:pt x="33337" y="65008"/>
                    </a:moveTo>
                    <a:lnTo>
                      <a:pt x="33337" y="42783"/>
                    </a:lnTo>
                    <a:cubicBezTo>
                      <a:pt x="33221" y="22609"/>
                      <a:pt x="19534" y="504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184910" y="5804535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学生端 · 7 大功能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87768" y="5990749"/>
              <a:ext cx="27421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诊断 / 溯源 / 路径 / 教学 / 练习 / 伴学 / 报告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5600700"/>
              <a:ext cx="5334000" cy="552450"/>
            </a:xfrm>
            <a:prstGeom prst="roundRect">
              <a:avLst>
                <a:gd name="adj" fmla="val 20690"/>
              </a:avLst>
            </a:prstGeom>
            <a:solidFill>
              <a:srgbClr val="F4F7FB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491288" y="5788025"/>
              <a:ext cx="200025" cy="187325"/>
              <a:chOff x="6491288" y="5788025"/>
              <a:chExt cx="200025" cy="18732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6557962" y="58324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444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624638" y="5854700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591300" y="5865812"/>
                <a:ext cx="9525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">
                    <a:moveTo>
                      <a:pt x="0" y="111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491288" y="5788025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502400" y="5788025"/>
                <a:ext cx="1778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33350">
                    <a:moveTo>
                      <a:pt x="0" y="0"/>
                    </a:moveTo>
                    <a:lnTo>
                      <a:pt x="0" y="111125"/>
                    </a:lnTo>
                    <a:cubicBezTo>
                      <a:pt x="0" y="123400"/>
                      <a:pt x="9950" y="133350"/>
                      <a:pt x="22225" y="133350"/>
                    </a:cubicBezTo>
                    <a:lnTo>
                      <a:pt x="155575" y="133350"/>
                    </a:lnTo>
                    <a:cubicBezTo>
                      <a:pt x="167850" y="133350"/>
                      <a:pt x="177800" y="123400"/>
                      <a:pt x="177800" y="11112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591300" y="59213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557962" y="5965825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823710" y="5804535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教师端 · 6 大功能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826568" y="5990749"/>
              <a:ext cx="27226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班级 / 热力图 / 分层作业 / 预警 / 周报 / 作业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98170" y="6475095"/>
            <a:ext cx="10995661" cy="182880"/>
            <a:chOff x="598170" y="6475095"/>
            <a:chExt cx="10995661" cy="182880"/>
          </a:xfrm>
        </p:grpSpPr>
        <p:sp>
          <p:nvSpPr>
            <p:cNvPr id="91" name="TextBox 91"/>
            <p:cNvSpPr txBox="1"/>
            <p:nvPr/>
          </p:nvSpPr>
          <p:spPr>
            <a:xfrm>
              <a:off x="598170" y="64750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438954" y="64750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413691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测-学-测-再规划 的自动闭环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36671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核心理念：评估不达标自动回流，事件驱动而非线性流水线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02 应用价值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2095500" y="2000250"/>
            <a:ext cx="4000500" cy="4000500"/>
            <a:chOff x="2095500" y="2000250"/>
            <a:chExt cx="4000500" cy="4000500"/>
          </a:xfrm>
        </p:grpSpPr>
        <p:sp>
          <p:nvSpPr>
            <p:cNvPr id="9" name="Ellipse 9"/>
            <p:cNvSpPr/>
            <p:nvPr/>
          </p:nvSpPr>
          <p:spPr>
            <a:xfrm>
              <a:off x="2095500" y="2000250"/>
              <a:ext cx="4000500" cy="4000500"/>
            </a:xfrm>
            <a:prstGeom prst="ellipse">
              <a:avLst/>
            </a:prstGeom>
            <a:noFill/>
            <a:ln w="19050">
              <a:solidFill>
                <a:srgbClr val="E2E8F0"/>
              </a:solidFill>
              <a:prstDash val="lgDash"/>
            </a:ln>
          </p:spPr>
        </p:sp>
        <p:sp>
          <p:nvSpPr>
            <p:cNvPr id="10" name="Ellipse 10"/>
            <p:cNvSpPr/>
            <p:nvPr/>
          </p:nvSpPr>
          <p:spPr>
            <a:xfrm>
              <a:off x="2838450" y="2743200"/>
              <a:ext cx="2514600" cy="2514600"/>
            </a:xfrm>
            <a:prstGeom prst="ellipse">
              <a:avLst/>
            </a:prstGeom>
            <a:noFill/>
            <a:ln w="9525">
              <a:solidFill>
                <a:srgbClr val="EEF2F7"/>
              </a:solidFill>
              <a:prstDash val="dash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68827" y="36918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自动闭环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16857" y="4058602"/>
              <a:ext cx="957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Adaptive Loop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52650" y="2076450"/>
            <a:ext cx="3905250" cy="3714750"/>
            <a:chOff x="2152650" y="2076450"/>
            <a:chExt cx="3905250" cy="3714750"/>
          </a:xfrm>
        </p:grpSpPr>
        <p:sp>
          <p:nvSpPr>
            <p:cNvPr id="14" name="Freeform 14"/>
            <p:cNvSpPr/>
            <p:nvPr/>
          </p:nvSpPr>
          <p:spPr>
            <a:xfrm>
              <a:off x="4810125" y="2114550"/>
              <a:ext cx="1209675" cy="1219200"/>
            </a:xfrm>
            <a:custGeom>
              <a:avLst/>
              <a:gdLst/>
              <a:ahLst/>
              <a:cxnLst/>
              <a:rect l="l" t="t" r="r" b="b"/>
              <a:pathLst>
                <a:path w="1209675" h="1219200">
                  <a:moveTo>
                    <a:pt x="0" y="0"/>
                  </a:moveTo>
                  <a:cubicBezTo>
                    <a:pt x="698500" y="177800"/>
                    <a:pt x="1101725" y="584200"/>
                    <a:pt x="1209675" y="1219200"/>
                  </a:cubicBezTo>
                </a:path>
              </a:pathLst>
            </a:custGeom>
            <a:noFill/>
            <a:ln w="28575">
              <a:solidFill>
                <a:srgbClr val="00A6D6">
                  <a:alpha val="50000"/>
                </a:srgbClr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5962650" y="3276600"/>
              <a:ext cx="95250" cy="152400"/>
            </a:xfrm>
            <a:custGeom>
              <a:avLst/>
              <a:gdLst/>
              <a:ahLst/>
              <a:cxnLst/>
              <a:rect l="l" t="t" r="r" b="b"/>
              <a:pathLst>
                <a:path w="95250" h="152400">
                  <a:moveTo>
                    <a:pt x="95250" y="76200"/>
                  </a:moveTo>
                  <a:lnTo>
                    <a:pt x="0" y="0"/>
                  </a:lnTo>
                  <a:lnTo>
                    <a:pt x="19050" y="152400"/>
                  </a:lnTo>
                  <a:close/>
                </a:path>
              </a:pathLst>
            </a:custGeom>
            <a:solidFill>
              <a:srgbClr val="00A6D6">
                <a:alpha val="70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667250" y="4552950"/>
              <a:ext cx="1314450" cy="1162050"/>
            </a:xfrm>
            <a:custGeom>
              <a:avLst/>
              <a:gdLst/>
              <a:ahLst/>
              <a:cxnLst/>
              <a:rect l="l" t="t" r="r" b="b"/>
              <a:pathLst>
                <a:path w="1314450" h="1162050">
                  <a:moveTo>
                    <a:pt x="1314450" y="0"/>
                  </a:moveTo>
                  <a:cubicBezTo>
                    <a:pt x="1136650" y="647700"/>
                    <a:pt x="698500" y="1035050"/>
                    <a:pt x="0" y="1162050"/>
                  </a:cubicBezTo>
                </a:path>
              </a:pathLst>
            </a:custGeom>
            <a:noFill/>
            <a:ln w="28575">
              <a:solidFill>
                <a:srgbClr val="00A6D6">
                  <a:alpha val="50000"/>
                </a:srgbClr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4629150" y="56769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lnTo>
                    <a:pt x="114300" y="0"/>
                  </a:lnTo>
                  <a:lnTo>
                    <a:pt x="19050" y="114300"/>
                  </a:lnTo>
                  <a:close/>
                </a:path>
              </a:pathLst>
            </a:custGeom>
            <a:solidFill>
              <a:srgbClr val="00A6D6">
                <a:alpha val="70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209800" y="4552950"/>
              <a:ext cx="1333500" cy="1162050"/>
            </a:xfrm>
            <a:custGeom>
              <a:avLst/>
              <a:gdLst/>
              <a:ahLst/>
              <a:cxnLst/>
              <a:rect l="l" t="t" r="r" b="b"/>
              <a:pathLst>
                <a:path w="1333500" h="1162050">
                  <a:moveTo>
                    <a:pt x="1333500" y="1162050"/>
                  </a:moveTo>
                  <a:cubicBezTo>
                    <a:pt x="635000" y="1035050"/>
                    <a:pt x="190500" y="647700"/>
                    <a:pt x="0" y="0"/>
                  </a:cubicBezTo>
                </a:path>
              </a:pathLst>
            </a:custGeom>
            <a:noFill/>
            <a:ln w="28575">
              <a:solidFill>
                <a:srgbClr val="00A6D6">
                  <a:alpha val="50000"/>
                </a:srgbClr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152650" y="451485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38100" y="0"/>
                  </a:moveTo>
                  <a:lnTo>
                    <a:pt x="0" y="133350"/>
                  </a:lnTo>
                  <a:lnTo>
                    <a:pt x="133350" y="57150"/>
                  </a:lnTo>
                  <a:close/>
                </a:path>
              </a:pathLst>
            </a:custGeom>
            <a:solidFill>
              <a:srgbClr val="00A6D6">
                <a:alpha val="70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209800" y="2114550"/>
              <a:ext cx="1171575" cy="1238250"/>
            </a:xfrm>
            <a:custGeom>
              <a:avLst/>
              <a:gdLst/>
              <a:ahLst/>
              <a:cxnLst/>
              <a:rect l="l" t="t" r="r" b="b"/>
              <a:pathLst>
                <a:path w="1171575" h="1238250">
                  <a:moveTo>
                    <a:pt x="0" y="1238250"/>
                  </a:moveTo>
                  <a:cubicBezTo>
                    <a:pt x="114300" y="590550"/>
                    <a:pt x="504825" y="177800"/>
                    <a:pt x="1171575" y="0"/>
                  </a:cubicBezTo>
                </a:path>
              </a:pathLst>
            </a:custGeom>
            <a:noFill/>
            <a:ln w="28575">
              <a:solidFill>
                <a:srgbClr val="16A34A">
                  <a:alpha val="60000"/>
                </a:srgbClr>
              </a:solidFill>
              <a:custDash>
                <a:ds d="233333" sp="133333"/>
              </a:custDash>
            </a:ln>
          </p:spPr>
        </p:sp>
        <p:sp>
          <p:nvSpPr>
            <p:cNvPr id="21" name="Polygon 21"/>
            <p:cNvSpPr/>
            <p:nvPr/>
          </p:nvSpPr>
          <p:spPr>
            <a:xfrm>
              <a:off x="3295650" y="20764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57150"/>
                  </a:moveTo>
                  <a:lnTo>
                    <a:pt x="0" y="0"/>
                  </a:lnTo>
                  <a:lnTo>
                    <a:pt x="57150" y="133350"/>
                  </a:lnTo>
                  <a:close/>
                </a:path>
              </a:pathLst>
            </a:custGeom>
            <a:solidFill>
              <a:srgbClr val="16A34A">
                <a:alpha val="80000"/>
              </a:srgbClr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714500" y="1524000"/>
            <a:ext cx="4762500" cy="4552950"/>
            <a:chOff x="1714500" y="1524000"/>
            <a:chExt cx="4762500" cy="4552950"/>
          </a:xfrm>
        </p:grpSpPr>
        <p:grpSp>
          <p:nvGrpSpPr>
            <p:cNvPr id="31" name="Group 31"/>
            <p:cNvGrpSpPr/>
            <p:nvPr/>
          </p:nvGrpSpPr>
          <p:grpSpPr>
            <a:xfrm>
              <a:off x="3619500" y="1524000"/>
              <a:ext cx="952500" cy="952500"/>
              <a:chOff x="3619500" y="1524000"/>
              <a:chExt cx="952500" cy="952500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3619500" y="1524000"/>
                <a:ext cx="952500" cy="952500"/>
              </a:xfrm>
              <a:prstGeom prst="ellipse">
                <a:avLst/>
              </a:prstGeom>
              <a:solidFill>
                <a:srgbClr val="0E2E5C"/>
              </a:solidFill>
              <a:ln>
                <a:noFill/>
              </a:ln>
              <a:effectLst>
                <a:outerShdw blurRad="114300" dist="38100" dir="5400000" algn="ctr" rotWithShape="0">
                  <a:srgbClr val="0F172A">
                    <a:alpha val="11250"/>
                  </a:srgbClr>
                </a:outerShdw>
              </a:effectLst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3921919" y="1769269"/>
                <a:ext cx="226218" cy="214312"/>
                <a:chOff x="3921919" y="1769269"/>
                <a:chExt cx="226218" cy="214312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3921919" y="1781175"/>
                  <a:ext cx="130969" cy="130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130969">
                      <a:moveTo>
                        <a:pt x="35719" y="0"/>
                      </a:moveTo>
                      <a:lnTo>
                        <a:pt x="23812" y="0"/>
                      </a:lnTo>
                      <a:cubicBezTo>
                        <a:pt x="10661" y="0"/>
                        <a:pt x="0" y="10661"/>
                        <a:pt x="0" y="23812"/>
                      </a:cubicBezTo>
                      <a:lnTo>
                        <a:pt x="0" y="65484"/>
                      </a:lnTo>
                      <a:cubicBezTo>
                        <a:pt x="0" y="101650"/>
                        <a:pt x="29318" y="130969"/>
                        <a:pt x="65484" y="130969"/>
                      </a:cubicBezTo>
                      <a:cubicBezTo>
                        <a:pt x="101650" y="130969"/>
                        <a:pt x="130969" y="101650"/>
                        <a:pt x="130969" y="65484"/>
                      </a:cubicBezTo>
                      <a:lnTo>
                        <a:pt x="130969" y="23812"/>
                      </a:lnTo>
                      <a:cubicBezTo>
                        <a:pt x="130969" y="10661"/>
                        <a:pt x="120308" y="0"/>
                        <a:pt x="107156" y="0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981450" y="1876425"/>
                  <a:ext cx="142875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07156">
                      <a:moveTo>
                        <a:pt x="0" y="35719"/>
                      </a:moveTo>
                      <a:cubicBezTo>
                        <a:pt x="0" y="75173"/>
                        <a:pt x="31984" y="107156"/>
                        <a:pt x="71438" y="107156"/>
                      </a:cubicBezTo>
                      <a:cubicBezTo>
                        <a:pt x="110891" y="107156"/>
                        <a:pt x="142875" y="75173"/>
                        <a:pt x="142875" y="35719"/>
                      </a:cubicBez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017169" y="1769269"/>
                  <a:ext cx="9525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3812">
                      <a:moveTo>
                        <a:pt x="0" y="0"/>
                      </a:move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3957638" y="1769269"/>
                  <a:ext cx="9525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3812">
                      <a:moveTo>
                        <a:pt x="0" y="0"/>
                      </a:moveTo>
                      <a:lnTo>
                        <a:pt x="0" y="238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100512" y="1828800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3923943" y="2088356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诊断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524500" y="2905125"/>
              <a:ext cx="952500" cy="952500"/>
              <a:chOff x="5524500" y="2905125"/>
              <a:chExt cx="952500" cy="95250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5524500" y="2905125"/>
                <a:ext cx="952500" cy="95250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  <a:effectLst>
                <a:outerShdw blurRad="114300" dist="38100" dir="5400000" algn="ctr" rotWithShape="0">
                  <a:srgbClr val="0F172A">
                    <a:alpha val="11250"/>
                  </a:srgbClr>
                </a:outerShdw>
              </a:effectLst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5826919" y="3150394"/>
                <a:ext cx="214312" cy="214312"/>
                <a:chOff x="5826919" y="3150394"/>
                <a:chExt cx="214312" cy="214312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5826919" y="3317081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5993606" y="3150394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23812" y="47625"/>
                      </a:move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5850731" y="3174206"/>
                  <a:ext cx="178594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4" h="166688">
                      <a:moveTo>
                        <a:pt x="71438" y="166688"/>
                      </a:moveTo>
                      <a:lnTo>
                        <a:pt x="136922" y="166688"/>
                      </a:lnTo>
                      <a:cubicBezTo>
                        <a:pt x="159937" y="166688"/>
                        <a:pt x="178594" y="148030"/>
                        <a:pt x="178594" y="125016"/>
                      </a:cubicBezTo>
                      <a:cubicBezTo>
                        <a:pt x="178594" y="102001"/>
                        <a:pt x="159937" y="83344"/>
                        <a:pt x="136922" y="83344"/>
                      </a:cubicBezTo>
                      <a:lnTo>
                        <a:pt x="41672" y="83344"/>
                      </a:lnTo>
                      <a:cubicBezTo>
                        <a:pt x="18657" y="83344"/>
                        <a:pt x="0" y="64687"/>
                        <a:pt x="0" y="41672"/>
                      </a:cubicBezTo>
                      <a:cubicBezTo>
                        <a:pt x="0" y="18657"/>
                        <a:pt x="18657" y="0"/>
                        <a:pt x="41672" y="0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5828943" y="3469481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溯源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4800600" y="5124450"/>
              <a:ext cx="952500" cy="952500"/>
              <a:chOff x="4800600" y="5124450"/>
              <a:chExt cx="952500" cy="95250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4800600" y="5124450"/>
                <a:ext cx="952500" cy="952500"/>
              </a:xfrm>
              <a:prstGeom prst="ellipse">
                <a:avLst/>
              </a:prstGeom>
              <a:solidFill>
                <a:srgbClr val="1B4B8A"/>
              </a:solidFill>
              <a:ln>
                <a:noFill/>
              </a:ln>
              <a:effectLst>
                <a:outerShdw blurRad="114300" dist="38100" dir="5400000" algn="ctr" rotWithShape="0">
                  <a:srgbClr val="0F172A">
                    <a:alpha val="11250"/>
                  </a:srgbClr>
                </a:outerShdw>
              </a:effectLst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5103019" y="5381625"/>
                <a:ext cx="214312" cy="190500"/>
                <a:chOff x="5103019" y="5381625"/>
                <a:chExt cx="214312" cy="19050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5103019" y="5381625"/>
                  <a:ext cx="21431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90500">
                      <a:moveTo>
                        <a:pt x="0" y="35719"/>
                      </a:moveTo>
                      <a:lnTo>
                        <a:pt x="71438" y="0"/>
                      </a:lnTo>
                      <a:lnTo>
                        <a:pt x="142875" y="35719"/>
                      </a:lnTo>
                      <a:lnTo>
                        <a:pt x="214312" y="0"/>
                      </a:lnTo>
                      <a:lnTo>
                        <a:pt x="214312" y="154781"/>
                      </a:lnTo>
                      <a:lnTo>
                        <a:pt x="142875" y="190500"/>
                      </a:lnTo>
                      <a:lnTo>
                        <a:pt x="71438" y="154781"/>
                      </a:lnTo>
                      <a:lnTo>
                        <a:pt x="0" y="190500"/>
                      </a:lnTo>
                      <a:lnTo>
                        <a:pt x="0" y="3571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5174456" y="5381625"/>
                  <a:ext cx="9525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4781">
                      <a:moveTo>
                        <a:pt x="0" y="0"/>
                      </a:moveTo>
                      <a:lnTo>
                        <a:pt x="0" y="15478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245894" y="5417344"/>
                  <a:ext cx="9525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4781">
                      <a:moveTo>
                        <a:pt x="0" y="0"/>
                      </a:moveTo>
                      <a:lnTo>
                        <a:pt x="0" y="15478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5105043" y="5688806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规划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438400" y="5124450"/>
              <a:ext cx="952500" cy="952500"/>
              <a:chOff x="2438400" y="5124450"/>
              <a:chExt cx="952500" cy="9525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2438400" y="5124450"/>
                <a:ext cx="952500" cy="952500"/>
              </a:xfrm>
              <a:prstGeom prst="ellipse">
                <a:avLst/>
              </a:prstGeom>
              <a:solidFill>
                <a:srgbClr val="00A6D6"/>
              </a:solidFill>
              <a:ln>
                <a:noFill/>
              </a:ln>
              <a:effectLst>
                <a:outerShdw blurRad="114300" dist="38100" dir="5400000" algn="ctr" rotWithShape="0">
                  <a:srgbClr val="0F172A">
                    <a:alpha val="11250"/>
                  </a:srgbClr>
                </a:outerShdw>
              </a:effectLst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2728912" y="5393531"/>
                <a:ext cx="238125" cy="166687"/>
                <a:chOff x="2728912" y="5393531"/>
                <a:chExt cx="238125" cy="166687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2728912" y="5393531"/>
                  <a:ext cx="238125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19062">
                      <a:moveTo>
                        <a:pt x="238125" y="47625"/>
                      </a:moveTo>
                      <a:lnTo>
                        <a:pt x="119062" y="0"/>
                      </a:lnTo>
                      <a:lnTo>
                        <a:pt x="0" y="47625"/>
                      </a:lnTo>
                      <a:lnTo>
                        <a:pt x="119062" y="95250"/>
                      </a:lnTo>
                      <a:lnTo>
                        <a:pt x="238125" y="47625"/>
                      </a:lnTo>
                      <a:lnTo>
                        <a:pt x="238125" y="11906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2776538" y="5460206"/>
                  <a:ext cx="1428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00012">
                      <a:moveTo>
                        <a:pt x="0" y="0"/>
                      </a:moveTo>
                      <a:lnTo>
                        <a:pt x="0" y="64294"/>
                      </a:lnTo>
                      <a:cubicBezTo>
                        <a:pt x="0" y="84021"/>
                        <a:pt x="31984" y="100012"/>
                        <a:pt x="71438" y="100012"/>
                      </a:cubicBezTo>
                      <a:cubicBezTo>
                        <a:pt x="110891" y="100012"/>
                        <a:pt x="142875" y="84021"/>
                        <a:pt x="142875" y="64294"/>
                      </a:cubicBez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2742843" y="5688806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教学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1714500" y="2905125"/>
              <a:ext cx="952500" cy="952500"/>
              <a:chOff x="1714500" y="2905125"/>
              <a:chExt cx="952500" cy="952500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1714500" y="2905125"/>
                <a:ext cx="952500" cy="952500"/>
              </a:xfrm>
              <a:prstGeom prst="ellipse">
                <a:avLst/>
              </a:prstGeom>
              <a:solidFill>
                <a:srgbClr val="0E2E5C"/>
              </a:solidFill>
              <a:ln>
                <a:noFill/>
              </a:ln>
              <a:effectLst>
                <a:outerShdw blurRad="114300" dist="38100" dir="5400000" algn="ctr" rotWithShape="0">
                  <a:srgbClr val="0F172A">
                    <a:alpha val="11250"/>
                  </a:srgbClr>
                </a:outerShdw>
              </a:effectLst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2040731" y="3162300"/>
                <a:ext cx="178595" cy="202406"/>
                <a:chOff x="2040731" y="3162300"/>
                <a:chExt cx="178595" cy="202406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2040731" y="3162300"/>
                  <a:ext cx="14287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90500">
                      <a:moveTo>
                        <a:pt x="54947" y="190500"/>
                      </a:moveTo>
                      <a:lnTo>
                        <a:pt x="23812" y="190500"/>
                      </a:lnTo>
                      <a:cubicBezTo>
                        <a:pt x="10661" y="190500"/>
                        <a:pt x="0" y="179839"/>
                        <a:pt x="0" y="166688"/>
                      </a:cubicBezTo>
                      <a:lnTo>
                        <a:pt x="0" y="23812"/>
                      </a:ln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19062" y="0"/>
                      </a:lnTo>
                      <a:cubicBezTo>
                        <a:pt x="132214" y="0"/>
                        <a:pt x="142875" y="10661"/>
                        <a:pt x="142875" y="23812"/>
                      </a:cubicBezTo>
                      <a:lnTo>
                        <a:pt x="142875" y="11906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2147888" y="3317081"/>
                  <a:ext cx="7143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47625">
                      <a:moveTo>
                        <a:pt x="0" y="23812"/>
                      </a:moveTo>
                      <a:lnTo>
                        <a:pt x="23812" y="47625"/>
                      </a:lnTo>
                      <a:lnTo>
                        <a:pt x="71438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2088356" y="3209925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2088356" y="3257550"/>
                  <a:ext cx="238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9525">
                      <a:moveTo>
                        <a:pt x="0" y="0"/>
                      </a:moveTo>
                      <a:lnTo>
                        <a:pt x="23812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2018943" y="3469481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评估</a:t>
                </a:r>
              </a:p>
            </p:txBody>
          </p:sp>
        </p:grpSp>
      </p:grpSp>
      <p:grpSp>
        <p:nvGrpSpPr>
          <p:cNvPr id="90" name="Group 90"/>
          <p:cNvGrpSpPr/>
          <p:nvPr/>
        </p:nvGrpSpPr>
        <p:grpSpPr>
          <a:xfrm>
            <a:off x="7239000" y="1771650"/>
            <a:ext cx="4343400" cy="3752850"/>
            <a:chOff x="7239000" y="1771650"/>
            <a:chExt cx="4343400" cy="3752850"/>
          </a:xfrm>
        </p:grpSpPr>
        <p:grpSp>
          <p:nvGrpSpPr>
            <p:cNvPr id="69" name="Group 69"/>
            <p:cNvGrpSpPr/>
            <p:nvPr/>
          </p:nvGrpSpPr>
          <p:grpSpPr>
            <a:xfrm>
              <a:off x="7239000" y="1771650"/>
              <a:ext cx="4343400" cy="1123950"/>
              <a:chOff x="7239000" y="1771650"/>
              <a:chExt cx="4343400" cy="11239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7239000" y="1771650"/>
                <a:ext cx="4343400" cy="1123950"/>
              </a:xfrm>
              <a:prstGeom prst="roundRect">
                <a:avLst>
                  <a:gd name="adj" fmla="val 11864"/>
                </a:avLst>
              </a:prstGeom>
              <a:solidFill>
                <a:srgbClr val="F4F7FB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7239000" y="1771650"/>
                <a:ext cx="47625" cy="1123950"/>
              </a:xfrm>
              <a:prstGeom prst="roundRect">
                <a:avLst>
                  <a:gd name="adj" fmla="val 50000"/>
                </a:avLst>
              </a:prstGeom>
              <a:solidFill>
                <a:srgbClr val="00A6D6"/>
              </a:solidFill>
              <a:ln>
                <a:noFill/>
              </a:ln>
            </p:spPr>
          </p:sp>
          <p:grpSp>
            <p:nvGrpSpPr>
              <p:cNvPr id="65" name="Group 65"/>
              <p:cNvGrpSpPr/>
              <p:nvPr/>
            </p:nvGrpSpPr>
            <p:grpSpPr>
              <a:xfrm>
                <a:off x="7537450" y="2065200"/>
                <a:ext cx="203200" cy="213000"/>
                <a:chOff x="7537450" y="2065200"/>
                <a:chExt cx="203200" cy="213000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7537450" y="2065200"/>
                  <a:ext cx="203200" cy="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93800">
                      <a:moveTo>
                        <a:pt x="203200" y="93800"/>
                      </a:moveTo>
                      <a:cubicBezTo>
                        <a:pt x="196815" y="47858"/>
                        <a:pt x="160476" y="11871"/>
                        <a:pt x="114474" y="5936"/>
                      </a:cubicBezTo>
                      <a:cubicBezTo>
                        <a:pt x="68472" y="0"/>
                        <a:pt x="24187" y="25584"/>
                        <a:pt x="6350" y="68400"/>
                      </a:cubicBezTo>
                      <a:moveTo>
                        <a:pt x="0" y="17600"/>
                      </a:moveTo>
                      <a:lnTo>
                        <a:pt x="0" y="68400"/>
                      </a:lnTo>
                      <a:lnTo>
                        <a:pt x="50800" y="68400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7537450" y="2184400"/>
                  <a:ext cx="203200" cy="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93800">
                      <a:moveTo>
                        <a:pt x="0" y="0"/>
                      </a:moveTo>
                      <a:cubicBezTo>
                        <a:pt x="6385" y="45942"/>
                        <a:pt x="42724" y="81929"/>
                        <a:pt x="88726" y="87864"/>
                      </a:cubicBezTo>
                      <a:cubicBezTo>
                        <a:pt x="134728" y="93800"/>
                        <a:pt x="179013" y="68216"/>
                        <a:pt x="196850" y="25400"/>
                      </a:cubicBezTo>
                      <a:moveTo>
                        <a:pt x="203200" y="76200"/>
                      </a:moveTo>
                      <a:lnTo>
                        <a:pt x="203200" y="25400"/>
                      </a:lnTo>
                      <a:lnTo>
                        <a:pt x="152400" y="25400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7906702" y="2017871"/>
                <a:ext cx="143287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五阶段闭环驱动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910512" y="2374106"/>
                <a:ext cx="27589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诊断→溯源→规划→教学→评估，评估不达标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910512" y="2602706"/>
                <a:ext cx="27289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自动回到诊断重新校准，直至真正掌握。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7239000" y="3086100"/>
              <a:ext cx="4343400" cy="1123950"/>
              <a:chOff x="7239000" y="3086100"/>
              <a:chExt cx="4343400" cy="112395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7239000" y="3086100"/>
                <a:ext cx="4343400" cy="1123950"/>
              </a:xfrm>
              <a:prstGeom prst="roundRect">
                <a:avLst>
                  <a:gd name="adj" fmla="val 11864"/>
                </a:avLst>
              </a:prstGeom>
              <a:solidFill>
                <a:srgbClr val="F4F7FB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71" name="Rectangle 71"/>
              <p:cNvSpPr/>
              <p:nvPr/>
            </p:nvSpPr>
            <p:spPr>
              <a:xfrm>
                <a:off x="7239000" y="3086100"/>
                <a:ext cx="47625" cy="112395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grpSp>
            <p:nvGrpSpPr>
              <p:cNvPr id="78" name="Group 78"/>
              <p:cNvGrpSpPr/>
              <p:nvPr/>
            </p:nvGrpSpPr>
            <p:grpSpPr>
              <a:xfrm>
                <a:off x="7537450" y="3384550"/>
                <a:ext cx="203200" cy="203200"/>
                <a:chOff x="7537450" y="3384550"/>
                <a:chExt cx="203200" cy="203200"/>
              </a:xfrm>
            </p:grpSpPr>
            <p:sp>
              <p:nvSpPr>
                <p:cNvPr id="72" name="Freeform 72"/>
                <p:cNvSpPr/>
                <p:nvPr/>
              </p:nvSpPr>
              <p:spPr>
                <a:xfrm>
                  <a:off x="7561974" y="3421837"/>
                  <a:ext cx="141389" cy="141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389" h="141389">
                      <a:moveTo>
                        <a:pt x="0" y="0"/>
                      </a:moveTo>
                      <a:lnTo>
                        <a:pt x="16192" y="53962"/>
                      </a:lnTo>
                      <a:moveTo>
                        <a:pt x="87401" y="125197"/>
                      </a:moveTo>
                      <a:lnTo>
                        <a:pt x="141389" y="141389"/>
                      </a:ln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7635024" y="3417037"/>
                  <a:ext cx="73139" cy="73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39" h="73139">
                      <a:moveTo>
                        <a:pt x="0" y="73139"/>
                      </a:moveTo>
                      <a:lnTo>
                        <a:pt x="73139" y="0"/>
                      </a:ln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7537450" y="33845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7702550" y="33845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7702550" y="35496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7537450" y="347345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</p:grpSp>
          <p:sp>
            <p:nvSpPr>
              <p:cNvPr id="79" name="TextBox 79"/>
              <p:cNvSpPr txBox="1"/>
              <p:nvPr/>
            </p:nvSpPr>
            <p:spPr>
              <a:xfrm>
                <a:off x="7906702" y="3332321"/>
                <a:ext cx="2230969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事件驱动，非线性流水线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7910512" y="3688556"/>
                <a:ext cx="28864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任一环节产生新事件即可触发后续 Agent，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910512" y="3917156"/>
                <a:ext cx="21288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灵活响应学生的真实学习状态。</a:t>
                </a: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7239000" y="4400550"/>
              <a:ext cx="4343400" cy="1123950"/>
              <a:chOff x="7239000" y="4400550"/>
              <a:chExt cx="4343400" cy="1123950"/>
            </a:xfrm>
          </p:grpSpPr>
          <p:sp>
            <p:nvSpPr>
              <p:cNvPr id="83" name="Rectangle 83"/>
              <p:cNvSpPr/>
              <p:nvPr/>
            </p:nvSpPr>
            <p:spPr>
              <a:xfrm>
                <a:off x="7239000" y="4400550"/>
                <a:ext cx="4343400" cy="1123950"/>
              </a:xfrm>
              <a:prstGeom prst="roundRect">
                <a:avLst>
                  <a:gd name="adj" fmla="val 11864"/>
                </a:avLst>
              </a:prstGeom>
              <a:solidFill>
                <a:srgbClr val="F4F7FB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7239000" y="4400550"/>
                <a:ext cx="47625" cy="1123950"/>
              </a:xfrm>
              <a:prstGeom prst="roundRect">
                <a:avLst>
                  <a:gd name="adj" fmla="val 50000"/>
                </a:avLst>
              </a:prstGeom>
              <a:solidFill>
                <a:srgbClr val="16A34A"/>
              </a:solidFill>
              <a:ln>
                <a:noFill/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7519461" y="4686300"/>
                <a:ext cx="239178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39178" h="228600">
                    <a:moveTo>
                      <a:pt x="119589" y="0"/>
                    </a:moveTo>
                    <a:cubicBezTo>
                      <a:pt x="149254" y="26246"/>
                      <a:pt x="187972" y="39911"/>
                      <a:pt x="227539" y="38100"/>
                    </a:cubicBezTo>
                    <a:cubicBezTo>
                      <a:pt x="239178" y="77693"/>
                      <a:pt x="234262" y="120313"/>
                      <a:pt x="213917" y="156217"/>
                    </a:cubicBezTo>
                    <a:cubicBezTo>
                      <a:pt x="193571" y="192121"/>
                      <a:pt x="159535" y="218239"/>
                      <a:pt x="119589" y="228600"/>
                    </a:cubicBezTo>
                    <a:cubicBezTo>
                      <a:pt x="79643" y="218239"/>
                      <a:pt x="45606" y="192121"/>
                      <a:pt x="25261" y="156217"/>
                    </a:cubicBezTo>
                    <a:cubicBezTo>
                      <a:pt x="4915" y="120313"/>
                      <a:pt x="0" y="77693"/>
                      <a:pt x="11639" y="38100"/>
                    </a:cubicBezTo>
                    <a:cubicBezTo>
                      <a:pt x="51206" y="39911"/>
                      <a:pt x="89924" y="26246"/>
                      <a:pt x="119589" y="0"/>
                    </a:cubicBezTo>
                  </a:path>
                </a:pathLst>
              </a:custGeom>
              <a:noFill/>
              <a:ln w="19050">
                <a:solidFill>
                  <a:srgbClr val="16A34A"/>
                </a:solidFill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7906702" y="4646771"/>
                <a:ext cx="2230969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最大轮次上限，防死循环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7910512" y="5003006"/>
                <a:ext cx="27289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设置协作轮次上限，避免反复回流空转，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7910512" y="52316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保证系统稳定收敛与响应可预期。</a:t>
                </a:r>
              </a:p>
            </p:txBody>
          </p:sp>
        </p:grpSp>
      </p:grpSp>
      <p:grpSp>
        <p:nvGrpSpPr>
          <p:cNvPr id="93" name="Group 93"/>
          <p:cNvGrpSpPr/>
          <p:nvPr/>
        </p:nvGrpSpPr>
        <p:grpSpPr>
          <a:xfrm>
            <a:off x="598170" y="6475095"/>
            <a:ext cx="10995661" cy="182880"/>
            <a:chOff x="598170" y="6475095"/>
            <a:chExt cx="10995661" cy="182880"/>
          </a:xfrm>
        </p:grpSpPr>
        <p:sp>
          <p:nvSpPr>
            <p:cNvPr id="91" name="TextBox 91"/>
            <p:cNvSpPr txBox="1"/>
            <p:nvPr/>
          </p:nvSpPr>
          <p:spPr>
            <a:xfrm>
              <a:off x="598170" y="64750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438954" y="64750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60" grpId="0"/>
      <p:bldP spid="9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320754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五个独立决策推理节点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42341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每个智能体都是可独立决策与推理的 Agent，分工协作完成学习闭环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02 应用价值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609600" y="1428750"/>
            <a:ext cx="3429000" cy="2362200"/>
            <a:chOff x="609600" y="1428750"/>
            <a:chExt cx="3429000" cy="236220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3429000" cy="23622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3297726" y="1573530"/>
              <a:ext cx="51989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0E2E5C">
                      <a:alphaMod val="8000"/>
                    </a:srgbClr>
                  </a:solidFill>
                  <a:latin typeface="Arial Black"/>
                  <a:ea typeface="Microsoft YaHei"/>
                  <a:cs typeface="Arial Black"/>
                </a:rPr>
                <a:t>01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16954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0F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42988" y="1862138"/>
              <a:ext cx="211137" cy="200024"/>
              <a:chOff x="1042988" y="1862138"/>
              <a:chExt cx="211137" cy="20002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42988" y="1873250"/>
                <a:ext cx="12223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122238">
                    <a:moveTo>
                      <a:pt x="33338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61119"/>
                    </a:lnTo>
                    <a:cubicBezTo>
                      <a:pt x="0" y="94874"/>
                      <a:pt x="27364" y="122238"/>
                      <a:pt x="61119" y="122238"/>
                    </a:cubicBezTo>
                    <a:cubicBezTo>
                      <a:pt x="94874" y="122238"/>
                      <a:pt x="122238" y="94874"/>
                      <a:pt x="122238" y="61119"/>
                    </a:cubicBezTo>
                    <a:lnTo>
                      <a:pt x="122238" y="22225"/>
                    </a:lnTo>
                    <a:cubicBezTo>
                      <a:pt x="122238" y="9950"/>
                      <a:pt x="112287" y="0"/>
                      <a:pt x="100012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98550" y="1962150"/>
                <a:ext cx="1333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00012">
                    <a:moveTo>
                      <a:pt x="0" y="33338"/>
                    </a:moveTo>
                    <a:cubicBezTo>
                      <a:pt x="0" y="70161"/>
                      <a:pt x="29851" y="100012"/>
                      <a:pt x="66675" y="100012"/>
                    </a:cubicBezTo>
                    <a:cubicBezTo>
                      <a:pt x="103499" y="100012"/>
                      <a:pt x="133350" y="70161"/>
                      <a:pt x="133350" y="33338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31888" y="18621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76325" y="18621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209675" y="19177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56298" y="2458879"/>
              <a:ext cx="115366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诊断 Agent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4870" y="2760345"/>
              <a:ext cx="11696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ADAPTIVE DIAGNOSIS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2012" y="30789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自适应出题，按作答用 IRT 实时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2012" y="3307556"/>
              <a:ext cx="21213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调整难度，5-8 题即可定位一个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2012" y="35361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模块的薄弱知识点。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81500" y="1428750"/>
            <a:ext cx="3429000" cy="2412206"/>
            <a:chOff x="4381500" y="1428750"/>
            <a:chExt cx="3429000" cy="2412206"/>
          </a:xfrm>
        </p:grpSpPr>
        <p:sp>
          <p:nvSpPr>
            <p:cNvPr id="24" name="Rectangle 24"/>
            <p:cNvSpPr/>
            <p:nvPr/>
          </p:nvSpPr>
          <p:spPr>
            <a:xfrm>
              <a:off x="4381500" y="1428750"/>
              <a:ext cx="3429000" cy="2362200"/>
            </a:xfrm>
            <a:prstGeom prst="roundRect">
              <a:avLst>
                <a:gd name="adj" fmla="val 6452"/>
              </a:avLst>
            </a:prstGeom>
            <a:solidFill>
              <a:srgbClr val="FFFCF5"/>
            </a:solidFill>
            <a:ln w="19050">
              <a:solidFill>
                <a:srgbClr val="F5A623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4381500" y="142875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553200" y="1581150"/>
              <a:ext cx="1028700" cy="247650"/>
            </a:xfrm>
            <a:prstGeom prst="roundRect">
              <a:avLst>
                <a:gd name="adj" fmla="val 50000"/>
              </a:avLst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04088" y="1655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创新核心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48200" y="1771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FDF1DC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814888" y="1938338"/>
              <a:ext cx="200024" cy="200024"/>
              <a:chOff x="4814888" y="1938338"/>
              <a:chExt cx="200024" cy="20002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814888" y="20939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970462" y="19383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837112" y="1960562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4" y="155575"/>
                      <a:pt x="166688" y="138162"/>
                      <a:pt x="166688" y="116681"/>
                    </a:cubicBezTo>
                    <a:cubicBezTo>
                      <a:pt x="166688" y="95201"/>
                      <a:pt x="149274" y="77787"/>
                      <a:pt x="127794" y="77787"/>
                    </a:cubicBezTo>
                    <a:lnTo>
                      <a:pt x="38894" y="77787"/>
                    </a:lnTo>
                    <a:cubicBezTo>
                      <a:pt x="17413" y="77787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4628198" y="2535079"/>
              <a:ext cx="115366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溯源 Agent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36770" y="2836545"/>
              <a:ext cx="12578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ROOT-CAUSE TRACING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33912" y="31551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沿知识图谱前置依赖递归回溯，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33912" y="33837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从表面错误找到真正卡住学生的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33912" y="361235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深层根因，支持跨模块溯源。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153400" y="1428750"/>
            <a:ext cx="3429000" cy="2362200"/>
            <a:chOff x="8153400" y="1428750"/>
            <a:chExt cx="3429000" cy="2362200"/>
          </a:xfrm>
        </p:grpSpPr>
        <p:sp>
          <p:nvSpPr>
            <p:cNvPr id="39" name="Rectangle 39"/>
            <p:cNvSpPr/>
            <p:nvPr/>
          </p:nvSpPr>
          <p:spPr>
            <a:xfrm>
              <a:off x="8153400" y="1428750"/>
              <a:ext cx="3429000" cy="236220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10715511" y="15735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1B4B8A">
                      <a:alphaMod val="8000"/>
                    </a:srgbClr>
                  </a:solidFill>
                  <a:latin typeface="Arial Black"/>
                  <a:ea typeface="Microsoft YaHei"/>
                  <a:cs typeface="Arial Black"/>
                </a:rPr>
                <a:t>03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420100" y="16954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8EEF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586788" y="1873250"/>
              <a:ext cx="200025" cy="177801"/>
              <a:chOff x="8586788" y="1873250"/>
              <a:chExt cx="200025" cy="17780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586788" y="1873250"/>
                <a:ext cx="20002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77800">
                    <a:moveTo>
                      <a:pt x="0" y="33338"/>
                    </a:moveTo>
                    <a:lnTo>
                      <a:pt x="66675" y="0"/>
                    </a:lnTo>
                    <a:lnTo>
                      <a:pt x="133350" y="33338"/>
                    </a:lnTo>
                    <a:lnTo>
                      <a:pt x="200025" y="0"/>
                    </a:lnTo>
                    <a:lnTo>
                      <a:pt x="200025" y="144463"/>
                    </a:lnTo>
                    <a:lnTo>
                      <a:pt x="133350" y="177800"/>
                    </a:lnTo>
                    <a:lnTo>
                      <a:pt x="66675" y="144463"/>
                    </a:lnTo>
                    <a:lnTo>
                      <a:pt x="0" y="177800"/>
                    </a:ln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653462" y="1873250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20138" y="1906588"/>
                <a:ext cx="95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4463">
                    <a:moveTo>
                      <a:pt x="0" y="0"/>
                    </a:moveTo>
                    <a:lnTo>
                      <a:pt x="0" y="144463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8400098" y="2458879"/>
              <a:ext cx="115366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规划 Agent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08670" y="2760345"/>
              <a:ext cx="860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B4B8A"/>
                  </a:solidFill>
                  <a:latin typeface="Arial"/>
                  <a:ea typeface="Microsoft YaHei"/>
                  <a:cs typeface="Arial"/>
                </a:rPr>
                <a:t>PATH PLANNING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05812" y="307895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对薄弱点及其前置依赖做拓扑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05812" y="330755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排序，生成先补根因、再攻难点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05812" y="35361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的科学学习路径。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495550" y="4038600"/>
            <a:ext cx="3429000" cy="2107406"/>
            <a:chOff x="2495550" y="4038600"/>
            <a:chExt cx="3429000" cy="2107406"/>
          </a:xfrm>
        </p:grpSpPr>
        <p:sp>
          <p:nvSpPr>
            <p:cNvPr id="52" name="Rectangle 52"/>
            <p:cNvSpPr/>
            <p:nvPr/>
          </p:nvSpPr>
          <p:spPr>
            <a:xfrm>
              <a:off x="2495550" y="4038600"/>
              <a:ext cx="34290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3" name="TextBox 53"/>
            <p:cNvSpPr txBox="1"/>
            <p:nvPr/>
          </p:nvSpPr>
          <p:spPr>
            <a:xfrm>
              <a:off x="5057661" y="418338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00A6D6">
                      <a:alphaMod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04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762250" y="43053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2F4F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2917825" y="4494212"/>
              <a:ext cx="222250" cy="155575"/>
              <a:chOff x="2917825" y="4494212"/>
              <a:chExt cx="222250" cy="15557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2917825" y="4494212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>
                    <a:moveTo>
                      <a:pt x="222250" y="44450"/>
                    </a:moveTo>
                    <a:lnTo>
                      <a:pt x="111125" y="0"/>
                    </a:lnTo>
                    <a:lnTo>
                      <a:pt x="0" y="44450"/>
                    </a:lnTo>
                    <a:lnTo>
                      <a:pt x="111125" y="88900"/>
                    </a:lnTo>
                    <a:lnTo>
                      <a:pt x="222250" y="44450"/>
                    </a:lnTo>
                    <a:lnTo>
                      <a:pt x="222250" y="111125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2962275" y="4556442"/>
                <a:ext cx="133350" cy="9334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3345">
                    <a:moveTo>
                      <a:pt x="0" y="0"/>
                    </a:moveTo>
                    <a:lnTo>
                      <a:pt x="0" y="60008"/>
                    </a:lnTo>
                    <a:cubicBezTo>
                      <a:pt x="0" y="78419"/>
                      <a:pt x="29851" y="93345"/>
                      <a:pt x="66675" y="93345"/>
                    </a:cubicBezTo>
                    <a:cubicBezTo>
                      <a:pt x="103499" y="93345"/>
                      <a:pt x="133350" y="78419"/>
                      <a:pt x="133350" y="60008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2742248" y="5068729"/>
              <a:ext cx="115366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教学 Agent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750820" y="5370195"/>
              <a:ext cx="11065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A6D6"/>
                  </a:solidFill>
                  <a:latin typeface="Arial"/>
                  <a:ea typeface="Microsoft YaHei"/>
                  <a:cs typeface="Arial"/>
                </a:rPr>
                <a:t>ADAPTIVE TEACHING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747962" y="568880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按掌握度分层讲解，并按学生认知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747962" y="591740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风格适配讲解方式与例题难度。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267450" y="4038600"/>
            <a:ext cx="3429000" cy="2107406"/>
            <a:chOff x="6267450" y="4038600"/>
            <a:chExt cx="3429000" cy="2107406"/>
          </a:xfrm>
        </p:grpSpPr>
        <p:sp>
          <p:nvSpPr>
            <p:cNvPr id="63" name="Rectangle 63"/>
            <p:cNvSpPr/>
            <p:nvPr/>
          </p:nvSpPr>
          <p:spPr>
            <a:xfrm>
              <a:off x="6267450" y="4038600"/>
              <a:ext cx="34290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4" name="TextBox 64"/>
            <p:cNvSpPr txBox="1"/>
            <p:nvPr/>
          </p:nvSpPr>
          <p:spPr>
            <a:xfrm>
              <a:off x="8829561" y="418338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0E2E5C">
                      <a:alphaMod val="8000"/>
                    </a:srgbClr>
                  </a:solidFill>
                  <a:latin typeface="Arial Black"/>
                  <a:ea typeface="Microsoft YaHei"/>
                  <a:cs typeface="Arial Black"/>
                </a:rPr>
                <a:t>05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534150" y="43053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0F8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723062" y="4483100"/>
              <a:ext cx="166688" cy="188912"/>
              <a:chOff x="6723062" y="4483100"/>
              <a:chExt cx="166688" cy="188912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723062" y="4483100"/>
                <a:ext cx="13335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7800">
                    <a:moveTo>
                      <a:pt x="51284" y="177800"/>
                    </a:moveTo>
                    <a:lnTo>
                      <a:pt x="22225" y="177800"/>
                    </a:lnTo>
                    <a:cubicBezTo>
                      <a:pt x="9950" y="177800"/>
                      <a:pt x="0" y="167850"/>
                      <a:pt x="0" y="155575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823075" y="4627562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767512" y="4527550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767512" y="457200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514148" y="5068729"/>
              <a:ext cx="1153669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评估 Agent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22720" y="5370195"/>
              <a:ext cx="14342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CHECKPOINT EVALUATION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19862" y="568880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在检查点评估掌握情况，未达标即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19862" y="5917406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触发反馈循环，回流重新诊断规划。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98170" y="6475095"/>
            <a:ext cx="10995661" cy="182880"/>
            <a:chOff x="598170" y="6475095"/>
            <a:chExt cx="10995661" cy="182880"/>
          </a:xfrm>
        </p:grpSpPr>
        <p:sp>
          <p:nvSpPr>
            <p:cNvPr id="76" name="TextBox 76"/>
            <p:cNvSpPr txBox="1"/>
            <p:nvPr/>
          </p:nvSpPr>
          <p:spPr>
            <a:xfrm>
              <a:off x="598170" y="64750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438954" y="64750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8" grpId="0"/>
      <p:bldP spid="51" grpId="0"/>
      <p:bldP spid="62" grpId="0"/>
      <p:bldP spid="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3522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事件驱动的多智能体协作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43742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自研 AgentOrchestrator + 事件总线统一编排，Agent 间松耦合通信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02 应用价值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762000" y="857250"/>
            <a:ext cx="6096000" cy="6096000"/>
            <a:chOff x="762000" y="857250"/>
            <a:chExt cx="6096000" cy="6096000"/>
          </a:xfrm>
        </p:grpSpPr>
        <p:sp>
          <p:nvSpPr>
            <p:cNvPr id="9" name="Ellipse 9"/>
            <p:cNvSpPr/>
            <p:nvPr/>
          </p:nvSpPr>
          <p:spPr>
            <a:xfrm>
              <a:off x="762000" y="857250"/>
              <a:ext cx="6096000" cy="6096000"/>
            </a:xfrm>
            <a:prstGeom prst="ellipse">
              <a:avLst/>
            </a:prstGeom>
            <a:gradFill>
              <a:gsLst>
                <a:gs pos="0">
                  <a:srgbClr val="E2F4FA">
                    <a:alpha val="80000"/>
                  </a:srgbClr>
                </a:gs>
                <a:gs pos="100000">
                  <a:srgbClr val="F8FAFC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381250" y="2476500"/>
              <a:ext cx="2857500" cy="2857500"/>
            </a:xfrm>
            <a:prstGeom prst="ellipse">
              <a:avLst/>
            </a:prstGeom>
            <a:noFill/>
            <a:ln w="9525">
              <a:solidFill>
                <a:srgbClr val="E2E8F0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524000" y="161925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E2E8F0"/>
              </a:solidFill>
              <a:custDash>
                <a:ds d="400000" sp="400000"/>
              </a:custDash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809750" y="1905000"/>
              <a:ext cx="4000500" cy="3429000"/>
              <a:chOff x="1809750" y="1905000"/>
              <a:chExt cx="4000500" cy="3429000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3810000" y="1905000"/>
                <a:ext cx="9525" cy="2000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00250">
                    <a:moveTo>
                      <a:pt x="0" y="200025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00A6D6">
                    <a:alpha val="70000"/>
                  </a:srgbClr>
                </a:solidFill>
                <a:custDash>
                  <a:ds d="300000" sp="400000"/>
                </a:custDash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3810000" y="3143250"/>
                <a:ext cx="20002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762000">
                    <a:moveTo>
                      <a:pt x="0" y="762000"/>
                    </a:moveTo>
                    <a:lnTo>
                      <a:pt x="2000250" y="0"/>
                    </a:lnTo>
                  </a:path>
                </a:pathLst>
              </a:custGeom>
              <a:noFill/>
              <a:ln w="19050" cap="rnd">
                <a:solidFill>
                  <a:srgbClr val="00A6D6">
                    <a:alpha val="70000"/>
                  </a:srgbClr>
                </a:solidFill>
                <a:custDash>
                  <a:ds d="300000" sp="400000"/>
                </a:custDash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0000" y="3905250"/>
                <a:ext cx="161925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1428750">
                    <a:moveTo>
                      <a:pt x="0" y="0"/>
                    </a:moveTo>
                    <a:lnTo>
                      <a:pt x="1619250" y="1428750"/>
                    </a:lnTo>
                  </a:path>
                </a:pathLst>
              </a:custGeom>
              <a:noFill/>
              <a:ln w="19050" cap="rnd">
                <a:solidFill>
                  <a:srgbClr val="00A6D6">
                    <a:alpha val="70000"/>
                  </a:srgbClr>
                </a:solidFill>
                <a:custDash>
                  <a:ds d="300000" sp="400000"/>
                </a:custDash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2190750" y="3905250"/>
                <a:ext cx="161925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1428750">
                    <a:moveTo>
                      <a:pt x="1619250" y="0"/>
                    </a:moveTo>
                    <a:lnTo>
                      <a:pt x="0" y="1428750"/>
                    </a:lnTo>
                  </a:path>
                </a:pathLst>
              </a:custGeom>
              <a:noFill/>
              <a:ln w="19050" cap="rnd">
                <a:solidFill>
                  <a:srgbClr val="00A6D6">
                    <a:alpha val="70000"/>
                  </a:srgbClr>
                </a:solidFill>
                <a:custDash>
                  <a:ds d="300000" sp="400000"/>
                </a:custDash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809750" y="3143250"/>
                <a:ext cx="20002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762000">
                    <a:moveTo>
                      <a:pt x="2000250" y="76200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00A6D6">
                    <a:alpha val="70000"/>
                  </a:srgbClr>
                </a:solidFill>
                <a:custDash>
                  <a:ds d="300000" sp="400000"/>
                </a:custDash>
              </a:ln>
            </p:spPr>
          </p:sp>
        </p:grpSp>
        <p:sp>
          <p:nvSpPr>
            <p:cNvPr id="18" name="Ellipse 18"/>
            <p:cNvSpPr/>
            <p:nvPr/>
          </p:nvSpPr>
          <p:spPr>
            <a:xfrm>
              <a:off x="3086100" y="3181350"/>
              <a:ext cx="1447800" cy="1447800"/>
            </a:xfrm>
            <a:prstGeom prst="ellipse">
              <a:avLst/>
            </a:prstGeom>
            <a:gradFill>
              <a:gsLst>
                <a:gs pos="0">
                  <a:srgbClr val="0E2E5C">
                    <a:alpha val="85000"/>
                  </a:srgbClr>
                </a:gs>
                <a:gs pos="100000">
                  <a:srgbClr val="00A6D6">
                    <a:alpha val="85000"/>
                  </a:srgbClr>
                </a:gs>
              </a:gsLst>
              <a:lin ang="2700000" scaled="1"/>
            </a:gradFill>
            <a:ln>
              <a:noFill/>
            </a:ln>
            <a:effectLst>
              <a:glow rad="114300">
                <a:srgbClr val="00A6D6">
                  <a:alpha val="40000"/>
                </a:srgbClr>
              </a:glow>
            </a:effectLst>
          </p:spPr>
        </p:sp>
        <p:sp>
          <p:nvSpPr>
            <p:cNvPr id="19" name="Ellipse 19"/>
            <p:cNvSpPr/>
            <p:nvPr/>
          </p:nvSpPr>
          <p:spPr>
            <a:xfrm>
              <a:off x="3124200" y="3219450"/>
              <a:ext cx="1371600" cy="1371600"/>
            </a:xfrm>
            <a:prstGeom prst="ellipse">
              <a:avLst/>
            </a:prstGeom>
            <a:gradFill>
              <a:gsLst>
                <a:gs pos="0">
                  <a:srgbClr val="0E2E5C"/>
                </a:gs>
                <a:gs pos="100000">
                  <a:srgbClr val="00A6D6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606800" y="3606800"/>
              <a:ext cx="254000" cy="254000"/>
              <a:chOff x="3606800" y="3606800"/>
              <a:chExt cx="254000" cy="254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637455" y="3653409"/>
                <a:ext cx="176736" cy="176736"/>
              </a:xfrm>
              <a:custGeom>
                <a:avLst/>
                <a:gdLst/>
                <a:ahLst/>
                <a:cxnLst/>
                <a:rect l="l" t="t" r="r" b="b"/>
                <a:pathLst>
                  <a:path w="176736" h="176736">
                    <a:moveTo>
                      <a:pt x="0" y="0"/>
                    </a:moveTo>
                    <a:lnTo>
                      <a:pt x="20241" y="67453"/>
                    </a:lnTo>
                    <a:moveTo>
                      <a:pt x="109252" y="156496"/>
                    </a:moveTo>
                    <a:lnTo>
                      <a:pt x="176736" y="17673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728768" y="3647408"/>
                <a:ext cx="91424" cy="91424"/>
              </a:xfrm>
              <a:custGeom>
                <a:avLst/>
                <a:gdLst/>
                <a:ahLst/>
                <a:cxnLst/>
                <a:rect l="l" t="t" r="r" b="b"/>
                <a:pathLst>
                  <a:path w="91424" h="91424">
                    <a:moveTo>
                      <a:pt x="0" y="91424"/>
                    </a:moveTo>
                    <a:lnTo>
                      <a:pt x="91424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606800" y="36068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813175" y="36068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813175" y="38131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606800" y="37179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458718" y="40233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事件总线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28064" y="4254341"/>
              <a:ext cx="5638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BFE6F4"/>
                  </a:solidFill>
                  <a:latin typeface="Arial"/>
                  <a:ea typeface="Microsoft YaHei"/>
                  <a:cs typeface="Arial"/>
                </a:rPr>
                <a:t>EVENT BUS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371600" y="1466850"/>
            <a:ext cx="4876800" cy="4305300"/>
            <a:chOff x="1371600" y="1466850"/>
            <a:chExt cx="4876800" cy="4305300"/>
          </a:xfrm>
        </p:grpSpPr>
        <p:grpSp>
          <p:nvGrpSpPr>
            <p:cNvPr id="38" name="Group 38"/>
            <p:cNvGrpSpPr/>
            <p:nvPr/>
          </p:nvGrpSpPr>
          <p:grpSpPr>
            <a:xfrm>
              <a:off x="3371850" y="1466850"/>
              <a:ext cx="876300" cy="876300"/>
              <a:chOff x="3371850" y="1466850"/>
              <a:chExt cx="876300" cy="87630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3371850" y="1466850"/>
                <a:ext cx="876300" cy="8763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E2E5C"/>
                </a:solidFill>
              </a:ln>
              <a:effectLst>
                <a:outerShdw blurRad="9525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3650456" y="1707356"/>
                <a:ext cx="196057" cy="185738"/>
                <a:chOff x="3650456" y="1707356"/>
                <a:chExt cx="196057" cy="185738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3650456" y="1717675"/>
                  <a:ext cx="113506" cy="11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506" h="113506">
                      <a:moveTo>
                        <a:pt x="30956" y="0"/>
                      </a:moveTo>
                      <a:lnTo>
                        <a:pt x="20638" y="0"/>
                      </a:lnTo>
                      <a:cubicBezTo>
                        <a:pt x="9240" y="0"/>
                        <a:pt x="0" y="9240"/>
                        <a:pt x="0" y="20637"/>
                      </a:cubicBezTo>
                      <a:lnTo>
                        <a:pt x="0" y="56753"/>
                      </a:lnTo>
                      <a:cubicBezTo>
                        <a:pt x="0" y="88097"/>
                        <a:pt x="25409" y="113506"/>
                        <a:pt x="56753" y="113506"/>
                      </a:cubicBezTo>
                      <a:cubicBezTo>
                        <a:pt x="88097" y="113506"/>
                        <a:pt x="113506" y="88097"/>
                        <a:pt x="113506" y="56753"/>
                      </a:cubicBezTo>
                      <a:lnTo>
                        <a:pt x="113506" y="20637"/>
                      </a:lnTo>
                      <a:cubicBezTo>
                        <a:pt x="113506" y="9240"/>
                        <a:pt x="104267" y="0"/>
                        <a:pt x="92869" y="0"/>
                      </a:cubicBezTo>
                      <a:lnTo>
                        <a:pt x="82550" y="0"/>
                      </a:lnTo>
                    </a:path>
                  </a:pathLst>
                </a:custGeom>
                <a:noFill/>
                <a:ln w="19050">
                  <a:solidFill>
                    <a:srgbClr val="0E2E5C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702050" y="1800225"/>
                  <a:ext cx="123825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92869">
                      <a:moveTo>
                        <a:pt x="0" y="30956"/>
                      </a:moveTo>
                      <a:cubicBezTo>
                        <a:pt x="0" y="65150"/>
                        <a:pt x="27719" y="92869"/>
                        <a:pt x="61912" y="92869"/>
                      </a:cubicBezTo>
                      <a:cubicBezTo>
                        <a:pt x="96106" y="92869"/>
                        <a:pt x="123825" y="65150"/>
                        <a:pt x="123825" y="30956"/>
                      </a:cubicBezTo>
                      <a:lnTo>
                        <a:pt x="123825" y="0"/>
                      </a:lnTo>
                    </a:path>
                  </a:pathLst>
                </a:custGeom>
                <a:noFill/>
                <a:ln w="19050">
                  <a:solidFill>
                    <a:srgbClr val="0E2E5C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3733006" y="1707356"/>
                  <a:ext cx="9525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">
                      <a:moveTo>
                        <a:pt x="0" y="0"/>
                      </a:moveTo>
                      <a:lnTo>
                        <a:pt x="0" y="20637"/>
                      </a:lnTo>
                    </a:path>
                  </a:pathLst>
                </a:custGeom>
                <a:noFill/>
                <a:ln w="19050">
                  <a:solidFill>
                    <a:srgbClr val="0E2E5C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3681412" y="1707356"/>
                  <a:ext cx="9525" cy="20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">
                      <a:moveTo>
                        <a:pt x="0" y="0"/>
                      </a:moveTo>
                      <a:lnTo>
                        <a:pt x="0" y="20637"/>
                      </a:lnTo>
                    </a:path>
                  </a:pathLst>
                </a:custGeom>
                <a:noFill/>
                <a:ln w="19050">
                  <a:solidFill>
                    <a:srgbClr val="0E2E5C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805238" y="1758950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0E2E5C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3649647" y="20012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诊断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372100" y="2705100"/>
              <a:ext cx="876300" cy="876300"/>
              <a:chOff x="5372100" y="2705100"/>
              <a:chExt cx="876300" cy="87630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5372100" y="2705100"/>
                <a:ext cx="876300" cy="8763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F5A623"/>
                </a:solidFill>
              </a:ln>
              <a:effectLst>
                <a:outerShdw blurRad="9525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5650706" y="2945606"/>
                <a:ext cx="185738" cy="185738"/>
                <a:chOff x="5650706" y="2945606"/>
                <a:chExt cx="185738" cy="185738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5650706" y="3090069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5795169" y="2945606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20638" y="41275"/>
                      </a:move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  <a:cubicBezTo>
                        <a:pt x="0" y="32035"/>
                        <a:pt x="9240" y="41275"/>
                        <a:pt x="20638" y="41275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5671344" y="2966244"/>
                  <a:ext cx="154781" cy="144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44462">
                      <a:moveTo>
                        <a:pt x="61912" y="144462"/>
                      </a:moveTo>
                      <a:lnTo>
                        <a:pt x="118666" y="144462"/>
                      </a:lnTo>
                      <a:cubicBezTo>
                        <a:pt x="138612" y="144462"/>
                        <a:pt x="154781" y="128293"/>
                        <a:pt x="154781" y="108347"/>
                      </a:cubicBezTo>
                      <a:cubicBezTo>
                        <a:pt x="154781" y="88401"/>
                        <a:pt x="138612" y="72231"/>
                        <a:pt x="118666" y="72231"/>
                      </a:cubicBezTo>
                      <a:lnTo>
                        <a:pt x="36116" y="72231"/>
                      </a:lnTo>
                      <a:cubicBezTo>
                        <a:pt x="16170" y="72231"/>
                        <a:pt x="0" y="56062"/>
                        <a:pt x="0" y="36116"/>
                      </a:cubicBezTo>
                      <a:cubicBezTo>
                        <a:pt x="0" y="16170"/>
                        <a:pt x="16170" y="0"/>
                        <a:pt x="36116" y="0"/>
                      </a:cubicBezTo>
                      <a:lnTo>
                        <a:pt x="82550" y="0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5649897" y="32394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溯源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4991100" y="4895850"/>
              <a:ext cx="876300" cy="876300"/>
              <a:chOff x="4991100" y="4895850"/>
              <a:chExt cx="876300" cy="8763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4991100" y="4895850"/>
                <a:ext cx="876300" cy="8763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B4B8A"/>
                </a:solidFill>
              </a:ln>
              <a:effectLst>
                <a:outerShdw blurRad="9525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5269706" y="5146675"/>
                <a:ext cx="185738" cy="165100"/>
                <a:chOff x="5269706" y="5146675"/>
                <a:chExt cx="185738" cy="165100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5269706" y="5146675"/>
                  <a:ext cx="185738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65100">
                      <a:moveTo>
                        <a:pt x="0" y="30956"/>
                      </a:moveTo>
                      <a:lnTo>
                        <a:pt x="61912" y="0"/>
                      </a:lnTo>
                      <a:lnTo>
                        <a:pt x="123825" y="30956"/>
                      </a:lnTo>
                      <a:lnTo>
                        <a:pt x="185738" y="0"/>
                      </a:lnTo>
                      <a:lnTo>
                        <a:pt x="185738" y="134144"/>
                      </a:lnTo>
                      <a:lnTo>
                        <a:pt x="123825" y="165100"/>
                      </a:lnTo>
                      <a:lnTo>
                        <a:pt x="61912" y="134144"/>
                      </a:lnTo>
                      <a:lnTo>
                        <a:pt x="0" y="165100"/>
                      </a:lnTo>
                      <a:lnTo>
                        <a:pt x="0" y="30956"/>
                      </a:lnTo>
                    </a:path>
                  </a:pathLst>
                </a:custGeom>
                <a:noFill/>
                <a:ln w="19050">
                  <a:solidFill>
                    <a:srgbClr val="1B4B8A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5331619" y="5146675"/>
                  <a:ext cx="9525" cy="1341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4144">
                      <a:moveTo>
                        <a:pt x="0" y="0"/>
                      </a:moveTo>
                      <a:lnTo>
                        <a:pt x="0" y="134144"/>
                      </a:lnTo>
                    </a:path>
                  </a:pathLst>
                </a:custGeom>
                <a:noFill/>
                <a:ln w="19050">
                  <a:solidFill>
                    <a:srgbClr val="1B4B8A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5393531" y="5177631"/>
                  <a:ext cx="9525" cy="1341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4144">
                      <a:moveTo>
                        <a:pt x="0" y="0"/>
                      </a:moveTo>
                      <a:lnTo>
                        <a:pt x="0" y="134144"/>
                      </a:lnTo>
                    </a:path>
                  </a:pathLst>
                </a:custGeom>
                <a:noFill/>
                <a:ln w="19050">
                  <a:solidFill>
                    <a:srgbClr val="1B4B8A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5268897" y="54302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规划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1752600" y="4895850"/>
              <a:ext cx="876300" cy="876300"/>
              <a:chOff x="1752600" y="4895850"/>
              <a:chExt cx="876300" cy="876300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1752600" y="4895850"/>
                <a:ext cx="876300" cy="8763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A6D6"/>
                </a:solidFill>
              </a:ln>
              <a:effectLst>
                <a:outerShdw blurRad="9525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2020888" y="5156994"/>
                <a:ext cx="206375" cy="144463"/>
                <a:chOff x="2020888" y="5156994"/>
                <a:chExt cx="206375" cy="144463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2020888" y="5156994"/>
                  <a:ext cx="206375" cy="103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5" h="103188">
                      <a:moveTo>
                        <a:pt x="206375" y="41275"/>
                      </a:moveTo>
                      <a:lnTo>
                        <a:pt x="103188" y="0"/>
                      </a:lnTo>
                      <a:lnTo>
                        <a:pt x="0" y="41275"/>
                      </a:lnTo>
                      <a:lnTo>
                        <a:pt x="103188" y="82550"/>
                      </a:lnTo>
                      <a:lnTo>
                        <a:pt x="206375" y="41275"/>
                      </a:lnTo>
                      <a:lnTo>
                        <a:pt x="206375" y="103188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2062162" y="5214779"/>
                  <a:ext cx="123825" cy="86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86678">
                      <a:moveTo>
                        <a:pt x="0" y="0"/>
                      </a:moveTo>
                      <a:lnTo>
                        <a:pt x="0" y="55721"/>
                      </a:lnTo>
                      <a:cubicBezTo>
                        <a:pt x="0" y="72818"/>
                        <a:pt x="27719" y="86678"/>
                        <a:pt x="61912" y="86678"/>
                      </a:cubicBezTo>
                      <a:cubicBezTo>
                        <a:pt x="96106" y="86678"/>
                        <a:pt x="123825" y="72818"/>
                        <a:pt x="123825" y="55721"/>
                      </a:cubicBezTo>
                      <a:lnTo>
                        <a:pt x="123825" y="0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2030397" y="54302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教学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1371600" y="2705100"/>
              <a:ext cx="876300" cy="876300"/>
              <a:chOff x="1371600" y="2705100"/>
              <a:chExt cx="876300" cy="876300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1371600" y="2705100"/>
                <a:ext cx="876300" cy="8763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E2E5C"/>
                </a:solidFill>
              </a:ln>
              <a:effectLst>
                <a:outerShdw blurRad="9525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grpSp>
            <p:nvGrpSpPr>
              <p:cNvPr id="64" name="Group 64"/>
              <p:cNvGrpSpPr/>
              <p:nvPr/>
            </p:nvGrpSpPr>
            <p:grpSpPr>
              <a:xfrm>
                <a:off x="1670844" y="2955925"/>
                <a:ext cx="154780" cy="175419"/>
                <a:chOff x="1670844" y="2955925"/>
                <a:chExt cx="154780" cy="175419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1670844" y="2955925"/>
                  <a:ext cx="123825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65100">
                      <a:moveTo>
                        <a:pt x="47621" y="165100"/>
                      </a:moveTo>
                      <a:lnTo>
                        <a:pt x="20638" y="165100"/>
                      </a:lnTo>
                      <a:cubicBezTo>
                        <a:pt x="9240" y="165100"/>
                        <a:pt x="0" y="155860"/>
                        <a:pt x="0" y="144463"/>
                      </a:cubicBezTo>
                      <a:lnTo>
                        <a:pt x="0" y="20638"/>
                      </a:lnTo>
                      <a:cubicBezTo>
                        <a:pt x="0" y="9240"/>
                        <a:pt x="9240" y="0"/>
                        <a:pt x="20638" y="0"/>
                      </a:cubicBezTo>
                      <a:lnTo>
                        <a:pt x="103188" y="0"/>
                      </a:lnTo>
                      <a:cubicBezTo>
                        <a:pt x="114585" y="0"/>
                        <a:pt x="123825" y="9240"/>
                        <a:pt x="123825" y="20638"/>
                      </a:cubicBezTo>
                      <a:lnTo>
                        <a:pt x="123825" y="103188"/>
                      </a:lnTo>
                    </a:path>
                  </a:pathLst>
                </a:custGeom>
                <a:noFill/>
                <a:ln w="19050">
                  <a:solidFill>
                    <a:srgbClr val="0E2E5C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1763712" y="3090069"/>
                  <a:ext cx="61912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41275">
                      <a:moveTo>
                        <a:pt x="0" y="20637"/>
                      </a:moveTo>
                      <a:lnTo>
                        <a:pt x="20638" y="41275"/>
                      </a:lnTo>
                      <a:lnTo>
                        <a:pt x="61912" y="0"/>
                      </a:lnTo>
                    </a:path>
                  </a:pathLst>
                </a:custGeom>
                <a:noFill/>
                <a:ln w="19050">
                  <a:solidFill>
                    <a:srgbClr val="0E2E5C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1712119" y="2997200"/>
                  <a:ext cx="412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9525">
                      <a:moveTo>
                        <a:pt x="0" y="0"/>
                      </a:moveTo>
                      <a:lnTo>
                        <a:pt x="41275" y="0"/>
                      </a:lnTo>
                    </a:path>
                  </a:pathLst>
                </a:custGeom>
                <a:noFill/>
                <a:ln w="19050">
                  <a:solidFill>
                    <a:srgbClr val="0E2E5C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1712119" y="3038475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19050">
                  <a:solidFill>
                    <a:srgbClr val="0E2E5C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1649397" y="32394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评估</a:t>
                </a:r>
              </a:p>
            </p:txBody>
          </p:sp>
        </p:grpSp>
      </p:grpSp>
      <p:grpSp>
        <p:nvGrpSpPr>
          <p:cNvPr id="87" name="Group 87"/>
          <p:cNvGrpSpPr/>
          <p:nvPr/>
        </p:nvGrpSpPr>
        <p:grpSpPr>
          <a:xfrm>
            <a:off x="7339012" y="1593056"/>
            <a:ext cx="4243388" cy="3931444"/>
            <a:chOff x="7339012" y="1593056"/>
            <a:chExt cx="4243388" cy="3931444"/>
          </a:xfrm>
        </p:grpSpPr>
        <p:sp>
          <p:nvSpPr>
            <p:cNvPr id="68" name="TextBox 68"/>
            <p:cNvSpPr txBox="1"/>
            <p:nvPr/>
          </p:nvSpPr>
          <p:spPr>
            <a:xfrm>
              <a:off x="7339012" y="15930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A6D6"/>
                  </a:solidFill>
                  <a:latin typeface="Arial"/>
                  <a:ea typeface="Microsoft YaHei"/>
                  <a:cs typeface="Arial"/>
                </a:rPr>
                <a:t>协作示例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7353300" y="1905000"/>
              <a:ext cx="4229100" cy="1104900"/>
              <a:chOff x="7353300" y="1905000"/>
              <a:chExt cx="4229100" cy="110490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7353300" y="1905000"/>
                <a:ext cx="4229100" cy="1104900"/>
              </a:xfrm>
              <a:prstGeom prst="roundRect">
                <a:avLst>
                  <a:gd name="adj" fmla="val 12069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9525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7353300" y="1905000"/>
                <a:ext cx="47625" cy="1104900"/>
              </a:xfrm>
              <a:prstGeom prst="roundRect">
                <a:avLst>
                  <a:gd name="adj" fmla="val 50000"/>
                </a:avLst>
              </a:prstGeom>
              <a:solidFill>
                <a:srgbClr val="0E2E5C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03808" y="2091214"/>
                <a:ext cx="184438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评估不达标 → 重新诊断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606665" y="2420302"/>
                <a:ext cx="25959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评估 Agent 发现掌握度未达标，发布事件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606665" y="2648902"/>
                <a:ext cx="23159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触发诊断 Agent 重新校准学习路径。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7353300" y="3162300"/>
              <a:ext cx="4229100" cy="1104900"/>
              <a:chOff x="7353300" y="3162300"/>
              <a:chExt cx="4229100" cy="1104900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7353300" y="3162300"/>
                <a:ext cx="4229100" cy="1104900"/>
              </a:xfrm>
              <a:prstGeom prst="roundRect">
                <a:avLst>
                  <a:gd name="adj" fmla="val 12069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9525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7353300" y="3162300"/>
                <a:ext cx="47625" cy="110490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7603808" y="3348514"/>
                <a:ext cx="202290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跨模块根因 → 补代数基础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7606665" y="3677602"/>
                <a:ext cx="24559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溯源 Agent 发现解析几何根因在代数，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7606665" y="3906202"/>
                <a:ext cx="24559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触发规划 Agent 补充前置代数知识点。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7353300" y="4419600"/>
              <a:ext cx="4229100" cy="1104900"/>
              <a:chOff x="7353300" y="4419600"/>
              <a:chExt cx="4229100" cy="11049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7353300" y="4419600"/>
                <a:ext cx="4229100" cy="1104900"/>
              </a:xfrm>
              <a:prstGeom prst="roundRect">
                <a:avLst>
                  <a:gd name="adj" fmla="val 12069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9525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7353300" y="4419600"/>
                <a:ext cx="47625" cy="1104900"/>
              </a:xfrm>
              <a:prstGeom prst="roundRect">
                <a:avLst>
                  <a:gd name="adj" fmla="val 50000"/>
                </a:avLst>
              </a:prstGeom>
              <a:solidFill>
                <a:srgbClr val="E04F4F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7603808" y="4605814"/>
                <a:ext cx="166586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失败处理 · 轮次上限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7606665" y="4934902"/>
                <a:ext cx="24909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单 Agent 失败即中断 Pipeline 并回退，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7606665" y="5163502"/>
                <a:ext cx="24069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设最大协作轮次上限，保证稳定收敛。</a:t>
                </a:r>
              </a:p>
            </p:txBody>
          </p:sp>
        </p:grpSp>
      </p:grpSp>
      <p:grpSp>
        <p:nvGrpSpPr>
          <p:cNvPr id="90" name="Group 90"/>
          <p:cNvGrpSpPr/>
          <p:nvPr/>
        </p:nvGrpSpPr>
        <p:grpSpPr>
          <a:xfrm>
            <a:off x="598170" y="6513195"/>
            <a:ext cx="10995661" cy="182880"/>
            <a:chOff x="598170" y="6513195"/>
            <a:chExt cx="10995661" cy="182880"/>
          </a:xfrm>
        </p:grpSpPr>
        <p:sp>
          <p:nvSpPr>
            <p:cNvPr id="88" name="TextBox 88"/>
            <p:cNvSpPr txBox="1"/>
            <p:nvPr/>
          </p:nvSpPr>
          <p:spPr>
            <a:xfrm>
              <a:off x="598170" y="65131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438954" y="65131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67" grpId="0"/>
      <p:bldP spid="8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516078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不止“哪里不会”，更要“为什么不会”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创新核心：基于知识图谱前置依赖的递归溯源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03 技术融合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53" name="Group 53"/>
          <p:cNvGrpSpPr/>
          <p:nvPr/>
        </p:nvGrpSpPr>
        <p:grpSpPr>
          <a:xfrm>
            <a:off x="685800" y="1410652"/>
            <a:ext cx="5695950" cy="4785360"/>
            <a:chOff x="685800" y="1410652"/>
            <a:chExt cx="5695950" cy="4785360"/>
          </a:xfrm>
        </p:grpSpPr>
        <p:sp>
          <p:nvSpPr>
            <p:cNvPr id="9" name="TextBox 9"/>
            <p:cNvSpPr txBox="1"/>
            <p:nvPr/>
          </p:nvSpPr>
          <p:spPr>
            <a:xfrm>
              <a:off x="939165" y="1410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表面错题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9165" y="5982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真正根因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42950" y="1666875"/>
              <a:ext cx="9525" cy="4238625"/>
            </a:xfrm>
            <a:custGeom>
              <a:avLst/>
              <a:gdLst/>
              <a:ahLst/>
              <a:cxnLst/>
              <a:rect l="l" t="t" r="r" b="b"/>
              <a:pathLst>
                <a:path w="9525" h="4238625">
                  <a:moveTo>
                    <a:pt x="0" y="0"/>
                  </a:moveTo>
                  <a:lnTo>
                    <a:pt x="0" y="4238625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E1"/>
              </a:solidFill>
              <a:prstDash val="dash"/>
            </a:ln>
          </p:spPr>
        </p:sp>
        <p:sp>
          <p:nvSpPr>
            <p:cNvPr id="12" name="Freeform 12"/>
            <p:cNvSpPr/>
            <p:nvPr/>
          </p:nvSpPr>
          <p:spPr>
            <a:xfrm>
              <a:off x="685800" y="58102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57150" y="114300"/>
                  </a:lnTo>
                  <a:lnTo>
                    <a:pt x="114300" y="0"/>
                  </a:lnTo>
                </a:path>
              </a:pathLst>
            </a:custGeom>
            <a:noFill/>
            <a:ln w="19050" cap="rnd">
              <a:solidFill>
                <a:srgbClr val="CBD5E1"/>
              </a:solidFill>
              <a:round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2190750" y="2209800"/>
              <a:ext cx="3248025" cy="2933700"/>
              <a:chOff x="2190750" y="2209800"/>
              <a:chExt cx="3248025" cy="2933700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3810000" y="220980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2190750" y="2495550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2190750" y="249555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5429250" y="249555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2190750" y="354330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5429250" y="354330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2190750" y="459105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2190750" y="4876800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810000" y="487680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5429250" y="4591050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3810000" y="4876800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16192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2857500" y="1619250"/>
              <a:ext cx="1905000" cy="590550"/>
              <a:chOff x="2857500" y="1619250"/>
              <a:chExt cx="1905000" cy="590550"/>
            </a:xfrm>
            <a:effectLst>
              <a:outerShdw blurRad="76200" dist="19050" dir="5400000" algn="ctr" rotWithShape="0">
                <a:srgbClr val="0F172A">
                  <a:alpha val="6000"/>
                </a:srgbClr>
              </a:outerShdw>
            </a:effectLst>
          </p:grpSpPr>
          <p:sp>
            <p:nvSpPr>
              <p:cNvPr id="25" name="Rectangle 25"/>
              <p:cNvSpPr/>
              <p:nvPr/>
            </p:nvSpPr>
            <p:spPr>
              <a:xfrm>
                <a:off x="2857500" y="1619250"/>
                <a:ext cx="1905000" cy="590550"/>
              </a:xfrm>
              <a:prstGeom prst="roundRect">
                <a:avLst>
                  <a:gd name="adj" fmla="val 16129"/>
                </a:avLst>
              </a:prstGeom>
              <a:solidFill>
                <a:srgbClr val="FDECEC"/>
              </a:solidFill>
              <a:ln w="14288">
                <a:solidFill>
                  <a:srgbClr val="E04F4F"/>
                </a:solidFill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206686" y="1756410"/>
                <a:ext cx="1206627" cy="2438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91C1C"/>
                    </a:solidFill>
                    <a:latin typeface="Arial"/>
                    <a:ea typeface="Microsoft YaHei"/>
                    <a:cs typeface="Arial"/>
                  </a:rPr>
                  <a:t>导数应用题失分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342561" y="19902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2785A"/>
                    </a:solidFill>
                    <a:latin typeface="Arial"/>
                    <a:ea typeface="Microsoft YaHei"/>
                    <a:cs typeface="Arial"/>
                  </a:rPr>
                  <a:t>观察到的薄弱点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238250" y="2781300"/>
              <a:ext cx="1905000" cy="762000"/>
              <a:chOff x="1238250" y="2781300"/>
              <a:chExt cx="1905000" cy="762000"/>
            </a:xfrm>
            <a:effectLst>
              <a:outerShdw blurRad="76200" dist="19050" dir="5400000" algn="ctr" rotWithShape="0">
                <a:srgbClr val="0F172A">
                  <a:alpha val="6000"/>
                </a:srgbClr>
              </a:outerShdw>
            </a:effectLst>
          </p:grpSpPr>
          <p:sp>
            <p:nvSpPr>
              <p:cNvPr id="29" name="Rectangle 29"/>
              <p:cNvSpPr/>
              <p:nvPr/>
            </p:nvSpPr>
            <p:spPr>
              <a:xfrm>
                <a:off x="1238250" y="2781300"/>
                <a:ext cx="1905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14288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625144" y="2964656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导数的几何意义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648551" y="3209449"/>
                <a:ext cx="1084397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前置依赖 · 未掌握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476750" y="2781300"/>
              <a:ext cx="1905000" cy="762000"/>
              <a:chOff x="4476750" y="2781300"/>
              <a:chExt cx="1905000" cy="762000"/>
            </a:xfrm>
            <a:effectLst>
              <a:outerShdw blurRad="76200" dist="19050" dir="5400000" algn="ctr" rotWithShape="0">
                <a:srgbClr val="0F172A">
                  <a:alpha val="6000"/>
                </a:srgbClr>
              </a:outerShdw>
            </a:effectLst>
          </p:grpSpPr>
          <p:sp>
            <p:nvSpPr>
              <p:cNvPr id="33" name="Rectangle 33"/>
              <p:cNvSpPr/>
              <p:nvPr/>
            </p:nvSpPr>
            <p:spPr>
              <a:xfrm>
                <a:off x="4476750" y="2781300"/>
                <a:ext cx="1905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14288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942403" y="29646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极限与变化率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952059" y="3209449"/>
                <a:ext cx="954381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前置依赖 · 模糊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238250" y="3829050"/>
              <a:ext cx="1905000" cy="762000"/>
              <a:chOff x="1238250" y="3829050"/>
              <a:chExt cx="1905000" cy="762000"/>
            </a:xfrm>
            <a:effectLst>
              <a:outerShdw blurRad="76200" dist="19050" dir="5400000" algn="ctr" rotWithShape="0">
                <a:srgbClr val="0F172A">
                  <a:alpha val="6000"/>
                </a:srgbClr>
              </a:outerShdw>
            </a:effectLst>
          </p:grpSpPr>
          <p:sp>
            <p:nvSpPr>
              <p:cNvPr id="37" name="Rectangle 37"/>
              <p:cNvSpPr/>
              <p:nvPr/>
            </p:nvSpPr>
            <p:spPr>
              <a:xfrm>
                <a:off x="1238250" y="3829050"/>
                <a:ext cx="1905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14288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782663" y="401240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函数单调性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778568" y="4257199"/>
                <a:ext cx="824365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跨模块 · 代数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4476750" y="3829050"/>
              <a:ext cx="1905000" cy="762000"/>
              <a:chOff x="4476750" y="3829050"/>
              <a:chExt cx="1905000" cy="762000"/>
            </a:xfrm>
            <a:effectLst>
              <a:outerShdw blurRad="76200" dist="19050" dir="5400000" algn="ctr" rotWithShape="0">
                <a:srgbClr val="0F172A">
                  <a:alpha val="6000"/>
                </a:srgbClr>
              </a:outerShdw>
            </a:effectLst>
          </p:grpSpPr>
          <p:sp>
            <p:nvSpPr>
              <p:cNvPr id="41" name="Rectangle 41"/>
              <p:cNvSpPr/>
              <p:nvPr/>
            </p:nvSpPr>
            <p:spPr>
              <a:xfrm>
                <a:off x="4476750" y="3829050"/>
                <a:ext cx="1905000" cy="7620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14288">
                <a:solidFill>
                  <a:srgbClr val="CBD5E1"/>
                </a:solidFill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21163" y="401240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不等式求解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017068" y="4257199"/>
                <a:ext cx="824365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跨模块 · 代数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2667000" y="5143500"/>
              <a:ext cx="2286000" cy="800100"/>
              <a:chOff x="2667000" y="5143500"/>
              <a:chExt cx="2286000" cy="800100"/>
            </a:xfrm>
            <a:effectLst>
              <a:outerShdw blurRad="76200" dist="19050" dir="5400000" algn="ctr" rotWithShape="0">
                <a:srgbClr val="0F172A">
                  <a:alpha val="6000"/>
                </a:srgbClr>
              </a:outerShdw>
            </a:effectLst>
          </p:grpSpPr>
          <p:sp>
            <p:nvSpPr>
              <p:cNvPr id="45" name="Rectangle 45"/>
              <p:cNvSpPr/>
              <p:nvPr/>
            </p:nvSpPr>
            <p:spPr>
              <a:xfrm>
                <a:off x="2667000" y="5143500"/>
                <a:ext cx="2286000" cy="800100"/>
              </a:xfrm>
              <a:prstGeom prst="roundRect">
                <a:avLst>
                  <a:gd name="adj" fmla="val 14286"/>
                </a:avLst>
              </a:prstGeom>
              <a:gradFill>
                <a:gsLst>
                  <a:gs pos="0">
                    <a:srgbClr val="F5A623"/>
                  </a:gs>
                  <a:gs pos="100000">
                    <a:srgbClr val="E0871A"/>
                  </a:gs>
                </a:gsLst>
                <a:lin ang="2700000" scaled="1"/>
              </a:gradFill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2893219" y="5388769"/>
                <a:ext cx="214312" cy="214312"/>
                <a:chOff x="2893219" y="5388769"/>
                <a:chExt cx="214312" cy="214312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2988469" y="548401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F172A">
                      <a:alpha val="6000"/>
                    </a:srgbClr>
                  </a:outerShdw>
                </a:effectLst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2940844" y="543639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0" y="59531"/>
                      </a:moveTo>
                      <a:cubicBezTo>
                        <a:pt x="0" y="92409"/>
                        <a:pt x="26653" y="119062"/>
                        <a:pt x="59531" y="119062"/>
                      </a:cubicBezTo>
                      <a:cubicBezTo>
                        <a:pt x="92409" y="119062"/>
                        <a:pt x="119062" y="92409"/>
                        <a:pt x="119062" y="59531"/>
                      </a:cubicBezTo>
                      <a:cubicBezTo>
                        <a:pt x="119062" y="26653"/>
                        <a:pt x="92409" y="0"/>
                        <a:pt x="59531" y="0"/>
                      </a:cubicBezTo>
                      <a:cubicBezTo>
                        <a:pt x="26653" y="0"/>
                        <a:pt x="0" y="26653"/>
                        <a:pt x="0" y="59531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F172A">
                      <a:alpha val="6000"/>
                    </a:srgbClr>
                  </a:outerShdw>
                </a:effectLst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2893219" y="538876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  <a:effectLst>
                  <a:outerShdw blurRad="76200" dist="19050" dir="5400000" algn="ctr" rotWithShape="0">
                    <a:srgbClr val="0F172A">
                      <a:alpha val="6000"/>
                    </a:srgbClr>
                  </a:outerShdw>
                </a:effectLst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3283279" y="536781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代数式恒等变形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187077" y="5628799"/>
                <a:ext cx="1474446" cy="1981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DF1DC"/>
                    </a:solidFill>
                    <a:latin typeface="Arial"/>
                    <a:ea typeface="Microsoft YaHei"/>
                    <a:cs typeface="Arial"/>
                  </a:rPr>
                  <a:t>根因知识点 · 从这里补起</a:t>
                </a:r>
              </a:p>
            </p:txBody>
          </p:sp>
        </p:grpSp>
      </p:grpSp>
      <p:grpSp>
        <p:nvGrpSpPr>
          <p:cNvPr id="92" name="Group 92"/>
          <p:cNvGrpSpPr/>
          <p:nvPr/>
        </p:nvGrpSpPr>
        <p:grpSpPr>
          <a:xfrm>
            <a:off x="7239000" y="1524000"/>
            <a:ext cx="4343400" cy="4298156"/>
            <a:chOff x="7239000" y="1524000"/>
            <a:chExt cx="4343400" cy="4298156"/>
          </a:xfrm>
        </p:grpSpPr>
        <p:grpSp>
          <p:nvGrpSpPr>
            <p:cNvPr id="65" name="Group 65"/>
            <p:cNvGrpSpPr/>
            <p:nvPr/>
          </p:nvGrpSpPr>
          <p:grpSpPr>
            <a:xfrm>
              <a:off x="7239000" y="1524000"/>
              <a:ext cx="4343400" cy="1364456"/>
              <a:chOff x="7239000" y="1524000"/>
              <a:chExt cx="4343400" cy="1364456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239000" y="1524000"/>
                <a:ext cx="4343400" cy="1314450"/>
              </a:xfrm>
              <a:prstGeom prst="roundRect">
                <a:avLst>
                  <a:gd name="adj" fmla="val 10145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7508081" y="1793081"/>
                <a:ext cx="242887" cy="242887"/>
                <a:chOff x="7508081" y="1793081"/>
                <a:chExt cx="242887" cy="242887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508081" y="1955006"/>
                  <a:ext cx="80962" cy="80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80962">
                      <a:moveTo>
                        <a:pt x="0" y="26988"/>
                      </a:moveTo>
                      <a:cubicBezTo>
                        <a:pt x="0" y="12083"/>
                        <a:pt x="12083" y="0"/>
                        <a:pt x="26988" y="0"/>
                      </a:cubicBezTo>
                      <a:lnTo>
                        <a:pt x="53975" y="0"/>
                      </a:lnTo>
                      <a:cubicBezTo>
                        <a:pt x="68880" y="0"/>
                        <a:pt x="80962" y="12083"/>
                        <a:pt x="80962" y="26988"/>
                      </a:cubicBezTo>
                      <a:lnTo>
                        <a:pt x="80962" y="53975"/>
                      </a:lnTo>
                      <a:cubicBezTo>
                        <a:pt x="80962" y="68880"/>
                        <a:pt x="68880" y="80962"/>
                        <a:pt x="53975" y="80962"/>
                      </a:cubicBezTo>
                      <a:lnTo>
                        <a:pt x="26988" y="80962"/>
                      </a:lnTo>
                      <a:cubicBezTo>
                        <a:pt x="12083" y="80962"/>
                        <a:pt x="0" y="68880"/>
                        <a:pt x="0" y="53975"/>
                      </a:cubicBezTo>
                      <a:lnTo>
                        <a:pt x="0" y="26988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670006" y="1955006"/>
                  <a:ext cx="80962" cy="80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80962">
                      <a:moveTo>
                        <a:pt x="0" y="26988"/>
                      </a:moveTo>
                      <a:cubicBezTo>
                        <a:pt x="0" y="12083"/>
                        <a:pt x="12083" y="0"/>
                        <a:pt x="26988" y="0"/>
                      </a:cubicBezTo>
                      <a:lnTo>
                        <a:pt x="53975" y="0"/>
                      </a:lnTo>
                      <a:cubicBezTo>
                        <a:pt x="68880" y="0"/>
                        <a:pt x="80962" y="12083"/>
                        <a:pt x="80962" y="26988"/>
                      </a:cubicBezTo>
                      <a:lnTo>
                        <a:pt x="80962" y="53975"/>
                      </a:lnTo>
                      <a:cubicBezTo>
                        <a:pt x="80962" y="68880"/>
                        <a:pt x="68880" y="80962"/>
                        <a:pt x="53975" y="80962"/>
                      </a:cubicBezTo>
                      <a:lnTo>
                        <a:pt x="26988" y="80962"/>
                      </a:lnTo>
                      <a:cubicBezTo>
                        <a:pt x="12083" y="80962"/>
                        <a:pt x="0" y="68880"/>
                        <a:pt x="0" y="53975"/>
                      </a:cubicBezTo>
                      <a:lnTo>
                        <a:pt x="0" y="26988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589044" y="1793081"/>
                  <a:ext cx="80962" cy="809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2" h="80962">
                      <a:moveTo>
                        <a:pt x="0" y="26988"/>
                      </a:moveTo>
                      <a:cubicBezTo>
                        <a:pt x="0" y="12083"/>
                        <a:pt x="12083" y="0"/>
                        <a:pt x="26988" y="0"/>
                      </a:cubicBezTo>
                      <a:lnTo>
                        <a:pt x="53975" y="0"/>
                      </a:lnTo>
                      <a:cubicBezTo>
                        <a:pt x="68880" y="0"/>
                        <a:pt x="80962" y="12083"/>
                        <a:pt x="80962" y="26988"/>
                      </a:cubicBezTo>
                      <a:lnTo>
                        <a:pt x="80962" y="53975"/>
                      </a:lnTo>
                      <a:cubicBezTo>
                        <a:pt x="80962" y="68880"/>
                        <a:pt x="68880" y="80962"/>
                        <a:pt x="53975" y="80962"/>
                      </a:cubicBezTo>
                      <a:lnTo>
                        <a:pt x="26988" y="80962"/>
                      </a:lnTo>
                      <a:cubicBezTo>
                        <a:pt x="12083" y="80962"/>
                        <a:pt x="0" y="68880"/>
                        <a:pt x="0" y="53975"/>
                      </a:cubicBezTo>
                      <a:lnTo>
                        <a:pt x="0" y="26988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548562" y="1914525"/>
                  <a:ext cx="161925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40481">
                      <a:moveTo>
                        <a:pt x="0" y="40481"/>
                      </a:moveTo>
                      <a:lnTo>
                        <a:pt x="0" y="26988"/>
                      </a:lnTo>
                      <a:cubicBezTo>
                        <a:pt x="0" y="12083"/>
                        <a:pt x="12083" y="0"/>
                        <a:pt x="26988" y="0"/>
                      </a:cubicBezTo>
                      <a:lnTo>
                        <a:pt x="134937" y="0"/>
                      </a:lnTo>
                      <a:cubicBezTo>
                        <a:pt x="149842" y="0"/>
                        <a:pt x="161925" y="12083"/>
                        <a:pt x="161925" y="26988"/>
                      </a:cubicBezTo>
                      <a:lnTo>
                        <a:pt x="161925" y="40481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629525" y="1874044"/>
                  <a:ext cx="9525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481">
                      <a:moveTo>
                        <a:pt x="0" y="0"/>
                      </a:moveTo>
                      <a:lnTo>
                        <a:pt x="0" y="40481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7906702" y="1770221"/>
                <a:ext cx="16323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知识点前置依赖图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453312" y="2202656"/>
                <a:ext cx="26088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高中数学 80-120 个知识点，以 JSON +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453312" y="2431256"/>
                <a:ext cx="27289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内存图建模前置依赖关系，构成可计算的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453312" y="26598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学科知识图谱。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7239000" y="2990850"/>
              <a:ext cx="4343400" cy="1364456"/>
              <a:chOff x="7239000" y="2990850"/>
              <a:chExt cx="4343400" cy="1364456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7239000" y="2990850"/>
                <a:ext cx="4343400" cy="1314450"/>
              </a:xfrm>
              <a:prstGeom prst="roundRect">
                <a:avLst>
                  <a:gd name="adj" fmla="val 10145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</p:sp>
          <p:grpSp>
            <p:nvGrpSpPr>
              <p:cNvPr id="70" name="Group 70"/>
              <p:cNvGrpSpPr/>
              <p:nvPr/>
            </p:nvGrpSpPr>
            <p:grpSpPr>
              <a:xfrm>
                <a:off x="7508081" y="3259931"/>
                <a:ext cx="242888" cy="242888"/>
                <a:chOff x="7508081" y="3259931"/>
                <a:chExt cx="242888" cy="242888"/>
              </a:xfrm>
            </p:grpSpPr>
            <p:sp>
              <p:nvSpPr>
                <p:cNvPr id="67" name="Freeform 67"/>
                <p:cNvSpPr/>
                <p:nvPr/>
              </p:nvSpPr>
              <p:spPr>
                <a:xfrm>
                  <a:off x="7508081" y="3448844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0" y="26988"/>
                      </a:move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7696994" y="3259931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26987" y="53975"/>
                      </a:moveTo>
                      <a:cubicBezTo>
                        <a:pt x="41892" y="53975"/>
                        <a:pt x="53975" y="41892"/>
                        <a:pt x="53975" y="26987"/>
                      </a:cubicBezTo>
                      <a:cubicBezTo>
                        <a:pt x="53975" y="12083"/>
                        <a:pt x="41892" y="0"/>
                        <a:pt x="26987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  <a:cubicBezTo>
                        <a:pt x="0" y="41892"/>
                        <a:pt x="12083" y="53975"/>
                        <a:pt x="26987" y="53975"/>
                      </a:cubicBez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7535069" y="3286919"/>
                  <a:ext cx="202406" cy="188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06" h="188913">
                      <a:moveTo>
                        <a:pt x="80962" y="188913"/>
                      </a:moveTo>
                      <a:lnTo>
                        <a:pt x="155178" y="188913"/>
                      </a:lnTo>
                      <a:cubicBezTo>
                        <a:pt x="181261" y="188913"/>
                        <a:pt x="202406" y="167768"/>
                        <a:pt x="202406" y="141684"/>
                      </a:cubicBezTo>
                      <a:cubicBezTo>
                        <a:pt x="202406" y="115601"/>
                        <a:pt x="181261" y="94456"/>
                        <a:pt x="155178" y="94456"/>
                      </a:cubicBezTo>
                      <a:lnTo>
                        <a:pt x="47228" y="94456"/>
                      </a:lnTo>
                      <a:cubicBezTo>
                        <a:pt x="21145" y="94456"/>
                        <a:pt x="0" y="73311"/>
                        <a:pt x="0" y="47228"/>
                      </a:cubicBezTo>
                      <a:cubicBezTo>
                        <a:pt x="0" y="21145"/>
                        <a:pt x="21145" y="0"/>
                        <a:pt x="47228" y="0"/>
                      </a:cubicBezTo>
                      <a:lnTo>
                        <a:pt x="107950" y="0"/>
                      </a:ln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7906702" y="3237071"/>
                <a:ext cx="2061373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递归回溯 · 跨模块溯源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453312" y="3669506"/>
                <a:ext cx="27964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沿依赖链 BFS/DFS 回溯，能跨越模块边界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453312" y="3898106"/>
                <a:ext cx="244387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——如解析几何的错题，根因可能落在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453312" y="41267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代数运算上。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7239000" y="4457700"/>
              <a:ext cx="4343400" cy="1364456"/>
              <a:chOff x="7239000" y="4457700"/>
              <a:chExt cx="4343400" cy="1364456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7239000" y="4457700"/>
                <a:ext cx="4343400" cy="1314450"/>
              </a:xfrm>
              <a:prstGeom prst="roundRect">
                <a:avLst>
                  <a:gd name="adj" fmla="val 10145"/>
                </a:avLst>
              </a:prstGeom>
              <a:solidFill>
                <a:srgbClr val="FFFCF5"/>
              </a:solidFill>
              <a:ln w="19050">
                <a:solidFill>
                  <a:srgbClr val="F5A623"/>
                </a:solidFill>
              </a:ln>
              <a:effectLst>
                <a:outerShdw blurRad="76200" dist="19050" dir="5400000" algn="ctr" rotWithShape="0">
                  <a:srgbClr val="0F172A">
                    <a:alpha val="6000"/>
                  </a:srgbClr>
                </a:outerShdw>
              </a:effectLst>
            </p:spPr>
          </p:sp>
          <p:grpSp>
            <p:nvGrpSpPr>
              <p:cNvPr id="86" name="Group 86"/>
              <p:cNvGrpSpPr/>
              <p:nvPr/>
            </p:nvGrpSpPr>
            <p:grpSpPr>
              <a:xfrm>
                <a:off x="7521575" y="4740275"/>
                <a:ext cx="215900" cy="215900"/>
                <a:chOff x="7521575" y="4740275"/>
                <a:chExt cx="215900" cy="215900"/>
              </a:xfrm>
            </p:grpSpPr>
            <p:sp>
              <p:nvSpPr>
                <p:cNvPr id="77" name="Freeform 77"/>
                <p:cNvSpPr/>
                <p:nvPr/>
              </p:nvSpPr>
              <p:spPr>
                <a:xfrm>
                  <a:off x="7521575" y="4902200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7683500" y="4740275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7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7521575" y="4740275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7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80" name="Freeform 80"/>
                <p:cNvSpPr/>
                <p:nvPr/>
              </p:nvSpPr>
              <p:spPr>
                <a:xfrm>
                  <a:off x="7683500" y="4902200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8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8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8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81" name="Freeform 81"/>
                <p:cNvSpPr/>
                <p:nvPr/>
              </p:nvSpPr>
              <p:spPr>
                <a:xfrm>
                  <a:off x="7602538" y="4821238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53975" y="26987"/>
                      </a:moveTo>
                      <a:cubicBezTo>
                        <a:pt x="53975" y="12083"/>
                        <a:pt x="41892" y="0"/>
                        <a:pt x="26988" y="0"/>
                      </a:cubicBezTo>
                      <a:cubicBezTo>
                        <a:pt x="12083" y="0"/>
                        <a:pt x="0" y="12083"/>
                        <a:pt x="0" y="26987"/>
                      </a:cubicBezTo>
                      <a:cubicBezTo>
                        <a:pt x="0" y="41892"/>
                        <a:pt x="12083" y="53975"/>
                        <a:pt x="26988" y="53975"/>
                      </a:cubicBezTo>
                      <a:cubicBezTo>
                        <a:pt x="41892" y="53975"/>
                        <a:pt x="53975" y="41892"/>
                        <a:pt x="53975" y="26987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7568803" y="4787503"/>
                  <a:ext cx="404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1" h="40481">
                      <a:moveTo>
                        <a:pt x="0" y="0"/>
                      </a:moveTo>
                      <a:lnTo>
                        <a:pt x="40481" y="40481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7568803" y="4868466"/>
                  <a:ext cx="404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1" h="40481">
                      <a:moveTo>
                        <a:pt x="0" y="40481"/>
                      </a:moveTo>
                      <a:lnTo>
                        <a:pt x="40481" y="0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7649766" y="4868466"/>
                  <a:ext cx="404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1" h="40481">
                      <a:moveTo>
                        <a:pt x="0" y="0"/>
                      </a:moveTo>
                      <a:lnTo>
                        <a:pt x="40481" y="40481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85" name="Freeform 85"/>
                <p:cNvSpPr/>
                <p:nvPr/>
              </p:nvSpPr>
              <p:spPr>
                <a:xfrm>
                  <a:off x="7649766" y="4787503"/>
                  <a:ext cx="404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1" h="40481">
                      <a:moveTo>
                        <a:pt x="40481" y="0"/>
                      </a:moveTo>
                      <a:lnTo>
                        <a:pt x="0" y="40481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</p:grpSp>
          <p:sp>
            <p:nvSpPr>
              <p:cNvPr id="87" name="TextBox 87"/>
              <p:cNvSpPr txBox="1"/>
              <p:nvPr/>
            </p:nvSpPr>
            <p:spPr>
              <a:xfrm>
                <a:off x="7906702" y="4703921"/>
                <a:ext cx="16323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每条边附依赖理由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7453312" y="5136356"/>
                <a:ext cx="27439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图谱每条依赖边都标注“为何需要前置”的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7453312" y="536495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理由，诊断结果可解释、可追溯，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7453312" y="55935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而非黑盒打分。</a:t>
                </a: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598170" y="6513195"/>
            <a:ext cx="10995661" cy="182880"/>
            <a:chOff x="598170" y="6513195"/>
            <a:chExt cx="10995661" cy="182880"/>
          </a:xfrm>
        </p:grpSpPr>
        <p:sp>
          <p:nvSpPr>
            <p:cNvPr id="93" name="TextBox 93"/>
            <p:cNvSpPr txBox="1"/>
            <p:nvPr/>
          </p:nvSpPr>
          <p:spPr>
            <a:xfrm>
              <a:off x="598170" y="65131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438954" y="651319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9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51765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大模型 × 知识图谱 × RAG 的工程融合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37301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将前沿 AI 能力工程化落地为稳定、可用、可解释的学习系统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03 技术融合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609600" y="1428750"/>
            <a:ext cx="10972800" cy="1428750"/>
            <a:chOff x="609600" y="1428750"/>
            <a:chExt cx="10972800" cy="14287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10972800" cy="1428750"/>
            </a:xfrm>
            <a:prstGeom prst="roundRect">
              <a:avLst>
                <a:gd name="adj" fmla="val 10667"/>
              </a:avLst>
            </a:prstGeom>
            <a:solidFill>
              <a:srgbClr val="0E2E5C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609600" y="1428750"/>
              <a:ext cx="10972800" cy="1428750"/>
            </a:xfrm>
            <a:prstGeom prst="roundRect">
              <a:avLst>
                <a:gd name="adj" fmla="val 10667"/>
              </a:avLst>
            </a:prstGeom>
            <a:solidFill>
              <a:srgbClr val="0E2E5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4287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4400" y="177165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104900" y="1962150"/>
              <a:ext cx="228600" cy="228600"/>
              <a:chOff x="1104900" y="1962150"/>
              <a:chExt cx="228600" cy="2286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219200" y="20891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30300" y="20891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282700" y="20383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219200" y="196215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04900" y="20383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130300" y="196215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731645" y="1726882"/>
              <a:ext cx="284891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大模型驱动 · 多模型高可用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38312" y="2088356"/>
              <a:ext cx="62318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FC4DF"/>
                  </a:solidFill>
                  <a:latin typeface="Arial"/>
                  <a:ea typeface="Microsoft YaHei"/>
                  <a:cs typeface="Arial"/>
                </a:rPr>
                <a:t>科大讯飞星火 v4 主用 + DeepSeek 备用回退；统一 LlmService 适配层屏蔽多模型协议差异，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38312" y="231695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FC4DF"/>
                  </a:solidFill>
                  <a:latin typeface="Arial"/>
                  <a:ea typeface="Microsoft YaHei"/>
                  <a:cs typeface="Arial"/>
                </a:rPr>
                <a:t>主模型异常时自动降级，保障生成服务高可用。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752600" y="2571750"/>
              <a:ext cx="1428750" cy="2095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105851" y="2626995"/>
              <a:ext cx="722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FD0EE"/>
                  </a:solidFill>
                  <a:latin typeface="Arial"/>
                  <a:ea typeface="Microsoft YaHei"/>
                  <a:cs typeface="Arial"/>
                </a:rPr>
                <a:t>星火 v4 · 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276600" y="2571750"/>
              <a:ext cx="1428750" cy="2095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66843" y="2626995"/>
              <a:ext cx="848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FD0EE"/>
                  </a:solidFill>
                  <a:latin typeface="Arial"/>
                  <a:ea typeface="Microsoft YaHei"/>
                  <a:cs typeface="Arial"/>
                </a:rPr>
                <a:t>DeepSeek · 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800600" y="2571750"/>
              <a:ext cx="1714500" cy="2095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047845" y="2626995"/>
              <a:ext cx="1220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FD0EE"/>
                  </a:solidFill>
                  <a:latin typeface="Arial"/>
                  <a:ea typeface="Microsoft YaHei"/>
                  <a:cs typeface="Arial"/>
                </a:rPr>
                <a:t>LlmService 统一适配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9600" y="3105150"/>
            <a:ext cx="2628900" cy="3028950"/>
            <a:chOff x="609600" y="3105150"/>
            <a:chExt cx="2628900" cy="3028950"/>
          </a:xfrm>
        </p:grpSpPr>
        <p:sp>
          <p:nvSpPr>
            <p:cNvPr id="30" name="Rectangle 30"/>
            <p:cNvSpPr/>
            <p:nvPr/>
          </p:nvSpPr>
          <p:spPr>
            <a:xfrm>
              <a:off x="609600" y="3105150"/>
              <a:ext cx="2628900" cy="3028950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876300" y="33909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2F4F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054100" y="3590925"/>
              <a:ext cx="188912" cy="166687"/>
              <a:chOff x="1054100" y="3590925"/>
              <a:chExt cx="188912" cy="16668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131888" y="36464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215231" y="3729831"/>
                <a:ext cx="27781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27781" h="27781">
                    <a:moveTo>
                      <a:pt x="0" y="0"/>
                    </a:moveTo>
                    <a:lnTo>
                      <a:pt x="27781" y="27781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54100" y="3590925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54100" y="3657600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54100" y="3724275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58202" y="4132421"/>
              <a:ext cx="12233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RAG 检索增强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4870" y="4417695"/>
              <a:ext cx="13271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A6D6"/>
                  </a:solidFill>
                  <a:latin typeface="Arial"/>
                  <a:ea typeface="Microsoft YaHei"/>
                  <a:cs typeface="Arial"/>
                </a:rPr>
                <a:t>GROUNDED GENERATION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2489" y="4759404"/>
              <a:ext cx="162282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教材原文向量检索锚定，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2489" y="4988004"/>
              <a:ext cx="162282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生成内容必有教材依据，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2489" y="5216604"/>
              <a:ext cx="14778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从源头抑制凭空编造。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390900" y="3105150"/>
            <a:ext cx="2628900" cy="3028950"/>
            <a:chOff x="3390900" y="3105150"/>
            <a:chExt cx="2628900" cy="3028950"/>
          </a:xfrm>
        </p:grpSpPr>
        <p:sp>
          <p:nvSpPr>
            <p:cNvPr id="44" name="Rectangle 44"/>
            <p:cNvSpPr/>
            <p:nvPr/>
          </p:nvSpPr>
          <p:spPr>
            <a:xfrm>
              <a:off x="3390900" y="3105150"/>
              <a:ext cx="2628900" cy="3028950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5" name="Rectangle 45"/>
            <p:cNvSpPr/>
            <p:nvPr/>
          </p:nvSpPr>
          <p:spPr>
            <a:xfrm>
              <a:off x="3657600" y="33909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8EEF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3846512" y="3546475"/>
              <a:ext cx="155576" cy="211137"/>
              <a:chOff x="3846512" y="3546475"/>
              <a:chExt cx="155576" cy="21113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3857625" y="356870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3924300" y="354647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3890962" y="365760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957638" y="365760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846512" y="367982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957638" y="367982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890962" y="3724275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902075" y="3613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946525" y="3613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3639502" y="4132421"/>
              <a:ext cx="12233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流式输出 SSE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646170" y="4417695"/>
              <a:ext cx="6403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B4B8A"/>
                  </a:solidFill>
                  <a:latin typeface="Arial"/>
                  <a:ea typeface="Microsoft YaHei"/>
                  <a:cs typeface="Arial"/>
                </a:rPr>
                <a:t>STREAMING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643789" y="4759404"/>
              <a:ext cx="14778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服务端推送边想边答，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643789" y="4988004"/>
              <a:ext cx="162282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首字节 &lt; 1s，伴学对话与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643789" y="5216604"/>
              <a:ext cx="133278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讲解响应顺滑自然。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172200" y="3105150"/>
            <a:ext cx="2628900" cy="3028950"/>
            <a:chOff x="6172200" y="3105150"/>
            <a:chExt cx="2628900" cy="3028950"/>
          </a:xfrm>
        </p:grpSpPr>
        <p:sp>
          <p:nvSpPr>
            <p:cNvPr id="62" name="Rectangle 62"/>
            <p:cNvSpPr/>
            <p:nvPr/>
          </p:nvSpPr>
          <p:spPr>
            <a:xfrm>
              <a:off x="6172200" y="3105150"/>
              <a:ext cx="2628900" cy="3028950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3" name="Rectangle 63"/>
            <p:cNvSpPr/>
            <p:nvPr/>
          </p:nvSpPr>
          <p:spPr>
            <a:xfrm>
              <a:off x="6438900" y="33909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FDF1DC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616700" y="3568700"/>
              <a:ext cx="177800" cy="177800"/>
              <a:chOff x="6616700" y="3568700"/>
              <a:chExt cx="177800" cy="177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16700" y="36131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638925" y="35687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638925" y="36576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683375" y="36798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705600" y="356870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705600" y="372427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750050" y="35798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772275" y="3568700"/>
                <a:ext cx="9525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">
                    <a:moveTo>
                      <a:pt x="0" y="0"/>
                    </a:moveTo>
                    <a:lnTo>
                      <a:pt x="0" y="11112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772275" y="3624262"/>
                <a:ext cx="9525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237">
                    <a:moveTo>
                      <a:pt x="0" y="0"/>
                    </a:moveTo>
                    <a:lnTo>
                      <a:pt x="0" y="122237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420802" y="4132421"/>
              <a:ext cx="133310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BKT / IRT 建模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27470" y="4417695"/>
              <a:ext cx="12515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MASTERY ESTIMATION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25089" y="4759404"/>
              <a:ext cx="133278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贝叶斯知识追踪估计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25089" y="4988004"/>
              <a:ext cx="14778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掌握度，项目反应理论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25089" y="5216604"/>
              <a:ext cx="14778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驱动自适应难度调整。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953500" y="3105150"/>
            <a:ext cx="2628900" cy="3028950"/>
            <a:chOff x="8953500" y="3105150"/>
            <a:chExt cx="2628900" cy="3028950"/>
          </a:xfrm>
        </p:grpSpPr>
        <p:sp>
          <p:nvSpPr>
            <p:cNvPr id="80" name="Rectangle 80"/>
            <p:cNvSpPr/>
            <p:nvPr/>
          </p:nvSpPr>
          <p:spPr>
            <a:xfrm>
              <a:off x="8953500" y="3105150"/>
              <a:ext cx="2628900" cy="3028950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1" name="Rectangle 81"/>
            <p:cNvSpPr/>
            <p:nvPr/>
          </p:nvSpPr>
          <p:spPr>
            <a:xfrm>
              <a:off x="9220200" y="33909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2F4FA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9386888" y="3557588"/>
              <a:ext cx="200025" cy="200025"/>
              <a:chOff x="9386888" y="3557588"/>
              <a:chExt cx="200025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9386888" y="36909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lnTo>
                      <a:pt x="66675" y="44450"/>
                    </a:lnTo>
                    <a:cubicBezTo>
                      <a:pt x="66675" y="56725"/>
                      <a:pt x="56725" y="66675"/>
                      <a:pt x="44450" y="66675"/>
                    </a:cubicBezTo>
                    <a:lnTo>
                      <a:pt x="22225" y="66675"/>
                    </a:lnTo>
                    <a:cubicBezTo>
                      <a:pt x="9950" y="66675"/>
                      <a:pt x="0" y="56725"/>
                      <a:pt x="0" y="4445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520238" y="36909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lnTo>
                      <a:pt x="66675" y="44450"/>
                    </a:lnTo>
                    <a:cubicBezTo>
                      <a:pt x="66675" y="56725"/>
                      <a:pt x="56725" y="66675"/>
                      <a:pt x="44450" y="66675"/>
                    </a:cubicBezTo>
                    <a:lnTo>
                      <a:pt x="22225" y="66675"/>
                    </a:lnTo>
                    <a:cubicBezTo>
                      <a:pt x="9950" y="66675"/>
                      <a:pt x="0" y="56725"/>
                      <a:pt x="0" y="4445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453562" y="35575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lnTo>
                      <a:pt x="66675" y="44450"/>
                    </a:lnTo>
                    <a:cubicBezTo>
                      <a:pt x="66675" y="56725"/>
                      <a:pt x="56725" y="66675"/>
                      <a:pt x="44450" y="66675"/>
                    </a:cubicBezTo>
                    <a:lnTo>
                      <a:pt x="22225" y="66675"/>
                    </a:lnTo>
                    <a:cubicBezTo>
                      <a:pt x="9950" y="66675"/>
                      <a:pt x="0" y="56725"/>
                      <a:pt x="0" y="4445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9420225" y="3657600"/>
                <a:ext cx="133350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33338">
                    <a:moveTo>
                      <a:pt x="0" y="33338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33338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9486900" y="3624262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9202102" y="413242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知识图谱推理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208770" y="4417695"/>
              <a:ext cx="10813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A6D6"/>
                  </a:solidFill>
                  <a:latin typeface="Arial"/>
                  <a:ea typeface="Microsoft YaHei"/>
                  <a:cs typeface="Arial"/>
                </a:rPr>
                <a:t>KNOWLEDGE GRAPH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206389" y="4759404"/>
              <a:ext cx="162282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为大模型注入学科结构，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206389" y="4988004"/>
              <a:ext cx="162282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让推理沿依赖关系展开，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206389" y="5216604"/>
              <a:ext cx="162282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实现可关联的根因定位。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598170" y="6475095"/>
            <a:ext cx="10995660" cy="182880"/>
            <a:chOff x="598170" y="6475095"/>
            <a:chExt cx="10995660" cy="182880"/>
          </a:xfrm>
        </p:grpSpPr>
        <p:sp>
          <p:nvSpPr>
            <p:cNvPr id="94" name="TextBox 94"/>
            <p:cNvSpPr txBox="1"/>
            <p:nvPr/>
          </p:nvSpPr>
          <p:spPr>
            <a:xfrm>
              <a:off x="598170" y="64750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468957" y="647509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3" grpId="0"/>
      <p:bldP spid="61" grpId="0"/>
      <p:bldP spid="79" grpId="0"/>
      <p:bldP spid="9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320754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学科准确性的三重保险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4227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防幻觉三层机制：层层拦截，确保每一道题、每一句讲解都站得住脚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03 技术融合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609600" y="2857500"/>
            <a:ext cx="1143000" cy="952500"/>
            <a:chOff x="609600" y="2857500"/>
            <a:chExt cx="1143000" cy="952500"/>
          </a:xfrm>
        </p:grpSpPr>
        <p:sp>
          <p:nvSpPr>
            <p:cNvPr id="9" name="Rectangle 9"/>
            <p:cNvSpPr/>
            <p:nvPr/>
          </p:nvSpPr>
          <p:spPr>
            <a:xfrm>
              <a:off x="609600" y="2857500"/>
              <a:ext cx="1143000" cy="952500"/>
            </a:xfrm>
            <a:prstGeom prst="roundRect">
              <a:avLst>
                <a:gd name="adj" fmla="val 50000"/>
              </a:avLst>
            </a:prstGeom>
            <a:solidFill>
              <a:srgbClr val="0E2E5C"/>
            </a:solidFill>
            <a:ln>
              <a:noFill/>
            </a:ln>
            <a:effectLst>
              <a:outerShdw blurRad="95250" dist="28575" dir="5400000" algn="ctr" rotWithShape="0">
                <a:srgbClr val="0F172A">
                  <a:alpha val="750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010441" y="3147060"/>
              <a:ext cx="3413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7730" y="33918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FC4DF"/>
                  </a:solidFill>
                  <a:latin typeface="Arial"/>
                  <a:ea typeface="Microsoft YaHei"/>
                  <a:cs typeface="Arial"/>
                </a:rPr>
                <a:t>生成内容</a:t>
              </a:r>
            </a:p>
          </p:txBody>
        </p:sp>
      </p:grpSp>
      <p:sp>
        <p:nvSpPr>
          <p:cNvPr id="13" name="Line 13"/>
          <p:cNvSpPr/>
          <p:nvPr/>
        </p:nvSpPr>
        <p:spPr>
          <a:xfrm>
            <a:off x="1809750" y="3333750"/>
            <a:ext cx="514350" cy="1"/>
          </a:xfrm>
          <a:prstGeom prst="line">
            <a:avLst/>
          </a:prstGeom>
          <a:noFill/>
          <a:ln w="28575">
            <a:solidFill>
              <a:srgbClr val="94A3B8"/>
            </a:solidFill>
            <a:tailEnd type="triangle" w="lg" len="lg"/>
          </a:ln>
        </p:spPr>
      </p:sp>
      <p:grpSp>
        <p:nvGrpSpPr>
          <p:cNvPr id="30" name="Group 30"/>
          <p:cNvGrpSpPr/>
          <p:nvPr/>
        </p:nvGrpSpPr>
        <p:grpSpPr>
          <a:xfrm>
            <a:off x="2438400" y="2057400"/>
            <a:ext cx="2590800" cy="2552700"/>
            <a:chOff x="2438400" y="2057400"/>
            <a:chExt cx="2590800" cy="2552700"/>
          </a:xfrm>
        </p:grpSpPr>
        <p:sp>
          <p:nvSpPr>
            <p:cNvPr id="14" name="Rectangle 14"/>
            <p:cNvSpPr/>
            <p:nvPr/>
          </p:nvSpPr>
          <p:spPr>
            <a:xfrm>
              <a:off x="2438400" y="2057400"/>
              <a:ext cx="2590800" cy="2552700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19050">
              <a:solidFill>
                <a:srgbClr val="00A6D6"/>
              </a:solidFill>
            </a:ln>
            <a:effectLst>
              <a:outerShdw blurRad="95250" dist="28575" dir="5400000" algn="ctr" rotWithShape="0">
                <a:srgbClr val="0F172A">
                  <a:alpha val="75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2438400" y="2057400"/>
              <a:ext cx="2590800" cy="533400"/>
            </a:xfrm>
            <a:prstGeom prst="roundRect">
              <a:avLst>
                <a:gd name="adj" fmla="val 28571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438400" y="2343150"/>
              <a:ext cx="2590800" cy="247650"/>
            </a:xfrm>
            <a:prstGeom prst="rect">
              <a:avLst/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49855" y="22545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第一层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1064" y="2295049"/>
              <a:ext cx="250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BFE6F4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43200" y="28194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2F4F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2921000" y="3019425"/>
              <a:ext cx="188912" cy="166687"/>
              <a:chOff x="2921000" y="3019425"/>
              <a:chExt cx="188912" cy="16668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2998788" y="307498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082131" y="3158331"/>
                <a:ext cx="27781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27781" h="27781">
                    <a:moveTo>
                      <a:pt x="0" y="0"/>
                    </a:moveTo>
                    <a:lnTo>
                      <a:pt x="27781" y="27781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921000" y="3019425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921000" y="3086100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921000" y="3152775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725102" y="3541871"/>
              <a:ext cx="8243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RAG 锚定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29389" y="3921204"/>
              <a:ext cx="14778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生成内容必须能在教材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29389" y="4149804"/>
              <a:ext cx="118776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原文中找到依据，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29389" y="4378404"/>
              <a:ext cx="133278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无依据则不予采纳。</a:t>
              </a:r>
            </a:p>
          </p:txBody>
        </p:sp>
      </p:grpSp>
      <p:sp>
        <p:nvSpPr>
          <p:cNvPr id="31" name="Line 31"/>
          <p:cNvSpPr/>
          <p:nvPr/>
        </p:nvSpPr>
        <p:spPr>
          <a:xfrm>
            <a:off x="5143500" y="3333750"/>
            <a:ext cx="514350" cy="1"/>
          </a:xfrm>
          <a:prstGeom prst="line">
            <a:avLst/>
          </a:prstGeom>
          <a:noFill/>
          <a:ln w="28575">
            <a:solidFill>
              <a:srgbClr val="94A3B8"/>
            </a:solidFill>
            <a:tailEnd type="triangle" w="lg" len="lg"/>
          </a:ln>
        </p:spPr>
      </p:sp>
      <p:grpSp>
        <p:nvGrpSpPr>
          <p:cNvPr id="52" name="Group 52"/>
          <p:cNvGrpSpPr/>
          <p:nvPr/>
        </p:nvGrpSpPr>
        <p:grpSpPr>
          <a:xfrm>
            <a:off x="5772150" y="2057400"/>
            <a:ext cx="2590800" cy="2552700"/>
            <a:chOff x="5772150" y="2057400"/>
            <a:chExt cx="2590800" cy="2552700"/>
          </a:xfrm>
        </p:grpSpPr>
        <p:sp>
          <p:nvSpPr>
            <p:cNvPr id="32" name="Rectangle 32"/>
            <p:cNvSpPr/>
            <p:nvPr/>
          </p:nvSpPr>
          <p:spPr>
            <a:xfrm>
              <a:off x="5772150" y="2057400"/>
              <a:ext cx="2590800" cy="2552700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19050">
              <a:solidFill>
                <a:srgbClr val="1B4B8A"/>
              </a:solidFill>
            </a:ln>
            <a:effectLst>
              <a:outerShdw blurRad="95250" dist="28575" dir="5400000" algn="ctr" rotWithShape="0">
                <a:srgbClr val="0F172A">
                  <a:alpha val="75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5772150" y="2057400"/>
              <a:ext cx="2590800" cy="533400"/>
            </a:xfrm>
            <a:prstGeom prst="roundRect">
              <a:avLst>
                <a:gd name="adj" fmla="val 28571"/>
              </a:avLst>
            </a:prstGeom>
            <a:solidFill>
              <a:srgbClr val="1B4B8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72150" y="2343150"/>
              <a:ext cx="2590800" cy="247650"/>
            </a:xfrm>
            <a:prstGeom prst="rect">
              <a:avLst/>
            </a:prstGeom>
            <a:solidFill>
              <a:srgbClr val="1B4B8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83605" y="22545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第二层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09224" y="2295049"/>
              <a:ext cx="7756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AFC4DF"/>
                  </a:solidFill>
                  <a:latin typeface="Arial"/>
                  <a:ea typeface="Microsoft YaHei"/>
                  <a:cs typeface="Arial"/>
                </a:rPr>
                <a:t>SELF-CHECK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76950" y="28194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8EEF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265862" y="2974975"/>
              <a:ext cx="155576" cy="211137"/>
              <a:chOff x="6265862" y="2974975"/>
              <a:chExt cx="155576" cy="21113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276975" y="299720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343650" y="297497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310312" y="308610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376988" y="308610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265862" y="310832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376988" y="310832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310312" y="3152775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21425" y="3041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365875" y="3041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058852" y="3541871"/>
              <a:ext cx="86422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 自检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63139" y="3921204"/>
              <a:ext cx="14778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模型对自身输出做二次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63139" y="4149804"/>
              <a:ext cx="14778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校验，复核推理链条与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63139" y="4378404"/>
              <a:ext cx="1042749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结论的合理性。</a:t>
              </a:r>
            </a:p>
          </p:txBody>
        </p:sp>
      </p:grpSp>
      <p:sp>
        <p:nvSpPr>
          <p:cNvPr id="53" name="Line 53"/>
          <p:cNvSpPr/>
          <p:nvPr/>
        </p:nvSpPr>
        <p:spPr>
          <a:xfrm>
            <a:off x="8477250" y="3333750"/>
            <a:ext cx="514350" cy="1"/>
          </a:xfrm>
          <a:prstGeom prst="line">
            <a:avLst/>
          </a:prstGeom>
          <a:noFill/>
          <a:ln w="28575">
            <a:solidFill>
              <a:srgbClr val="94A3B8"/>
            </a:solidFill>
            <a:tailEnd type="triangle" w="lg" len="lg"/>
          </a:ln>
        </p:spPr>
      </p:sp>
      <p:grpSp>
        <p:nvGrpSpPr>
          <p:cNvPr id="65" name="Group 65"/>
          <p:cNvGrpSpPr/>
          <p:nvPr/>
        </p:nvGrpSpPr>
        <p:grpSpPr>
          <a:xfrm>
            <a:off x="9105900" y="2057400"/>
            <a:ext cx="2590800" cy="2552700"/>
            <a:chOff x="9105900" y="2057400"/>
            <a:chExt cx="2590800" cy="2552700"/>
          </a:xfrm>
        </p:grpSpPr>
        <p:sp>
          <p:nvSpPr>
            <p:cNvPr id="54" name="Rectangle 54"/>
            <p:cNvSpPr/>
            <p:nvPr/>
          </p:nvSpPr>
          <p:spPr>
            <a:xfrm>
              <a:off x="9105900" y="2057400"/>
              <a:ext cx="2590800" cy="2552700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19050">
              <a:solidFill>
                <a:srgbClr val="16A34A"/>
              </a:solidFill>
            </a:ln>
            <a:effectLst>
              <a:outerShdw blurRad="95250" dist="28575" dir="5400000" algn="ctr" rotWithShape="0">
                <a:srgbClr val="0F172A">
                  <a:alpha val="7500"/>
                </a:srgbClr>
              </a:outerShdw>
            </a:effectLst>
          </p:spPr>
        </p:sp>
        <p:sp>
          <p:nvSpPr>
            <p:cNvPr id="55" name="Rectangle 55"/>
            <p:cNvSpPr/>
            <p:nvPr/>
          </p:nvSpPr>
          <p:spPr>
            <a:xfrm>
              <a:off x="9105900" y="2057400"/>
              <a:ext cx="2590800" cy="533400"/>
            </a:xfrm>
            <a:prstGeom prst="roundRect">
              <a:avLst>
                <a:gd name="adj" fmla="val 28571"/>
              </a:avLst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105900" y="2343150"/>
              <a:ext cx="2590800" cy="24765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317355" y="22545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第三层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18396" y="2295049"/>
              <a:ext cx="4001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BBE6C9"/>
                  </a:solidFill>
                  <a:latin typeface="Arial"/>
                  <a:ea typeface="Microsoft YaHei"/>
                  <a:cs typeface="Arial"/>
                </a:rPr>
                <a:t>RULES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410700" y="28194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6F5EB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572760" y="2986088"/>
              <a:ext cx="209280" cy="200025"/>
            </a:xfrm>
            <a:custGeom>
              <a:avLst/>
              <a:gdLst/>
              <a:ahLst/>
              <a:cxnLst/>
              <a:rect l="l" t="t" r="r" b="b"/>
              <a:pathLst>
                <a:path w="209280" h="200025">
                  <a:moveTo>
                    <a:pt x="104640" y="0"/>
                  </a:moveTo>
                  <a:cubicBezTo>
                    <a:pt x="130597" y="22965"/>
                    <a:pt x="164475" y="34922"/>
                    <a:pt x="199096" y="33338"/>
                  </a:cubicBezTo>
                  <a:cubicBezTo>
                    <a:pt x="209280" y="67981"/>
                    <a:pt x="204980" y="105274"/>
                    <a:pt x="187177" y="136690"/>
                  </a:cubicBezTo>
                  <a:cubicBezTo>
                    <a:pt x="169375" y="168106"/>
                    <a:pt x="139593" y="190959"/>
                    <a:pt x="104640" y="200025"/>
                  </a:cubicBezTo>
                  <a:cubicBezTo>
                    <a:pt x="69687" y="190959"/>
                    <a:pt x="39906" y="168106"/>
                    <a:pt x="22103" y="136690"/>
                  </a:cubicBezTo>
                  <a:cubicBezTo>
                    <a:pt x="4301" y="105274"/>
                    <a:pt x="0" y="67981"/>
                    <a:pt x="10184" y="33338"/>
                  </a:cubicBezTo>
                  <a:cubicBezTo>
                    <a:pt x="44805" y="34922"/>
                    <a:pt x="78683" y="22965"/>
                    <a:pt x="104640" y="0"/>
                  </a:cubicBezTo>
                </a:path>
              </a:pathLst>
            </a:custGeom>
            <a:noFill/>
            <a:ln w="19050">
              <a:solidFill>
                <a:srgbClr val="16A34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392602" y="35418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规则校验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96889" y="3921204"/>
              <a:ext cx="133278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领域规则兜底拦截，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96889" y="4149804"/>
              <a:ext cx="14778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校验数学符号、公式与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96889" y="4378404"/>
              <a:ext cx="133278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答案格式的正确性。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814175" y="3235325"/>
            <a:ext cx="238125" cy="158750"/>
            <a:chOff x="11814175" y="3235325"/>
            <a:chExt cx="238125" cy="158750"/>
          </a:xfrm>
        </p:grpSpPr>
        <p:sp>
          <p:nvSpPr>
            <p:cNvPr id="66" name="Freeform 66"/>
            <p:cNvSpPr/>
            <p:nvPr/>
          </p:nvSpPr>
          <p:spPr>
            <a:xfrm>
              <a:off x="11814175" y="3235325"/>
              <a:ext cx="238125" cy="158750"/>
            </a:xfrm>
            <a:custGeom>
              <a:avLst/>
              <a:gdLst/>
              <a:ahLst/>
              <a:cxnLst/>
              <a:rect l="l" t="t" r="r" b="b"/>
              <a:pathLst>
                <a:path w="238125" h="158750">
                  <a:moveTo>
                    <a:pt x="0" y="79375"/>
                  </a:moveTo>
                  <a:lnTo>
                    <a:pt x="79375" y="158750"/>
                  </a:lnTo>
                  <a:lnTo>
                    <a:pt x="238125" y="0"/>
                  </a:lnTo>
                </a:path>
              </a:pathLst>
            </a:custGeom>
            <a:noFill/>
            <a:ln w="23812">
              <a:solidFill>
                <a:srgbClr val="16A34A"/>
              </a:solidFill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609600" y="4972050"/>
            <a:ext cx="10972800" cy="1104900"/>
            <a:chOff x="609600" y="4972050"/>
            <a:chExt cx="10972800" cy="1104900"/>
          </a:xfrm>
        </p:grpSpPr>
        <p:sp>
          <p:nvSpPr>
            <p:cNvPr id="68" name="Rectangle 68"/>
            <p:cNvSpPr/>
            <p:nvPr/>
          </p:nvSpPr>
          <p:spPr>
            <a:xfrm>
              <a:off x="609600" y="4972050"/>
              <a:ext cx="10972800" cy="1104900"/>
            </a:xfrm>
            <a:prstGeom prst="roundRect">
              <a:avLst>
                <a:gd name="adj" fmla="val 13793"/>
              </a:avLst>
            </a:prstGeom>
            <a:solidFill>
              <a:srgbClr val="FFFCF5"/>
            </a:solidFill>
            <a:ln w="14288">
              <a:solidFill>
                <a:srgbClr val="F5A623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09600" y="497205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14400" y="5219700"/>
              <a:ext cx="609600" cy="609600"/>
            </a:xfrm>
            <a:prstGeom prst="roundRect">
              <a:avLst>
                <a:gd name="adj" fmla="val 25000"/>
              </a:avLst>
            </a:prstGeom>
            <a:solidFill>
              <a:srgbClr val="FDF1DC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1099611" y="5410200"/>
              <a:ext cx="239178" cy="228600"/>
            </a:xfrm>
            <a:custGeom>
              <a:avLst/>
              <a:gdLst/>
              <a:ahLst/>
              <a:cxnLst/>
              <a:rect l="l" t="t" r="r" b="b"/>
              <a:pathLst>
                <a:path w="239178" h="228600">
                  <a:moveTo>
                    <a:pt x="119589" y="0"/>
                  </a:moveTo>
                  <a:cubicBezTo>
                    <a:pt x="149254" y="26246"/>
                    <a:pt x="187972" y="39911"/>
                    <a:pt x="227539" y="38100"/>
                  </a:cubicBezTo>
                  <a:cubicBezTo>
                    <a:pt x="239178" y="77693"/>
                    <a:pt x="234262" y="120313"/>
                    <a:pt x="213917" y="156217"/>
                  </a:cubicBezTo>
                  <a:cubicBezTo>
                    <a:pt x="193571" y="192121"/>
                    <a:pt x="159535" y="218239"/>
                    <a:pt x="119589" y="228600"/>
                  </a:cubicBezTo>
                  <a:cubicBezTo>
                    <a:pt x="79643" y="218239"/>
                    <a:pt x="45606" y="192121"/>
                    <a:pt x="25261" y="156217"/>
                  </a:cubicBezTo>
                  <a:cubicBezTo>
                    <a:pt x="4915" y="120313"/>
                    <a:pt x="0" y="77693"/>
                    <a:pt x="11639" y="38100"/>
                  </a:cubicBezTo>
                  <a:cubicBezTo>
                    <a:pt x="51206" y="39911"/>
                    <a:pt x="89924" y="26246"/>
                    <a:pt x="119589" y="0"/>
                  </a:cubicBezTo>
                </a:path>
              </a:pathLst>
            </a:custGeom>
            <a:noFill/>
            <a:ln w="19050">
              <a:solidFill>
                <a:srgbClr val="D9770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734502" y="5237321"/>
              <a:ext cx="226089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配套保障 · 离线演示模式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738312" y="5574506"/>
              <a:ext cx="64793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无网络、无 API 密钥时自动切换到内置高质量样例数据，仍可完整演示诊断、溯源、教学全链路，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738312" y="5803106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保证答辩现场零依赖、零风险。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98170" y="6475095"/>
            <a:ext cx="10995660" cy="182880"/>
            <a:chOff x="598170" y="6475095"/>
            <a:chExt cx="10995660" cy="182880"/>
          </a:xfrm>
        </p:grpSpPr>
        <p:sp>
          <p:nvSpPr>
            <p:cNvPr id="76" name="TextBox 76"/>
            <p:cNvSpPr txBox="1"/>
            <p:nvPr/>
          </p:nvSpPr>
          <p:spPr>
            <a:xfrm>
              <a:off x="598170" y="64750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498961" y="6475095"/>
              <a:ext cx="948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0" grpId="0"/>
      <p:bldP spid="52" grpId="0"/>
      <p:bldP spid="65" grpId="0"/>
      <p:bldP spid="67" grpId="0"/>
      <p:bldP spid="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五层架构 · 职责清晰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39471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从前端展现到数据存储，分层解耦，每一层职责单一、边界明确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03 技术融合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609600" y="1333500"/>
            <a:ext cx="10972800" cy="933450"/>
            <a:chOff x="609600" y="1333500"/>
            <a:chExt cx="10972800" cy="933450"/>
          </a:xfrm>
        </p:grpSpPr>
        <p:sp>
          <p:nvSpPr>
            <p:cNvPr id="9" name="Rectangle 9"/>
            <p:cNvSpPr/>
            <p:nvPr/>
          </p:nvSpPr>
          <p:spPr>
            <a:xfrm>
              <a:off x="609600" y="1333500"/>
              <a:ext cx="419100" cy="933450"/>
            </a:xfrm>
            <a:prstGeom prst="roundRect">
              <a:avLst>
                <a:gd name="adj" fmla="val 18182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0839" y="1695450"/>
              <a:ext cx="216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01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43000" y="1333500"/>
              <a:ext cx="10439400" cy="933450"/>
            </a:xfrm>
            <a:prstGeom prst="roundRect">
              <a:avLst>
                <a:gd name="adj" fmla="val 12245"/>
              </a:avLst>
            </a:prstGeom>
            <a:solidFill>
              <a:srgbClr val="E2F4FA">
                <a:alpha val="50000"/>
              </a:srgbClr>
            </a:solidFill>
            <a:ln w="14288">
              <a:solidFill>
                <a:srgbClr val="9BD9EC"/>
              </a:solidFill>
              <a:custDash>
                <a:ds d="400000" sp="266666"/>
              </a:custDash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331119" y="1704975"/>
              <a:ext cx="214312" cy="200025"/>
              <a:chOff x="1331119" y="1704975"/>
              <a:chExt cx="214312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331119" y="1704975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202406" y="0"/>
                    </a:lnTo>
                    <a:cubicBezTo>
                      <a:pt x="208982" y="0"/>
                      <a:pt x="214312" y="5331"/>
                      <a:pt x="214312" y="11906"/>
                    </a:cubicBezTo>
                    <a:lnTo>
                      <a:pt x="214312" y="130969"/>
                    </a:lnTo>
                    <a:cubicBezTo>
                      <a:pt x="214312" y="137544"/>
                      <a:pt x="208982" y="142875"/>
                      <a:pt x="202406" y="142875"/>
                    </a:cubicBezTo>
                    <a:lnTo>
                      <a:pt x="11906" y="142875"/>
                    </a:lnTo>
                    <a:cubicBezTo>
                      <a:pt x="5331" y="142875"/>
                      <a:pt x="0" y="137544"/>
                      <a:pt x="0" y="130969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378744" y="1895475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402556" y="18478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473994" y="18478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659255" y="15687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前端展现层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4018" y="18759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用户交互与可视化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733800" y="1504950"/>
              <a:ext cx="24003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3910012" y="1650206"/>
              <a:ext cx="1430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Vue 3 + TypeScript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11918" y="1875949"/>
              <a:ext cx="9673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响应式 SPA 界面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1504950"/>
              <a:ext cx="24003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6462712" y="1650206"/>
              <a:ext cx="11390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KaTeX 公式渲染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18759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数学公式精确呈现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839200" y="1504950"/>
              <a:ext cx="25908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9015412" y="1650206"/>
              <a:ext cx="12572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D3.js 图谱可视化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17318" y="18759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知识图谱与路径渲染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9600" y="2381250"/>
            <a:ext cx="10972800" cy="933450"/>
            <a:chOff x="609600" y="2381250"/>
            <a:chExt cx="10972800" cy="933450"/>
          </a:xfrm>
        </p:grpSpPr>
        <p:sp>
          <p:nvSpPr>
            <p:cNvPr id="29" name="Rectangle 29"/>
            <p:cNvSpPr/>
            <p:nvPr/>
          </p:nvSpPr>
          <p:spPr>
            <a:xfrm>
              <a:off x="609600" y="2381250"/>
              <a:ext cx="419100" cy="933450"/>
            </a:xfrm>
            <a:prstGeom prst="roundRect">
              <a:avLst>
                <a:gd name="adj" fmla="val 18182"/>
              </a:avLst>
            </a:prstGeom>
            <a:solidFill>
              <a:srgbClr val="1B4B8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4586" y="274320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02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43000" y="2381250"/>
              <a:ext cx="10439400" cy="933450"/>
            </a:xfrm>
            <a:prstGeom prst="roundRect">
              <a:avLst>
                <a:gd name="adj" fmla="val 12245"/>
              </a:avLst>
            </a:prstGeom>
            <a:solidFill>
              <a:srgbClr val="E8EEF7">
                <a:alpha val="50000"/>
              </a:srgbClr>
            </a:solidFill>
            <a:ln w="14288">
              <a:solidFill>
                <a:srgbClr val="A9BFDE"/>
              </a:solidFill>
              <a:custDash>
                <a:ds d="400000" sp="266666"/>
              </a:custDash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1331119" y="2752725"/>
              <a:ext cx="214312" cy="190500"/>
              <a:chOff x="1331119" y="2752725"/>
              <a:chExt cx="214312" cy="1905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331119" y="275272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59531"/>
                    </a:lnTo>
                    <a:cubicBezTo>
                      <a:pt x="214312" y="79258"/>
                      <a:pt x="198321" y="95250"/>
                      <a:pt x="178594" y="95250"/>
                    </a:cubicBezTo>
                    <a:lnTo>
                      <a:pt x="35719" y="95250"/>
                    </a:lnTo>
                    <a:cubicBezTo>
                      <a:pt x="15992" y="95250"/>
                      <a:pt x="0" y="79258"/>
                      <a:pt x="0" y="59531"/>
                    </a:cubicBez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331119" y="284797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59531"/>
                    </a:lnTo>
                    <a:cubicBezTo>
                      <a:pt x="214312" y="79258"/>
                      <a:pt x="198321" y="95250"/>
                      <a:pt x="178594" y="95250"/>
                    </a:cubicBezTo>
                    <a:lnTo>
                      <a:pt x="35719" y="95250"/>
                    </a:lnTo>
                    <a:cubicBezTo>
                      <a:pt x="15992" y="95250"/>
                      <a:pt x="0" y="79258"/>
                      <a:pt x="0" y="59531"/>
                    </a:cubicBezTo>
                    <a:lnTo>
                      <a:pt x="0" y="35719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378744" y="2800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378744" y="2895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659255" y="2616518"/>
              <a:ext cx="9227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API 路由层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64018" y="29236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统一入口与鉴权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733800" y="2552700"/>
              <a:ext cx="24003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3910012" y="2697956"/>
              <a:ext cx="12651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Spring Boot 路由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11918" y="2923699"/>
              <a:ext cx="13119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RESTful 统一路由分发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86500" y="2552700"/>
              <a:ext cx="51435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6462712" y="2697956"/>
              <a:ext cx="997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JWT 权限隔离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64618" y="2923699"/>
              <a:ext cx="29046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学生端 / 教师端基于角色的访问控制，会话无状态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9600" y="3429000"/>
            <a:ext cx="10972800" cy="933450"/>
            <a:chOff x="609600" y="3429000"/>
            <a:chExt cx="10972800" cy="933450"/>
          </a:xfrm>
        </p:grpSpPr>
        <p:sp>
          <p:nvSpPr>
            <p:cNvPr id="46" name="Rectangle 46"/>
            <p:cNvSpPr/>
            <p:nvPr/>
          </p:nvSpPr>
          <p:spPr>
            <a:xfrm>
              <a:off x="609600" y="3429000"/>
              <a:ext cx="419100" cy="933450"/>
            </a:xfrm>
            <a:prstGeom prst="roundRect">
              <a:avLst>
                <a:gd name="adj" fmla="val 18182"/>
              </a:avLst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4586" y="3790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03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143000" y="3429000"/>
              <a:ext cx="10439400" cy="933450"/>
            </a:xfrm>
            <a:prstGeom prst="roundRect">
              <a:avLst>
                <a:gd name="adj" fmla="val 12245"/>
              </a:avLst>
            </a:prstGeom>
            <a:solidFill>
              <a:srgbClr val="FDF1DC">
                <a:alpha val="60000"/>
              </a:srgbClr>
            </a:solidFill>
            <a:ln w="14288">
              <a:solidFill>
                <a:srgbClr val="F0C375"/>
              </a:solidFill>
              <a:custDash>
                <a:ds d="400000" sp="266666"/>
              </a:custDash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1343025" y="3800475"/>
              <a:ext cx="190500" cy="190500"/>
              <a:chOff x="1343025" y="3800475"/>
              <a:chExt cx="190500" cy="1905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1366016" y="3835432"/>
                <a:ext cx="132552" cy="132552"/>
              </a:xfrm>
              <a:custGeom>
                <a:avLst/>
                <a:gdLst/>
                <a:ahLst/>
                <a:cxnLst/>
                <a:rect l="l" t="t" r="r" b="b"/>
                <a:pathLst>
                  <a:path w="132552" h="132552">
                    <a:moveTo>
                      <a:pt x="0" y="0"/>
                    </a:moveTo>
                    <a:lnTo>
                      <a:pt x="15180" y="50590"/>
                    </a:lnTo>
                    <a:moveTo>
                      <a:pt x="81939" y="117372"/>
                    </a:moveTo>
                    <a:lnTo>
                      <a:pt x="132552" y="132552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434501" y="3830931"/>
                <a:ext cx="68568" cy="68568"/>
              </a:xfrm>
              <a:custGeom>
                <a:avLst/>
                <a:gdLst/>
                <a:ahLst/>
                <a:cxnLst/>
                <a:rect l="l" t="t" r="r" b="b"/>
                <a:pathLst>
                  <a:path w="68568" h="68568">
                    <a:moveTo>
                      <a:pt x="0" y="68568"/>
                    </a:moveTo>
                    <a:lnTo>
                      <a:pt x="68568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343025" y="3800475"/>
                <a:ext cx="35719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35719">
                    <a:moveTo>
                      <a:pt x="0" y="17859"/>
                    </a:moveTo>
                    <a:cubicBezTo>
                      <a:pt x="0" y="27723"/>
                      <a:pt x="7996" y="35719"/>
                      <a:pt x="17859" y="35719"/>
                    </a:cubicBezTo>
                    <a:cubicBezTo>
                      <a:pt x="27723" y="35719"/>
                      <a:pt x="35719" y="27723"/>
                      <a:pt x="35719" y="17859"/>
                    </a:cubicBezTo>
                    <a:cubicBezTo>
                      <a:pt x="35719" y="7996"/>
                      <a:pt x="27723" y="0"/>
                      <a:pt x="17859" y="0"/>
                    </a:cubicBezTo>
                    <a:cubicBezTo>
                      <a:pt x="7996" y="0"/>
                      <a:pt x="0" y="7996"/>
                      <a:pt x="0" y="17859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497806" y="3800475"/>
                <a:ext cx="35719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35719">
                    <a:moveTo>
                      <a:pt x="0" y="17859"/>
                    </a:moveTo>
                    <a:cubicBezTo>
                      <a:pt x="0" y="27723"/>
                      <a:pt x="7996" y="35719"/>
                      <a:pt x="17859" y="35719"/>
                    </a:cubicBezTo>
                    <a:cubicBezTo>
                      <a:pt x="27723" y="35719"/>
                      <a:pt x="35719" y="27723"/>
                      <a:pt x="35719" y="17859"/>
                    </a:cubicBezTo>
                    <a:cubicBezTo>
                      <a:pt x="35719" y="7996"/>
                      <a:pt x="27723" y="0"/>
                      <a:pt x="17859" y="0"/>
                    </a:cubicBezTo>
                    <a:cubicBezTo>
                      <a:pt x="7996" y="0"/>
                      <a:pt x="0" y="7996"/>
                      <a:pt x="0" y="17859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497806" y="3955256"/>
                <a:ext cx="35719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35719">
                    <a:moveTo>
                      <a:pt x="0" y="17859"/>
                    </a:moveTo>
                    <a:cubicBezTo>
                      <a:pt x="0" y="27723"/>
                      <a:pt x="7996" y="35719"/>
                      <a:pt x="17859" y="35719"/>
                    </a:cubicBezTo>
                    <a:cubicBezTo>
                      <a:pt x="27723" y="35719"/>
                      <a:pt x="35719" y="27723"/>
                      <a:pt x="35719" y="17859"/>
                    </a:cubicBezTo>
                    <a:cubicBezTo>
                      <a:pt x="35719" y="7996"/>
                      <a:pt x="27723" y="0"/>
                      <a:pt x="17859" y="0"/>
                    </a:cubicBezTo>
                    <a:cubicBezTo>
                      <a:pt x="7996" y="0"/>
                      <a:pt x="0" y="7996"/>
                      <a:pt x="0" y="17859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343025" y="3883819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0" y="53578"/>
                    </a:moveTo>
                    <a:cubicBezTo>
                      <a:pt x="0" y="83169"/>
                      <a:pt x="23988" y="107156"/>
                      <a:pt x="53578" y="107156"/>
                    </a:cubicBezTo>
                    <a:cubicBezTo>
                      <a:pt x="83169" y="107156"/>
                      <a:pt x="107156" y="83169"/>
                      <a:pt x="107156" y="53578"/>
                    </a:cubicBezTo>
                    <a:cubicBezTo>
                      <a:pt x="107156" y="23988"/>
                      <a:pt x="83169" y="0"/>
                      <a:pt x="53578" y="0"/>
                    </a:cubicBezTo>
                    <a:cubicBezTo>
                      <a:pt x="23988" y="0"/>
                      <a:pt x="0" y="23988"/>
                      <a:pt x="0" y="53578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659255" y="366426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多智能体编排层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664018" y="39714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核心 · 系统大脑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733800" y="3600450"/>
              <a:ext cx="36195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14288">
              <a:solidFill>
                <a:srgbClr val="F0C375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9" name="TextBox 59"/>
            <p:cNvSpPr txBox="1"/>
            <p:nvPr/>
          </p:nvSpPr>
          <p:spPr>
            <a:xfrm>
              <a:off x="3910012" y="3745706"/>
              <a:ext cx="20527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AgentOrchestrator 编排器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911918" y="3971449"/>
              <a:ext cx="18904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五大 Agent 调度与生命周期管理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505700" y="3600450"/>
              <a:ext cx="39243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14288">
              <a:solidFill>
                <a:srgbClr val="F0C375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2" name="TextBox 62"/>
            <p:cNvSpPr txBox="1"/>
            <p:nvPr/>
          </p:nvSpPr>
          <p:spPr>
            <a:xfrm>
              <a:off x="7681912" y="3745706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事件总线 Event Bus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83818" y="3971449"/>
              <a:ext cx="18904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事件驱动的 Agent 间松耦合通信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09600" y="4476750"/>
            <a:ext cx="10972800" cy="933450"/>
            <a:chOff x="609600" y="4476750"/>
            <a:chExt cx="10972800" cy="933450"/>
          </a:xfrm>
        </p:grpSpPr>
        <p:sp>
          <p:nvSpPr>
            <p:cNvPr id="65" name="Rectangle 65"/>
            <p:cNvSpPr/>
            <p:nvPr/>
          </p:nvSpPr>
          <p:spPr>
            <a:xfrm>
              <a:off x="609600" y="4476750"/>
              <a:ext cx="419100" cy="933450"/>
            </a:xfrm>
            <a:prstGeom prst="roundRect">
              <a:avLst>
                <a:gd name="adj" fmla="val 18182"/>
              </a:avLst>
            </a:prstGeom>
            <a:solidFill>
              <a:srgbClr val="1B4B8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4586" y="483870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04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143000" y="4476750"/>
              <a:ext cx="10439400" cy="933450"/>
            </a:xfrm>
            <a:prstGeom prst="roundRect">
              <a:avLst>
                <a:gd name="adj" fmla="val 12245"/>
              </a:avLst>
            </a:prstGeom>
            <a:solidFill>
              <a:srgbClr val="E8EEF7">
                <a:alpha val="50000"/>
              </a:srgbClr>
            </a:solidFill>
            <a:ln w="14288">
              <a:solidFill>
                <a:srgbClr val="A9BFDE"/>
              </a:solidFill>
              <a:custDash>
                <a:ds d="400000" sp="266666"/>
              </a:custDash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1331119" y="4836319"/>
              <a:ext cx="214312" cy="214312"/>
              <a:chOff x="1331119" y="4836319"/>
              <a:chExt cx="214312" cy="214312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1438275" y="4955381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18657" y="0"/>
                      <a:pt x="0" y="18657"/>
                      <a:pt x="0" y="41672"/>
                    </a:cubicBezTo>
                    <a:lnTo>
                      <a:pt x="0" y="53578"/>
                    </a:lnTo>
                    <a:cubicBezTo>
                      <a:pt x="0" y="76593"/>
                      <a:pt x="18657" y="95250"/>
                      <a:pt x="41672" y="95250"/>
                    </a:cubicBezTo>
                    <a:cubicBezTo>
                      <a:pt x="64687" y="95250"/>
                      <a:pt x="83344" y="76593"/>
                      <a:pt x="83344" y="53578"/>
                    </a:cubicBezTo>
                    <a:lnTo>
                      <a:pt x="83344" y="32147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1354931" y="4955381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53578"/>
                    </a:lnTo>
                    <a:cubicBezTo>
                      <a:pt x="83344" y="76593"/>
                      <a:pt x="64687" y="95250"/>
                      <a:pt x="41672" y="95250"/>
                    </a:cubicBezTo>
                    <a:cubicBezTo>
                      <a:pt x="18657" y="95250"/>
                      <a:pt x="0" y="76593"/>
                      <a:pt x="0" y="53578"/>
                    </a:cubicBezTo>
                    <a:lnTo>
                      <a:pt x="0" y="32147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1497806" y="4907756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5953" y="83344"/>
                    </a:moveTo>
                    <a:cubicBezTo>
                      <a:pt x="28968" y="83344"/>
                      <a:pt x="47625" y="64687"/>
                      <a:pt x="47625" y="41672"/>
                    </a:cubicBezTo>
                    <a:cubicBezTo>
                      <a:pt x="47625" y="18657"/>
                      <a:pt x="28968" y="0"/>
                      <a:pt x="5953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1438275" y="4836319"/>
                <a:ext cx="83344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75009">
                    <a:moveTo>
                      <a:pt x="83344" y="75009"/>
                    </a:moveTo>
                    <a:lnTo>
                      <a:pt x="83344" y="41672"/>
                    </a:lnTo>
                    <a:cubicBezTo>
                      <a:pt x="83344" y="18657"/>
                      <a:pt x="64687" y="0"/>
                      <a:pt x="41672" y="0"/>
                    </a:cubicBezTo>
                    <a:cubicBezTo>
                      <a:pt x="18657" y="0"/>
                      <a:pt x="0" y="18657"/>
                      <a:pt x="0" y="41672"/>
                    </a:cubicBez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1331119" y="4907756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41672" y="83344"/>
                    </a:move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354931" y="4836319"/>
                <a:ext cx="83344" cy="16073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160734">
                    <a:moveTo>
                      <a:pt x="0" y="75009"/>
                    </a:moveTo>
                    <a:lnTo>
                      <a:pt x="0" y="41672"/>
                    </a:ln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160734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659255" y="47120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大模型适配层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664018" y="50191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模型接入与防护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3733800" y="4648200"/>
              <a:ext cx="36195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8" name="TextBox 78"/>
            <p:cNvSpPr txBox="1"/>
            <p:nvPr/>
          </p:nvSpPr>
          <p:spPr>
            <a:xfrm>
              <a:off x="3910012" y="4793456"/>
              <a:ext cx="23519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LlmService（星火 / DeepSeek）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911918" y="5019199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统一适配 + 自动降级回退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505700" y="4648200"/>
              <a:ext cx="39243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1" name="TextBox 81"/>
            <p:cNvSpPr txBox="1"/>
            <p:nvPr/>
          </p:nvSpPr>
          <p:spPr>
            <a:xfrm>
              <a:off x="7681912" y="4793456"/>
              <a:ext cx="16195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防幻觉三层 + RAG 检索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683818" y="5019199"/>
              <a:ext cx="18969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RAG 锚定 / LLM 自检 / 规则校验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609600" y="5524500"/>
            <a:ext cx="10972800" cy="933450"/>
            <a:chOff x="609600" y="5524500"/>
            <a:chExt cx="10972800" cy="933450"/>
          </a:xfrm>
        </p:grpSpPr>
        <p:sp>
          <p:nvSpPr>
            <p:cNvPr id="84" name="Rectangle 84"/>
            <p:cNvSpPr/>
            <p:nvPr/>
          </p:nvSpPr>
          <p:spPr>
            <a:xfrm>
              <a:off x="609600" y="5524500"/>
              <a:ext cx="419100" cy="933450"/>
            </a:xfrm>
            <a:prstGeom prst="roundRect">
              <a:avLst>
                <a:gd name="adj" fmla="val 18182"/>
              </a:avLst>
            </a:prstGeom>
            <a:solidFill>
              <a:srgbClr val="0E2E5C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84586" y="58864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05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143000" y="5524500"/>
              <a:ext cx="10439400" cy="933450"/>
            </a:xfrm>
            <a:prstGeom prst="roundRect">
              <a:avLst>
                <a:gd name="adj" fmla="val 12245"/>
              </a:avLst>
            </a:prstGeom>
            <a:solidFill>
              <a:srgbClr val="EAEEF4">
                <a:alpha val="60000"/>
              </a:srgbClr>
            </a:solidFill>
            <a:ln w="14288">
              <a:solidFill>
                <a:srgbClr val="B9C4D4"/>
              </a:solidFill>
              <a:custDash>
                <a:ds d="400000" sp="266666"/>
              </a:custDash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1343025" y="5884069"/>
              <a:ext cx="190500" cy="214312"/>
              <a:chOff x="1343025" y="5884069"/>
              <a:chExt cx="190500" cy="214312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1343025" y="5884069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1343025" y="5919788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1343025" y="5991225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659255" y="57597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数据存储层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664018" y="60669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持久化与缓存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3733800" y="5695950"/>
              <a:ext cx="24003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4" name="TextBox 94"/>
            <p:cNvSpPr txBox="1"/>
            <p:nvPr/>
          </p:nvSpPr>
          <p:spPr>
            <a:xfrm>
              <a:off x="3910012" y="5841206"/>
              <a:ext cx="524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MySQL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3911918" y="6066949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 / 题目 / 学习记录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86500" y="5695950"/>
              <a:ext cx="24003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7" name="TextBox 97"/>
            <p:cNvSpPr txBox="1"/>
            <p:nvPr/>
          </p:nvSpPr>
          <p:spPr>
            <a:xfrm>
              <a:off x="6462712" y="5841206"/>
              <a:ext cx="4223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464618" y="6066949"/>
              <a:ext cx="1448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画像缓存 · 命中率 &gt; 80%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839200" y="5695950"/>
              <a:ext cx="2590800" cy="590550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00" name="TextBox 100"/>
            <p:cNvSpPr txBox="1"/>
            <p:nvPr/>
          </p:nvSpPr>
          <p:spPr>
            <a:xfrm>
              <a:off x="9015412" y="5841206"/>
              <a:ext cx="1083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知识图谱 JSON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017318" y="606694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前置依赖图 + 内存图</a:t>
              </a:r>
            </a:p>
          </p:txBody>
        </p:sp>
      </p:grpSp>
      <p:sp>
        <p:nvSpPr>
          <p:cNvPr id="103" name="TextBox 103"/>
          <p:cNvSpPr txBox="1"/>
          <p:nvPr/>
        </p:nvSpPr>
        <p:spPr>
          <a:xfrm>
            <a:off x="11468957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AA5B1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5" grpId="0"/>
      <p:bldP spid="64" grpId="0"/>
      <p:bldP spid="83" grpId="0"/>
      <p:bldP spid="10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工程实现技术栈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35271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成熟稳定的主流技术栈，兼顾开发效率、性能与可维护性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03 技术融合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67" name="Group 67"/>
          <p:cNvGrpSpPr/>
          <p:nvPr/>
        </p:nvGrpSpPr>
        <p:grpSpPr>
          <a:xfrm>
            <a:off x="609600" y="1428750"/>
            <a:ext cx="5334000" cy="3676650"/>
            <a:chOff x="609600" y="1428750"/>
            <a:chExt cx="5334000" cy="36766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5334000" cy="3676650"/>
            </a:xfrm>
            <a:prstGeom prst="roundRect">
              <a:avLst>
                <a:gd name="adj" fmla="val 414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525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609600" y="1428750"/>
              <a:ext cx="5334000" cy="590550"/>
            </a:xfrm>
            <a:prstGeom prst="roundRect">
              <a:avLst>
                <a:gd name="adj" fmla="val 25806"/>
              </a:avLst>
            </a:prstGeom>
            <a:solidFill>
              <a:srgbClr val="0E2E5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33550"/>
              <a:ext cx="5334000" cy="285750"/>
            </a:xfrm>
            <a:prstGeom prst="rect">
              <a:avLst/>
            </a:prstGeom>
            <a:solidFill>
              <a:srgbClr val="0E2E5C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12019" y="1628775"/>
              <a:ext cx="214312" cy="190500"/>
              <a:chOff x="912019" y="1628775"/>
              <a:chExt cx="214312" cy="1905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12019" y="162877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59531"/>
                    </a:lnTo>
                    <a:cubicBezTo>
                      <a:pt x="214312" y="79258"/>
                      <a:pt x="198321" y="95250"/>
                      <a:pt x="178594" y="95250"/>
                    </a:cubicBezTo>
                    <a:lnTo>
                      <a:pt x="35719" y="95250"/>
                    </a:lnTo>
                    <a:cubicBezTo>
                      <a:pt x="15992" y="95250"/>
                      <a:pt x="0" y="79258"/>
                      <a:pt x="0" y="59531"/>
                    </a:cubicBez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2019" y="172402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59531"/>
                    </a:lnTo>
                    <a:cubicBezTo>
                      <a:pt x="214312" y="79258"/>
                      <a:pt x="198321" y="95250"/>
                      <a:pt x="178594" y="95250"/>
                    </a:cubicBezTo>
                    <a:lnTo>
                      <a:pt x="35719" y="95250"/>
                    </a:lnTo>
                    <a:cubicBezTo>
                      <a:pt x="15992" y="95250"/>
                      <a:pt x="0" y="79258"/>
                      <a:pt x="0" y="59531"/>
                    </a:cubicBezTo>
                    <a:lnTo>
                      <a:pt x="0" y="35719"/>
                    </a:ln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59644" y="1676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59644" y="1771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38250" y="16478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后端 · Backend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876300" y="2286000"/>
              <a:ext cx="4572000" cy="1333500"/>
              <a:chOff x="876300" y="2286000"/>
              <a:chExt cx="4572000" cy="1333500"/>
            </a:xfrm>
          </p:grpSpPr>
          <p:grpSp>
            <p:nvGrpSpPr>
              <p:cNvPr id="21" name="Group 21"/>
              <p:cNvGrpSpPr/>
              <p:nvPr/>
            </p:nvGrpSpPr>
            <p:grpSpPr>
              <a:xfrm>
                <a:off x="876300" y="2286000"/>
                <a:ext cx="2209800" cy="381000"/>
                <a:chOff x="876300" y="2286000"/>
                <a:chExt cx="2209800" cy="381000"/>
              </a:xfrm>
            </p:grpSpPr>
            <p:sp>
              <p:nvSpPr>
                <p:cNvPr id="18" name="Rectangle 18"/>
                <p:cNvSpPr/>
                <p:nvPr/>
              </p:nvSpPr>
              <p:spPr>
                <a:xfrm>
                  <a:off x="876300" y="2286000"/>
                  <a:ext cx="22098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4F7FB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19" name="Ellipse 19"/>
                <p:cNvSpPr/>
                <p:nvPr/>
              </p:nvSpPr>
              <p:spPr>
                <a:xfrm>
                  <a:off x="1028700" y="2438400"/>
                  <a:ext cx="76200" cy="76200"/>
                </a:xfrm>
                <a:prstGeom prst="ellipse">
                  <a:avLst/>
                </a:prstGeom>
                <a:solidFill>
                  <a:srgbClr val="0E2E5C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204912" y="2412206"/>
                  <a:ext cx="556266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Java 17</a:t>
                  </a: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3238500" y="2286000"/>
                <a:ext cx="2209800" cy="381000"/>
                <a:chOff x="3238500" y="2286000"/>
                <a:chExt cx="2209800" cy="381000"/>
              </a:xfrm>
            </p:grpSpPr>
            <p:sp>
              <p:nvSpPr>
                <p:cNvPr id="22" name="Rectangle 22"/>
                <p:cNvSpPr/>
                <p:nvPr/>
              </p:nvSpPr>
              <p:spPr>
                <a:xfrm>
                  <a:off x="3238500" y="2286000"/>
                  <a:ext cx="22098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4F7FB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23" name="Ellipse 23"/>
                <p:cNvSpPr/>
                <p:nvPr/>
              </p:nvSpPr>
              <p:spPr>
                <a:xfrm>
                  <a:off x="3390900" y="2438400"/>
                  <a:ext cx="76200" cy="76200"/>
                </a:xfrm>
                <a:prstGeom prst="ellipse">
                  <a:avLst/>
                </a:prstGeom>
                <a:solidFill>
                  <a:srgbClr val="0E2E5C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567112" y="2412206"/>
                  <a:ext cx="1209973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Spring Boot 2.7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876300" y="2762250"/>
                <a:ext cx="2209800" cy="381000"/>
                <a:chOff x="876300" y="2762250"/>
                <a:chExt cx="2209800" cy="381000"/>
              </a:xfrm>
            </p:grpSpPr>
            <p:sp>
              <p:nvSpPr>
                <p:cNvPr id="26" name="Rectangle 26"/>
                <p:cNvSpPr/>
                <p:nvPr/>
              </p:nvSpPr>
              <p:spPr>
                <a:xfrm>
                  <a:off x="876300" y="2762250"/>
                  <a:ext cx="22098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4F7FB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27" name="Ellipse 27"/>
                <p:cNvSpPr/>
                <p:nvPr/>
              </p:nvSpPr>
              <p:spPr>
                <a:xfrm>
                  <a:off x="1028700" y="2914650"/>
                  <a:ext cx="76200" cy="76200"/>
                </a:xfrm>
                <a:prstGeom prst="ellipse">
                  <a:avLst/>
                </a:prstGeom>
                <a:solidFill>
                  <a:srgbClr val="0E2E5C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204912" y="2888456"/>
                  <a:ext cx="1209973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JPA / Hibernate</a:t>
                  </a: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3238500" y="2762250"/>
                <a:ext cx="2209800" cy="381000"/>
                <a:chOff x="3238500" y="2762250"/>
                <a:chExt cx="2209800" cy="381000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3238500" y="2762250"/>
                  <a:ext cx="22098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4F7FB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3390900" y="2914650"/>
                  <a:ext cx="76200" cy="76200"/>
                </a:xfrm>
                <a:prstGeom prst="ellipse">
                  <a:avLst/>
                </a:prstGeom>
                <a:solidFill>
                  <a:srgbClr val="0E2E5C"/>
                </a:soli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3567112" y="2888456"/>
                  <a:ext cx="1682532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Spring Security + JWT</a:t>
                  </a:r>
                </a:p>
              </p:txBody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876300" y="3238500"/>
                <a:ext cx="2209800" cy="381000"/>
                <a:chOff x="876300" y="3238500"/>
                <a:chExt cx="2209800" cy="381000"/>
              </a:xfrm>
            </p:grpSpPr>
            <p:sp>
              <p:nvSpPr>
                <p:cNvPr id="34" name="Rectangle 34"/>
                <p:cNvSpPr/>
                <p:nvPr/>
              </p:nvSpPr>
              <p:spPr>
                <a:xfrm>
                  <a:off x="876300" y="3238500"/>
                  <a:ext cx="22098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4F7FB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35" name="Ellipse 35"/>
                <p:cNvSpPr/>
                <p:nvPr/>
              </p:nvSpPr>
              <p:spPr>
                <a:xfrm>
                  <a:off x="1028700" y="3390900"/>
                  <a:ext cx="76200" cy="76200"/>
                </a:xfrm>
                <a:prstGeom prst="ellipse">
                  <a:avLst/>
                </a:prstGeom>
                <a:solidFill>
                  <a:srgbClr val="0E2E5C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204912" y="3364706"/>
                  <a:ext cx="579894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OkHttp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3238500" y="3238500"/>
                <a:ext cx="2209800" cy="381000"/>
                <a:chOff x="3238500" y="3238500"/>
                <a:chExt cx="2209800" cy="381000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3238500" y="3238500"/>
                  <a:ext cx="22098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4F7FB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39" name="Ellipse 39"/>
                <p:cNvSpPr/>
                <p:nvPr/>
              </p:nvSpPr>
              <p:spPr>
                <a:xfrm>
                  <a:off x="3390900" y="3390900"/>
                  <a:ext cx="76200" cy="76200"/>
                </a:xfrm>
                <a:prstGeom prst="ellipse">
                  <a:avLst/>
                </a:prstGeom>
                <a:solidFill>
                  <a:srgbClr val="0E2E5C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3567112" y="3364706"/>
                  <a:ext cx="902809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LangChain4j</a:t>
                  </a:r>
                </a:p>
              </p:txBody>
            </p:sp>
          </p:grpSp>
        </p:grpSp>
        <p:sp>
          <p:nvSpPr>
            <p:cNvPr id="43" name="TextBox 43"/>
            <p:cNvSpPr txBox="1"/>
            <p:nvPr/>
          </p:nvSpPr>
          <p:spPr>
            <a:xfrm>
              <a:off x="862965" y="3868102"/>
              <a:ext cx="813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6D6"/>
                  </a:solidFill>
                  <a:latin typeface="Arial"/>
                  <a:ea typeface="Microsoft YaHei"/>
                  <a:cs typeface="Arial"/>
                </a:rPr>
                <a:t>数据 · DATA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876300" y="4114800"/>
              <a:ext cx="1428750" cy="723900"/>
              <a:chOff x="876300" y="4114800"/>
              <a:chExt cx="1428750" cy="7239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76300" y="4114800"/>
                <a:ext cx="1428750" cy="723900"/>
              </a:xfrm>
              <a:prstGeom prst="roundRect">
                <a:avLst>
                  <a:gd name="adj" fmla="val 13158"/>
                </a:avLst>
              </a:prstGeom>
              <a:solidFill>
                <a:srgbClr val="E2F4FA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1069975" y="4279106"/>
                <a:ext cx="165100" cy="185738"/>
                <a:chOff x="1069975" y="4279106"/>
                <a:chExt cx="165100" cy="185738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1069975" y="4279106"/>
                  <a:ext cx="165100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61912">
                      <a:moveTo>
                        <a:pt x="0" y="30956"/>
                      </a:moveTo>
                      <a:cubicBezTo>
                        <a:pt x="0" y="48053"/>
                        <a:pt x="36959" y="61912"/>
                        <a:pt x="82550" y="61912"/>
                      </a:cubicBezTo>
                      <a:cubicBezTo>
                        <a:pt x="128141" y="61912"/>
                        <a:pt x="165100" y="48053"/>
                        <a:pt x="165100" y="30956"/>
                      </a:cubicBezTo>
                      <a:cubicBezTo>
                        <a:pt x="165100" y="13860"/>
                        <a:pt x="128141" y="0"/>
                        <a:pt x="82550" y="0"/>
                      </a:cubicBezTo>
                      <a:cubicBezTo>
                        <a:pt x="36959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1069975" y="4310062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069975" y="4371975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1014412" y="4564856"/>
                <a:ext cx="524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MySQL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2438400" y="4114800"/>
              <a:ext cx="1428750" cy="764381"/>
              <a:chOff x="2438400" y="4114800"/>
              <a:chExt cx="1428750" cy="764381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2438400" y="4114800"/>
                <a:ext cx="1428750" cy="723900"/>
              </a:xfrm>
              <a:prstGeom prst="roundRect">
                <a:avLst>
                  <a:gd name="adj" fmla="val 13158"/>
                </a:avLst>
              </a:prstGeom>
              <a:solidFill>
                <a:srgbClr val="E2F4FA"/>
              </a:solidFill>
              <a:ln>
                <a:noFill/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2632075" y="4279106"/>
                <a:ext cx="165100" cy="185738"/>
                <a:chOff x="2632075" y="4279106"/>
                <a:chExt cx="165100" cy="185738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2632075" y="4279106"/>
                  <a:ext cx="165100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61912">
                      <a:moveTo>
                        <a:pt x="0" y="30956"/>
                      </a:moveTo>
                      <a:cubicBezTo>
                        <a:pt x="0" y="48053"/>
                        <a:pt x="36959" y="61912"/>
                        <a:pt x="82550" y="61912"/>
                      </a:cubicBezTo>
                      <a:cubicBezTo>
                        <a:pt x="128141" y="61912"/>
                        <a:pt x="165100" y="48053"/>
                        <a:pt x="165100" y="30956"/>
                      </a:cubicBezTo>
                      <a:cubicBezTo>
                        <a:pt x="165100" y="13860"/>
                        <a:pt x="128141" y="0"/>
                        <a:pt x="82550" y="0"/>
                      </a:cubicBezTo>
                      <a:cubicBezTo>
                        <a:pt x="36959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2632075" y="4310062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2632075" y="4371975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00A6D6"/>
                  </a:solidFill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2576512" y="4507706"/>
                <a:ext cx="4223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Redis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2580322" y="4711541"/>
                <a:ext cx="92306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画像缓存·SSE保活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4000500" y="4114800"/>
              <a:ext cx="1447800" cy="764381"/>
              <a:chOff x="4000500" y="4114800"/>
              <a:chExt cx="1447800" cy="764381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4000500" y="4114800"/>
                <a:ext cx="1447800" cy="723900"/>
              </a:xfrm>
              <a:prstGeom prst="roundRect">
                <a:avLst>
                  <a:gd name="adj" fmla="val 13158"/>
                </a:avLst>
              </a:prstGeom>
              <a:solidFill>
                <a:srgbClr val="F4F7FB"/>
              </a:solidFill>
              <a:ln w="9525">
                <a:solidFill>
                  <a:srgbClr val="E2E8F0"/>
                </a:solidFill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4194175" y="4279106"/>
                <a:ext cx="165100" cy="185738"/>
                <a:chOff x="4194175" y="4279106"/>
                <a:chExt cx="165100" cy="185738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4194175" y="4279106"/>
                  <a:ext cx="165100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61912">
                      <a:moveTo>
                        <a:pt x="0" y="30956"/>
                      </a:moveTo>
                      <a:cubicBezTo>
                        <a:pt x="0" y="48053"/>
                        <a:pt x="36959" y="61912"/>
                        <a:pt x="82550" y="61912"/>
                      </a:cubicBezTo>
                      <a:cubicBezTo>
                        <a:pt x="128141" y="61912"/>
                        <a:pt x="165100" y="48053"/>
                        <a:pt x="165100" y="30956"/>
                      </a:cubicBezTo>
                      <a:cubicBezTo>
                        <a:pt x="165100" y="13860"/>
                        <a:pt x="128141" y="0"/>
                        <a:pt x="82550" y="0"/>
                      </a:cubicBezTo>
                      <a:cubicBezTo>
                        <a:pt x="36959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19050">
                  <a:solidFill>
                    <a:srgbClr val="9AA5B1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194175" y="4310062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9AA5B1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4194175" y="4371975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9AA5B1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4138612" y="4507706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Milvus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4142422" y="471154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可选向量库</a:t>
                </a:r>
              </a:p>
            </p:txBody>
          </p:sp>
        </p:grpSp>
      </p:grpSp>
      <p:grpSp>
        <p:nvGrpSpPr>
          <p:cNvPr id="127" name="Group 127"/>
          <p:cNvGrpSpPr/>
          <p:nvPr/>
        </p:nvGrpSpPr>
        <p:grpSpPr>
          <a:xfrm>
            <a:off x="6248400" y="1428750"/>
            <a:ext cx="5334000" cy="3676650"/>
            <a:chOff x="6248400" y="1428750"/>
            <a:chExt cx="5334000" cy="3676650"/>
          </a:xfrm>
        </p:grpSpPr>
        <p:sp>
          <p:nvSpPr>
            <p:cNvPr id="68" name="Rectangle 68"/>
            <p:cNvSpPr/>
            <p:nvPr/>
          </p:nvSpPr>
          <p:spPr>
            <a:xfrm>
              <a:off x="6248400" y="1428750"/>
              <a:ext cx="5334000" cy="3676650"/>
            </a:xfrm>
            <a:prstGeom prst="roundRect">
              <a:avLst>
                <a:gd name="adj" fmla="val 414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5250"/>
                </a:srgbClr>
              </a:outerShdw>
            </a:effectLst>
          </p:spPr>
        </p:sp>
        <p:sp>
          <p:nvSpPr>
            <p:cNvPr id="69" name="Rectangle 69"/>
            <p:cNvSpPr/>
            <p:nvPr/>
          </p:nvSpPr>
          <p:spPr>
            <a:xfrm>
              <a:off x="6248400" y="1428750"/>
              <a:ext cx="5334000" cy="590550"/>
            </a:xfrm>
            <a:prstGeom prst="roundRect">
              <a:avLst>
                <a:gd name="adj" fmla="val 25806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48400" y="1733550"/>
              <a:ext cx="5334000" cy="285750"/>
            </a:xfrm>
            <a:prstGeom prst="rect">
              <a:avLst/>
            </a:prstGeom>
            <a:solidFill>
              <a:srgbClr val="00A6D6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550819" y="1628775"/>
              <a:ext cx="214312" cy="200025"/>
              <a:chOff x="6550819" y="1628775"/>
              <a:chExt cx="214312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550819" y="1628775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202406" y="0"/>
                    </a:lnTo>
                    <a:cubicBezTo>
                      <a:pt x="208982" y="0"/>
                      <a:pt x="214312" y="5331"/>
                      <a:pt x="214312" y="11906"/>
                    </a:cubicBezTo>
                    <a:lnTo>
                      <a:pt x="214312" y="130969"/>
                    </a:lnTo>
                    <a:cubicBezTo>
                      <a:pt x="214312" y="137544"/>
                      <a:pt x="208982" y="142875"/>
                      <a:pt x="202406" y="142875"/>
                    </a:cubicBezTo>
                    <a:lnTo>
                      <a:pt x="11906" y="142875"/>
                    </a:lnTo>
                    <a:cubicBezTo>
                      <a:pt x="5331" y="142875"/>
                      <a:pt x="0" y="137544"/>
                      <a:pt x="0" y="130969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598444" y="1819275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622256" y="17716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693694" y="17716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877050" y="1647825"/>
              <a:ext cx="16237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前端 · Frontend</a:t>
              </a:r>
            </a:p>
          </p:txBody>
        </p:sp>
        <p:grpSp>
          <p:nvGrpSpPr>
            <p:cNvPr id="101" name="Group 101"/>
            <p:cNvGrpSpPr/>
            <p:nvPr/>
          </p:nvGrpSpPr>
          <p:grpSpPr>
            <a:xfrm>
              <a:off x="6515100" y="2286000"/>
              <a:ext cx="4572000" cy="1333500"/>
              <a:chOff x="6515100" y="2286000"/>
              <a:chExt cx="4572000" cy="1333500"/>
            </a:xfrm>
          </p:grpSpPr>
          <p:grpSp>
            <p:nvGrpSpPr>
              <p:cNvPr id="80" name="Group 80"/>
              <p:cNvGrpSpPr/>
              <p:nvPr/>
            </p:nvGrpSpPr>
            <p:grpSpPr>
              <a:xfrm>
                <a:off x="6515100" y="2286000"/>
                <a:ext cx="2209800" cy="381000"/>
                <a:chOff x="6515100" y="2286000"/>
                <a:chExt cx="2209800" cy="381000"/>
              </a:xfrm>
            </p:grpSpPr>
            <p:sp>
              <p:nvSpPr>
                <p:cNvPr id="77" name="Rectangle 77"/>
                <p:cNvSpPr/>
                <p:nvPr/>
              </p:nvSpPr>
              <p:spPr>
                <a:xfrm>
                  <a:off x="6515100" y="2286000"/>
                  <a:ext cx="22098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4F7FB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78" name="Ellipse 78"/>
                <p:cNvSpPr/>
                <p:nvPr/>
              </p:nvSpPr>
              <p:spPr>
                <a:xfrm>
                  <a:off x="6667500" y="2438400"/>
                  <a:ext cx="76200" cy="76200"/>
                </a:xfrm>
                <a:prstGeom prst="ellipse">
                  <a:avLst/>
                </a:prstGeom>
                <a:solidFill>
                  <a:srgbClr val="00A6D6"/>
                </a:solidFill>
                <a:ln>
                  <a:noFill/>
                </a:ln>
              </p:spPr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6843712" y="2412206"/>
                  <a:ext cx="422374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Vue 3</a:t>
                  </a:r>
                </a:p>
              </p:txBody>
            </p:sp>
          </p:grpSp>
          <p:grpSp>
            <p:nvGrpSpPr>
              <p:cNvPr id="84" name="Group 84"/>
              <p:cNvGrpSpPr/>
              <p:nvPr/>
            </p:nvGrpSpPr>
            <p:grpSpPr>
              <a:xfrm>
                <a:off x="8877300" y="2286000"/>
                <a:ext cx="2209800" cy="381000"/>
                <a:chOff x="8877300" y="2286000"/>
                <a:chExt cx="2209800" cy="381000"/>
              </a:xfrm>
            </p:grpSpPr>
            <p:sp>
              <p:nvSpPr>
                <p:cNvPr id="81" name="Rectangle 81"/>
                <p:cNvSpPr/>
                <p:nvPr/>
              </p:nvSpPr>
              <p:spPr>
                <a:xfrm>
                  <a:off x="8877300" y="2286000"/>
                  <a:ext cx="22098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4F7FB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82" name="Ellipse 82"/>
                <p:cNvSpPr/>
                <p:nvPr/>
              </p:nvSpPr>
              <p:spPr>
                <a:xfrm>
                  <a:off x="9029700" y="2438400"/>
                  <a:ext cx="76200" cy="76200"/>
                </a:xfrm>
                <a:prstGeom prst="ellipse">
                  <a:avLst/>
                </a:prstGeom>
                <a:solidFill>
                  <a:srgbClr val="00A6D6"/>
                </a:solidFill>
                <a:ln>
                  <a:noFill/>
                </a:ln>
              </p:spPr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9205912" y="2412206"/>
                  <a:ext cx="335738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Vite</a:t>
                  </a:r>
                </a:p>
              </p:txBody>
            </p:sp>
          </p:grpSp>
          <p:grpSp>
            <p:nvGrpSpPr>
              <p:cNvPr id="88" name="Group 88"/>
              <p:cNvGrpSpPr/>
              <p:nvPr/>
            </p:nvGrpSpPr>
            <p:grpSpPr>
              <a:xfrm>
                <a:off x="6515100" y="2762250"/>
                <a:ext cx="2209800" cy="381000"/>
                <a:chOff x="6515100" y="2762250"/>
                <a:chExt cx="2209800" cy="381000"/>
              </a:xfrm>
            </p:grpSpPr>
            <p:sp>
              <p:nvSpPr>
                <p:cNvPr id="85" name="Rectangle 85"/>
                <p:cNvSpPr/>
                <p:nvPr/>
              </p:nvSpPr>
              <p:spPr>
                <a:xfrm>
                  <a:off x="6515100" y="2762250"/>
                  <a:ext cx="22098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4F7FB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86" name="Ellipse 86"/>
                <p:cNvSpPr/>
                <p:nvPr/>
              </p:nvSpPr>
              <p:spPr>
                <a:xfrm>
                  <a:off x="6667500" y="2914650"/>
                  <a:ext cx="76200" cy="76200"/>
                </a:xfrm>
                <a:prstGeom prst="ellipse">
                  <a:avLst/>
                </a:prstGeom>
                <a:solidFill>
                  <a:srgbClr val="00A6D6"/>
                </a:solidFill>
                <a:ln>
                  <a:noFill/>
                </a:ln>
              </p:spPr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6843712" y="2888456"/>
                  <a:ext cx="855553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TypeScript</a:t>
                  </a:r>
                </a:p>
              </p:txBody>
            </p:sp>
          </p:grpSp>
          <p:grpSp>
            <p:nvGrpSpPr>
              <p:cNvPr id="92" name="Group 92"/>
              <p:cNvGrpSpPr/>
              <p:nvPr/>
            </p:nvGrpSpPr>
            <p:grpSpPr>
              <a:xfrm>
                <a:off x="8877300" y="2762250"/>
                <a:ext cx="2209800" cy="381000"/>
                <a:chOff x="8877300" y="2762250"/>
                <a:chExt cx="2209800" cy="381000"/>
              </a:xfrm>
            </p:grpSpPr>
            <p:sp>
              <p:nvSpPr>
                <p:cNvPr id="89" name="Rectangle 89"/>
                <p:cNvSpPr/>
                <p:nvPr/>
              </p:nvSpPr>
              <p:spPr>
                <a:xfrm>
                  <a:off x="8877300" y="2762250"/>
                  <a:ext cx="22098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4F7FB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90" name="Ellipse 90"/>
                <p:cNvSpPr/>
                <p:nvPr/>
              </p:nvSpPr>
              <p:spPr>
                <a:xfrm>
                  <a:off x="9029700" y="2914650"/>
                  <a:ext cx="76200" cy="76200"/>
                </a:xfrm>
                <a:prstGeom prst="ellipse">
                  <a:avLst/>
                </a:prstGeom>
                <a:solidFill>
                  <a:srgbClr val="00A6D6"/>
                </a:solidFill>
                <a:ln>
                  <a:noFill/>
                </a:ln>
              </p:spPr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9205912" y="2888456"/>
                  <a:ext cx="855553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Vue Router</a:t>
                  </a:r>
                </a:p>
              </p:txBody>
            </p:sp>
          </p:grpSp>
          <p:grpSp>
            <p:nvGrpSpPr>
              <p:cNvPr id="96" name="Group 96"/>
              <p:cNvGrpSpPr/>
              <p:nvPr/>
            </p:nvGrpSpPr>
            <p:grpSpPr>
              <a:xfrm>
                <a:off x="6515100" y="3238500"/>
                <a:ext cx="2209800" cy="381000"/>
                <a:chOff x="6515100" y="3238500"/>
                <a:chExt cx="2209800" cy="381000"/>
              </a:xfrm>
            </p:grpSpPr>
            <p:sp>
              <p:nvSpPr>
                <p:cNvPr id="93" name="Rectangle 93"/>
                <p:cNvSpPr/>
                <p:nvPr/>
              </p:nvSpPr>
              <p:spPr>
                <a:xfrm>
                  <a:off x="6515100" y="3238500"/>
                  <a:ext cx="22098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4F7FB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94" name="Ellipse 94"/>
                <p:cNvSpPr/>
                <p:nvPr/>
              </p:nvSpPr>
              <p:spPr>
                <a:xfrm>
                  <a:off x="6667500" y="3390900"/>
                  <a:ext cx="76200" cy="76200"/>
                </a:xfrm>
                <a:prstGeom prst="ellipse">
                  <a:avLst/>
                </a:prstGeom>
                <a:solidFill>
                  <a:srgbClr val="00A6D6"/>
                </a:solidFill>
                <a:ln>
                  <a:noFill/>
                </a:ln>
              </p:spPr>
            </p:sp>
            <p:sp>
              <p:nvSpPr>
                <p:cNvPr id="95" name="TextBox 95"/>
                <p:cNvSpPr txBox="1"/>
                <p:nvPr/>
              </p:nvSpPr>
              <p:spPr>
                <a:xfrm>
                  <a:off x="6843712" y="3364706"/>
                  <a:ext cx="422374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Axios</a:t>
                  </a:r>
                </a:p>
              </p:txBody>
            </p:sp>
          </p:grpSp>
          <p:grpSp>
            <p:nvGrpSpPr>
              <p:cNvPr id="100" name="Group 100"/>
              <p:cNvGrpSpPr/>
              <p:nvPr/>
            </p:nvGrpSpPr>
            <p:grpSpPr>
              <a:xfrm>
                <a:off x="8877300" y="3238500"/>
                <a:ext cx="2209800" cy="381000"/>
                <a:chOff x="8877300" y="3238500"/>
                <a:chExt cx="2209800" cy="381000"/>
              </a:xfrm>
            </p:grpSpPr>
            <p:sp>
              <p:nvSpPr>
                <p:cNvPr id="97" name="Rectangle 97"/>
                <p:cNvSpPr/>
                <p:nvPr/>
              </p:nvSpPr>
              <p:spPr>
                <a:xfrm>
                  <a:off x="8877300" y="3238500"/>
                  <a:ext cx="2209800" cy="3810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4F7FB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98" name="Ellipse 98"/>
                <p:cNvSpPr/>
                <p:nvPr/>
              </p:nvSpPr>
              <p:spPr>
                <a:xfrm>
                  <a:off x="9029700" y="3390900"/>
                  <a:ext cx="76200" cy="76200"/>
                </a:xfrm>
                <a:prstGeom prst="ellipse">
                  <a:avLst/>
                </a:prstGeom>
                <a:solidFill>
                  <a:srgbClr val="00A6D6"/>
                </a:solidFill>
                <a:ln>
                  <a:noFill/>
                </a:ln>
              </p:spPr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9205912" y="3364706"/>
                  <a:ext cx="1005197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5" b="1" dirty="0">
                      <a:solidFill>
                        <a:srgbClr val="1F2937"/>
                      </a:solidFill>
                      <a:latin typeface="Arial"/>
                      <a:ea typeface="Microsoft YaHei"/>
                      <a:cs typeface="Arial"/>
                    </a:rPr>
                    <a:t>Markdown-it</a:t>
                  </a:r>
                </a:p>
              </p:txBody>
            </p:sp>
          </p:grpSp>
        </p:grpSp>
        <p:sp>
          <p:nvSpPr>
            <p:cNvPr id="102" name="TextBox 102"/>
            <p:cNvSpPr txBox="1"/>
            <p:nvPr/>
          </p:nvSpPr>
          <p:spPr>
            <a:xfrm>
              <a:off x="6501765" y="3868102"/>
              <a:ext cx="11807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渲染 · RENDERING</a:t>
              </a:r>
            </a:p>
          </p:txBody>
        </p:sp>
        <p:grpSp>
          <p:nvGrpSpPr>
            <p:cNvPr id="112" name="Group 112"/>
            <p:cNvGrpSpPr/>
            <p:nvPr/>
          </p:nvGrpSpPr>
          <p:grpSpPr>
            <a:xfrm>
              <a:off x="6515100" y="4114800"/>
              <a:ext cx="2209800" cy="764381"/>
              <a:chOff x="6515100" y="4114800"/>
              <a:chExt cx="2209800" cy="764381"/>
            </a:xfrm>
          </p:grpSpPr>
          <p:sp>
            <p:nvSpPr>
              <p:cNvPr id="103" name="Rectangle 103"/>
              <p:cNvSpPr/>
              <p:nvPr/>
            </p:nvSpPr>
            <p:spPr>
              <a:xfrm>
                <a:off x="6515100" y="4114800"/>
                <a:ext cx="2209800" cy="723900"/>
              </a:xfrm>
              <a:prstGeom prst="roundRect">
                <a:avLst>
                  <a:gd name="adj" fmla="val 13158"/>
                </a:avLst>
              </a:prstGeom>
              <a:solidFill>
                <a:srgbClr val="FDF1DC"/>
              </a:solidFill>
              <a:ln>
                <a:noFill/>
              </a:ln>
            </p:spPr>
          </p:sp>
          <p:grpSp>
            <p:nvGrpSpPr>
              <p:cNvPr id="109" name="Group 109"/>
              <p:cNvGrpSpPr/>
              <p:nvPr/>
            </p:nvGrpSpPr>
            <p:grpSpPr>
              <a:xfrm>
                <a:off x="6719094" y="4279106"/>
                <a:ext cx="144463" cy="185738"/>
                <a:chOff x="6719094" y="4279106"/>
                <a:chExt cx="144463" cy="185738"/>
              </a:xfrm>
            </p:grpSpPr>
            <p:sp>
              <p:nvSpPr>
                <p:cNvPr id="104" name="Freeform 104"/>
                <p:cNvSpPr/>
                <p:nvPr/>
              </p:nvSpPr>
              <p:spPr>
                <a:xfrm>
                  <a:off x="6719094" y="4299744"/>
                  <a:ext cx="144463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165100">
                      <a:moveTo>
                        <a:pt x="41275" y="0"/>
                      </a:moveTo>
                      <a:lnTo>
                        <a:pt x="20638" y="0"/>
                      </a:lnTo>
                      <a:cubicBezTo>
                        <a:pt x="9240" y="0"/>
                        <a:pt x="0" y="9240"/>
                        <a:pt x="0" y="20637"/>
                      </a:cubicBezTo>
                      <a:lnTo>
                        <a:pt x="0" y="144462"/>
                      </a:lnTo>
                      <a:cubicBezTo>
                        <a:pt x="0" y="155860"/>
                        <a:pt x="9240" y="165100"/>
                        <a:pt x="20638" y="165100"/>
                      </a:cubicBezTo>
                      <a:lnTo>
                        <a:pt x="123825" y="165100"/>
                      </a:lnTo>
                      <a:cubicBezTo>
                        <a:pt x="135223" y="165100"/>
                        <a:pt x="144463" y="155860"/>
                        <a:pt x="144463" y="144462"/>
                      </a:cubicBezTo>
                      <a:lnTo>
                        <a:pt x="144463" y="20637"/>
                      </a:lnTo>
                      <a:cubicBezTo>
                        <a:pt x="144463" y="9240"/>
                        <a:pt x="135223" y="0"/>
                        <a:pt x="123825" y="0"/>
                      </a:cubicBezTo>
                      <a:lnTo>
                        <a:pt x="103188" y="0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105" name="Freeform 105"/>
                <p:cNvSpPr/>
                <p:nvPr/>
              </p:nvSpPr>
              <p:spPr>
                <a:xfrm>
                  <a:off x="6760369" y="4279106"/>
                  <a:ext cx="61912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41275">
                      <a:moveTo>
                        <a:pt x="0" y="20638"/>
                      </a:moveTo>
                      <a:cubicBezTo>
                        <a:pt x="0" y="9240"/>
                        <a:pt x="9240" y="0"/>
                        <a:pt x="20637" y="0"/>
                      </a:cubicBezTo>
                      <a:lnTo>
                        <a:pt x="41275" y="0"/>
                      </a:lnTo>
                      <a:cubicBezTo>
                        <a:pt x="52673" y="0"/>
                        <a:pt x="61912" y="9240"/>
                        <a:pt x="61912" y="20638"/>
                      </a:cubicBezTo>
                      <a:cubicBezTo>
                        <a:pt x="61912" y="32035"/>
                        <a:pt x="52673" y="41275"/>
                        <a:pt x="41275" y="41275"/>
                      </a:cubicBezTo>
                      <a:lnTo>
                        <a:pt x="20637" y="41275"/>
                      </a:lnTo>
                      <a:cubicBezTo>
                        <a:pt x="9240" y="41275"/>
                        <a:pt x="0" y="32035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106" name="Freeform 106"/>
                <p:cNvSpPr/>
                <p:nvPr/>
              </p:nvSpPr>
              <p:spPr>
                <a:xfrm>
                  <a:off x="6760369" y="4371975"/>
                  <a:ext cx="9525" cy="51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1594">
                      <a:moveTo>
                        <a:pt x="0" y="5159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107" name="Freeform 107"/>
                <p:cNvSpPr/>
                <p:nvPr/>
              </p:nvSpPr>
              <p:spPr>
                <a:xfrm>
                  <a:off x="6791325" y="4413250"/>
                  <a:ext cx="9525" cy="10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319">
                      <a:moveTo>
                        <a:pt x="0" y="1031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108" name="Freeform 108"/>
                <p:cNvSpPr/>
                <p:nvPr/>
              </p:nvSpPr>
              <p:spPr>
                <a:xfrm>
                  <a:off x="6822281" y="4392612"/>
                  <a:ext cx="952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956">
                      <a:moveTo>
                        <a:pt x="0" y="3095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</p:grpSp>
          <p:sp>
            <p:nvSpPr>
              <p:cNvPr id="110" name="TextBox 110"/>
              <p:cNvSpPr txBox="1"/>
              <p:nvPr/>
            </p:nvSpPr>
            <p:spPr>
              <a:xfrm>
                <a:off x="6653212" y="4507706"/>
                <a:ext cx="4617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KaTeX</a:t>
                </a: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6657022" y="471154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数学公式渲染</a:t>
                </a: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8877300" y="4114800"/>
              <a:ext cx="2209800" cy="764381"/>
              <a:chOff x="8877300" y="4114800"/>
              <a:chExt cx="2209800" cy="764381"/>
            </a:xfrm>
          </p:grpSpPr>
          <p:sp>
            <p:nvSpPr>
              <p:cNvPr id="113" name="Rectangle 113"/>
              <p:cNvSpPr/>
              <p:nvPr/>
            </p:nvSpPr>
            <p:spPr>
              <a:xfrm>
                <a:off x="8877300" y="4114800"/>
                <a:ext cx="2209800" cy="723900"/>
              </a:xfrm>
              <a:prstGeom prst="roundRect">
                <a:avLst>
                  <a:gd name="adj" fmla="val 13158"/>
                </a:avLst>
              </a:prstGeom>
              <a:solidFill>
                <a:srgbClr val="FDF1DC"/>
              </a:solidFill>
              <a:ln>
                <a:noFill/>
              </a:ln>
            </p:spPr>
          </p:sp>
          <p:grpSp>
            <p:nvGrpSpPr>
              <p:cNvPr id="123" name="Group 123"/>
              <p:cNvGrpSpPr/>
              <p:nvPr/>
            </p:nvGrpSpPr>
            <p:grpSpPr>
              <a:xfrm>
                <a:off x="9070975" y="4289425"/>
                <a:ext cx="165100" cy="165100"/>
                <a:chOff x="9070975" y="4289425"/>
                <a:chExt cx="165100" cy="165100"/>
              </a:xfrm>
            </p:grpSpPr>
            <p:sp>
              <p:nvSpPr>
                <p:cNvPr id="114" name="Freeform 114"/>
                <p:cNvSpPr/>
                <p:nvPr/>
              </p:nvSpPr>
              <p:spPr>
                <a:xfrm>
                  <a:off x="9070975" y="4413250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41275" y="20638"/>
                      </a:move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115" name="Freeform 115"/>
                <p:cNvSpPr/>
                <p:nvPr/>
              </p:nvSpPr>
              <p:spPr>
                <a:xfrm>
                  <a:off x="9194800" y="4289425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41275" y="20638"/>
                      </a:move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116" name="Freeform 116"/>
                <p:cNvSpPr/>
                <p:nvPr/>
              </p:nvSpPr>
              <p:spPr>
                <a:xfrm>
                  <a:off x="9070975" y="4289425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41275" y="20638"/>
                      </a:move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117" name="Freeform 117"/>
                <p:cNvSpPr/>
                <p:nvPr/>
              </p:nvSpPr>
              <p:spPr>
                <a:xfrm>
                  <a:off x="9194800" y="4413250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41275" y="20638"/>
                      </a:move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118" name="Freeform 118"/>
                <p:cNvSpPr/>
                <p:nvPr/>
              </p:nvSpPr>
              <p:spPr>
                <a:xfrm>
                  <a:off x="9132888" y="4351338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41275" y="20638"/>
                      </a:move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119" name="Freeform 119"/>
                <p:cNvSpPr/>
                <p:nvPr/>
              </p:nvSpPr>
              <p:spPr>
                <a:xfrm>
                  <a:off x="9107091" y="4325541"/>
                  <a:ext cx="30956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30956">
                      <a:moveTo>
                        <a:pt x="0" y="0"/>
                      </a:moveTo>
                      <a:lnTo>
                        <a:pt x="30956" y="30956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120" name="Freeform 120"/>
                <p:cNvSpPr/>
                <p:nvPr/>
              </p:nvSpPr>
              <p:spPr>
                <a:xfrm>
                  <a:off x="9107091" y="4387453"/>
                  <a:ext cx="30956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30956">
                      <a:moveTo>
                        <a:pt x="0" y="30956"/>
                      </a:moveTo>
                      <a:lnTo>
                        <a:pt x="30956" y="0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121" name="Freeform 121"/>
                <p:cNvSpPr/>
                <p:nvPr/>
              </p:nvSpPr>
              <p:spPr>
                <a:xfrm>
                  <a:off x="9169003" y="4387453"/>
                  <a:ext cx="30956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30956">
                      <a:moveTo>
                        <a:pt x="0" y="0"/>
                      </a:moveTo>
                      <a:lnTo>
                        <a:pt x="30956" y="30956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  <p:sp>
              <p:nvSpPr>
                <p:cNvPr id="122" name="Freeform 122"/>
                <p:cNvSpPr/>
                <p:nvPr/>
              </p:nvSpPr>
              <p:spPr>
                <a:xfrm>
                  <a:off x="9169003" y="4325541"/>
                  <a:ext cx="30956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30956">
                      <a:moveTo>
                        <a:pt x="30956" y="0"/>
                      </a:moveTo>
                      <a:lnTo>
                        <a:pt x="0" y="30956"/>
                      </a:lnTo>
                    </a:path>
                  </a:pathLst>
                </a:custGeom>
                <a:noFill/>
                <a:ln w="19050">
                  <a:solidFill>
                    <a:srgbClr val="D97706"/>
                  </a:solidFill>
                </a:ln>
              </p:spPr>
            </p:sp>
          </p:grpSp>
          <p:sp>
            <p:nvSpPr>
              <p:cNvPr id="124" name="TextBox 124"/>
              <p:cNvSpPr txBox="1"/>
              <p:nvPr/>
            </p:nvSpPr>
            <p:spPr>
              <a:xfrm>
                <a:off x="9015412" y="4507706"/>
                <a:ext cx="4223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D3.js</a:t>
                </a:r>
              </a:p>
            </p:txBody>
          </p:sp>
          <p:sp>
            <p:nvSpPr>
              <p:cNvPr id="125" name="TextBox 125"/>
              <p:cNvSpPr txBox="1"/>
              <p:nvPr/>
            </p:nvSpPr>
            <p:spPr>
              <a:xfrm>
                <a:off x="9019222" y="4711541"/>
                <a:ext cx="90106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图谱与路径可视化</a:t>
                </a:r>
              </a:p>
            </p:txBody>
          </p:sp>
        </p:grpSp>
      </p:grpSp>
      <p:grpSp>
        <p:nvGrpSpPr>
          <p:cNvPr id="143" name="Group 143"/>
          <p:cNvGrpSpPr/>
          <p:nvPr/>
        </p:nvGrpSpPr>
        <p:grpSpPr>
          <a:xfrm>
            <a:off x="609600" y="5295900"/>
            <a:ext cx="10972800" cy="857250"/>
            <a:chOff x="609600" y="5295900"/>
            <a:chExt cx="10972800" cy="857250"/>
          </a:xfrm>
        </p:grpSpPr>
        <p:sp>
          <p:nvSpPr>
            <p:cNvPr id="128" name="Rectangle 128"/>
            <p:cNvSpPr/>
            <p:nvPr/>
          </p:nvSpPr>
          <p:spPr>
            <a:xfrm>
              <a:off x="609600" y="5295900"/>
              <a:ext cx="10972800" cy="857250"/>
            </a:xfrm>
            <a:prstGeom prst="roundRect">
              <a:avLst>
                <a:gd name="adj" fmla="val 17778"/>
              </a:avLst>
            </a:prstGeom>
            <a:solidFill>
              <a:srgbClr val="0E2E5C"/>
            </a:solidFill>
            <a:ln>
              <a:noFill/>
            </a:ln>
          </p:spPr>
        </p:sp>
        <p:grpSp>
          <p:nvGrpSpPr>
            <p:cNvPr id="131" name="Group 131"/>
            <p:cNvGrpSpPr/>
            <p:nvPr/>
          </p:nvGrpSpPr>
          <p:grpSpPr>
            <a:xfrm>
              <a:off x="946925" y="5614175"/>
              <a:ext cx="239751" cy="239751"/>
              <a:chOff x="946925" y="5614175"/>
              <a:chExt cx="239751" cy="239751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946925" y="5614175"/>
                <a:ext cx="239751" cy="239751"/>
              </a:xfrm>
              <a:custGeom>
                <a:avLst/>
                <a:gdLst/>
                <a:ahLst/>
                <a:cxnLst/>
                <a:rect l="l" t="t" r="r" b="b"/>
                <a:pathLst>
                  <a:path w="239751" h="239751">
                    <a:moveTo>
                      <a:pt x="98603" y="22301"/>
                    </a:moveTo>
                    <a:cubicBezTo>
                      <a:pt x="104013" y="0"/>
                      <a:pt x="135738" y="0"/>
                      <a:pt x="141148" y="22301"/>
                    </a:cubicBezTo>
                    <a:cubicBezTo>
                      <a:pt x="142794" y="29096"/>
                      <a:pt x="147587" y="34697"/>
                      <a:pt x="154047" y="37373"/>
                    </a:cubicBezTo>
                    <a:cubicBezTo>
                      <a:pt x="160506" y="40049"/>
                      <a:pt x="167855" y="39479"/>
                      <a:pt x="173825" y="35839"/>
                    </a:cubicBezTo>
                    <a:cubicBezTo>
                      <a:pt x="193421" y="23901"/>
                      <a:pt x="215862" y="46330"/>
                      <a:pt x="203924" y="65938"/>
                    </a:cubicBezTo>
                    <a:cubicBezTo>
                      <a:pt x="200289" y="71906"/>
                      <a:pt x="199721" y="79249"/>
                      <a:pt x="202394" y="85704"/>
                    </a:cubicBezTo>
                    <a:cubicBezTo>
                      <a:pt x="205067" y="92160"/>
                      <a:pt x="210660" y="96952"/>
                      <a:pt x="217449" y="98603"/>
                    </a:cubicBezTo>
                    <a:cubicBezTo>
                      <a:pt x="239751" y="104013"/>
                      <a:pt x="239751" y="135738"/>
                      <a:pt x="217449" y="141148"/>
                    </a:cubicBezTo>
                    <a:cubicBezTo>
                      <a:pt x="210654" y="142794"/>
                      <a:pt x="205054" y="147587"/>
                      <a:pt x="202378" y="154047"/>
                    </a:cubicBezTo>
                    <a:cubicBezTo>
                      <a:pt x="199702" y="160506"/>
                      <a:pt x="200271" y="167855"/>
                      <a:pt x="203911" y="173825"/>
                    </a:cubicBezTo>
                    <a:cubicBezTo>
                      <a:pt x="215849" y="193421"/>
                      <a:pt x="193421" y="215862"/>
                      <a:pt x="173812" y="203924"/>
                    </a:cubicBezTo>
                    <a:cubicBezTo>
                      <a:pt x="167845" y="200289"/>
                      <a:pt x="160502" y="199721"/>
                      <a:pt x="154046" y="202394"/>
                    </a:cubicBezTo>
                    <a:cubicBezTo>
                      <a:pt x="147591" y="205067"/>
                      <a:pt x="142799" y="210660"/>
                      <a:pt x="141148" y="217449"/>
                    </a:cubicBezTo>
                    <a:cubicBezTo>
                      <a:pt x="135738" y="239751"/>
                      <a:pt x="104013" y="239751"/>
                      <a:pt x="98603" y="217449"/>
                    </a:cubicBezTo>
                    <a:cubicBezTo>
                      <a:pt x="96956" y="210654"/>
                      <a:pt x="92163" y="205054"/>
                      <a:pt x="85704" y="202378"/>
                    </a:cubicBezTo>
                    <a:cubicBezTo>
                      <a:pt x="79245" y="199702"/>
                      <a:pt x="71895" y="200271"/>
                      <a:pt x="65926" y="203911"/>
                    </a:cubicBezTo>
                    <a:cubicBezTo>
                      <a:pt x="46330" y="215849"/>
                      <a:pt x="23889" y="193421"/>
                      <a:pt x="35827" y="173812"/>
                    </a:cubicBezTo>
                    <a:cubicBezTo>
                      <a:pt x="39461" y="167845"/>
                      <a:pt x="40030" y="160502"/>
                      <a:pt x="37357" y="154046"/>
                    </a:cubicBezTo>
                    <a:cubicBezTo>
                      <a:pt x="34684" y="147591"/>
                      <a:pt x="29090" y="142799"/>
                      <a:pt x="22301" y="141148"/>
                    </a:cubicBezTo>
                    <a:cubicBezTo>
                      <a:pt x="0" y="135738"/>
                      <a:pt x="0" y="104013"/>
                      <a:pt x="22301" y="98603"/>
                    </a:cubicBezTo>
                    <a:cubicBezTo>
                      <a:pt x="29096" y="96956"/>
                      <a:pt x="34697" y="92163"/>
                      <a:pt x="37373" y="85704"/>
                    </a:cubicBezTo>
                    <a:cubicBezTo>
                      <a:pt x="40049" y="79245"/>
                      <a:pt x="39479" y="71895"/>
                      <a:pt x="35839" y="65926"/>
                    </a:cubicBezTo>
                    <a:cubicBezTo>
                      <a:pt x="23901" y="46330"/>
                      <a:pt x="46330" y="23889"/>
                      <a:pt x="65938" y="35827"/>
                    </a:cubicBezTo>
                    <a:cubicBezTo>
                      <a:pt x="78638" y="43548"/>
                      <a:pt x="95098" y="36716"/>
                      <a:pt x="98603" y="22301"/>
                    </a:cubicBez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  <p:sp>
            <p:nvSpPr>
              <p:cNvPr id="130" name="Freeform 130"/>
              <p:cNvSpPr/>
              <p:nvPr/>
            </p:nvSpPr>
            <p:spPr>
              <a:xfrm>
                <a:off x="1028700" y="56959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</p:grpSp>
        <p:sp>
          <p:nvSpPr>
            <p:cNvPr id="132" name="TextBox 132"/>
            <p:cNvSpPr txBox="1"/>
            <p:nvPr/>
          </p:nvSpPr>
          <p:spPr>
            <a:xfrm>
              <a:off x="1354455" y="5569268"/>
              <a:ext cx="6958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DevOps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359218" y="5838349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B0D0"/>
                  </a:solidFill>
                  <a:latin typeface="Arial"/>
                  <a:ea typeface="Microsoft YaHei"/>
                  <a:cs typeface="Arial"/>
                </a:rPr>
                <a:t>构建 · 部署 · 运维</a:t>
              </a:r>
            </a:p>
          </p:txBody>
        </p:sp>
        <p:grpSp>
          <p:nvGrpSpPr>
            <p:cNvPr id="142" name="Group 142"/>
            <p:cNvGrpSpPr/>
            <p:nvPr/>
          </p:nvGrpSpPr>
          <p:grpSpPr>
            <a:xfrm>
              <a:off x="3048000" y="5524500"/>
              <a:ext cx="8229600" cy="400050"/>
              <a:chOff x="3048000" y="5524500"/>
              <a:chExt cx="8229600" cy="400050"/>
            </a:xfrm>
          </p:grpSpPr>
          <p:sp>
            <p:nvSpPr>
              <p:cNvPr id="134" name="Rectangle 134"/>
              <p:cNvSpPr/>
              <p:nvPr/>
            </p:nvSpPr>
            <p:spPr>
              <a:xfrm>
                <a:off x="3048000" y="5524500"/>
                <a:ext cx="1809750" cy="40005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3706246" y="5650706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E4EEF8"/>
                    </a:solidFill>
                    <a:latin typeface="Arial"/>
                    <a:ea typeface="Microsoft YaHei"/>
                    <a:cs typeface="Arial"/>
                  </a:rPr>
                  <a:t>Maven</a:t>
                </a:r>
              </a:p>
            </p:txBody>
          </p:sp>
          <p:sp>
            <p:nvSpPr>
              <p:cNvPr id="136" name="Rectangle 136"/>
              <p:cNvSpPr/>
              <p:nvPr/>
            </p:nvSpPr>
            <p:spPr>
              <a:xfrm>
                <a:off x="5029200" y="5524500"/>
                <a:ext cx="2190750" cy="40005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37" name="TextBox 137"/>
              <p:cNvSpPr txBox="1"/>
              <p:nvPr/>
            </p:nvSpPr>
            <p:spPr>
              <a:xfrm>
                <a:off x="5507775" y="5650706"/>
                <a:ext cx="123360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E4EEF8"/>
                    </a:solidFill>
                    <a:latin typeface="Arial"/>
                    <a:ea typeface="Microsoft YaHei"/>
                    <a:cs typeface="Arial"/>
                  </a:rPr>
                  <a:t>Docker Compose</a:t>
                </a:r>
              </a:p>
            </p:txBody>
          </p:sp>
          <p:sp>
            <p:nvSpPr>
              <p:cNvPr id="138" name="Rectangle 138"/>
              <p:cNvSpPr/>
              <p:nvPr/>
            </p:nvSpPr>
            <p:spPr>
              <a:xfrm>
                <a:off x="7391400" y="5524500"/>
                <a:ext cx="1809750" cy="40005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39" name="TextBox 139"/>
              <p:cNvSpPr txBox="1"/>
              <p:nvPr/>
            </p:nvSpPr>
            <p:spPr>
              <a:xfrm>
                <a:off x="8085088" y="5650706"/>
                <a:ext cx="4223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E4EEF8"/>
                    </a:solidFill>
                    <a:latin typeface="Arial"/>
                    <a:ea typeface="Microsoft YaHei"/>
                    <a:cs typeface="Arial"/>
                  </a:rPr>
                  <a:t>Nginx</a:t>
                </a:r>
              </a:p>
            </p:txBody>
          </p:sp>
          <p:sp>
            <p:nvSpPr>
              <p:cNvPr id="140" name="Rectangle 140"/>
              <p:cNvSpPr/>
              <p:nvPr/>
            </p:nvSpPr>
            <p:spPr>
              <a:xfrm>
                <a:off x="9372600" y="5524500"/>
                <a:ext cx="1905000" cy="40005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9854005" y="5650706"/>
                <a:ext cx="9421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E4EEF8"/>
                    </a:solidFill>
                    <a:latin typeface="Arial"/>
                    <a:ea typeface="Microsoft YaHei"/>
                    <a:cs typeface="Arial"/>
                  </a:rPr>
                  <a:t>内嵌 Tomcat</a:t>
                </a:r>
              </a:p>
            </p:txBody>
          </p:sp>
        </p:grpSp>
      </p:grpSp>
      <p:sp>
        <p:nvSpPr>
          <p:cNvPr id="144" name="TextBox 144"/>
          <p:cNvSpPr txBox="1"/>
          <p:nvPr/>
        </p:nvSpPr>
        <p:spPr>
          <a:xfrm>
            <a:off x="11468957" y="651319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AA5B1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127" grpId="0"/>
      <p:bldP spid="1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262472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学生端 · 七大功能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30440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围绕“诊断 → 溯源 → 学习 → 巩固”的完整学习旅程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04 创新价值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609600" y="1409700"/>
            <a:ext cx="2628900" cy="2114550"/>
            <a:chOff x="609600" y="1409700"/>
            <a:chExt cx="2628900" cy="2114550"/>
          </a:xfrm>
        </p:grpSpPr>
        <p:sp>
          <p:nvSpPr>
            <p:cNvPr id="9" name="Rectangle 9"/>
            <p:cNvSpPr/>
            <p:nvPr/>
          </p:nvSpPr>
          <p:spPr>
            <a:xfrm>
              <a:off x="609600" y="1409700"/>
              <a:ext cx="26289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609600" y="1409700"/>
              <a:ext cx="2628900" cy="47625"/>
            </a:xfrm>
            <a:prstGeom prst="roundRect">
              <a:avLst>
                <a:gd name="adj" fmla="val 50000"/>
              </a:avLst>
            </a:prstGeom>
            <a:solidFill>
              <a:srgbClr val="0E2E5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38200" y="167640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AF0F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92981" y="1831181"/>
              <a:ext cx="196056" cy="185738"/>
              <a:chOff x="992981" y="1831181"/>
              <a:chExt cx="196056" cy="18573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92981" y="1841500"/>
                <a:ext cx="113506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113506">
                    <a:moveTo>
                      <a:pt x="30956" y="0"/>
                    </a:moveTo>
                    <a:lnTo>
                      <a:pt x="20638" y="0"/>
                    </a:lnTo>
                    <a:cubicBezTo>
                      <a:pt x="9240" y="0"/>
                      <a:pt x="0" y="9240"/>
                      <a:pt x="0" y="20637"/>
                    </a:cubicBezTo>
                    <a:lnTo>
                      <a:pt x="0" y="56753"/>
                    </a:lnTo>
                    <a:cubicBezTo>
                      <a:pt x="0" y="88097"/>
                      <a:pt x="25409" y="113506"/>
                      <a:pt x="56753" y="113506"/>
                    </a:cubicBezTo>
                    <a:cubicBezTo>
                      <a:pt x="88097" y="113506"/>
                      <a:pt x="113506" y="88097"/>
                      <a:pt x="113506" y="56753"/>
                    </a:cubicBezTo>
                    <a:lnTo>
                      <a:pt x="113506" y="20637"/>
                    </a:lnTo>
                    <a:cubicBezTo>
                      <a:pt x="113506" y="9240"/>
                      <a:pt x="104267" y="0"/>
                      <a:pt x="92869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4575" y="1924050"/>
                <a:ext cx="1238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92869">
                    <a:moveTo>
                      <a:pt x="0" y="30956"/>
                    </a:moveTo>
                    <a:cubicBezTo>
                      <a:pt x="0" y="65150"/>
                      <a:pt x="27719" y="92869"/>
                      <a:pt x="61912" y="92869"/>
                    </a:cubicBezTo>
                    <a:cubicBezTo>
                      <a:pt x="96106" y="92869"/>
                      <a:pt x="123825" y="65150"/>
                      <a:pt x="123825" y="30956"/>
                    </a:cubicBezTo>
                    <a:lnTo>
                      <a:pt x="123825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75531" y="1831181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23938" y="1831181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47762" y="188277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473518" y="1799749"/>
              <a:ext cx="1408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0102" y="23417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诊断测试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865" y="27251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自适应出题、即时答题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865" y="29537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反馈，自动汇总薄弱点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4865" y="31823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与掌握情况。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390900" y="1409700"/>
            <a:ext cx="2628900" cy="2114550"/>
            <a:chOff x="3390900" y="1409700"/>
            <a:chExt cx="2628900" cy="2114550"/>
          </a:xfrm>
        </p:grpSpPr>
        <p:sp>
          <p:nvSpPr>
            <p:cNvPr id="24" name="Rectangle 24"/>
            <p:cNvSpPr/>
            <p:nvPr/>
          </p:nvSpPr>
          <p:spPr>
            <a:xfrm>
              <a:off x="3390900" y="1409700"/>
              <a:ext cx="2628900" cy="2114550"/>
            </a:xfrm>
            <a:prstGeom prst="roundRect">
              <a:avLst>
                <a:gd name="adj" fmla="val 6306"/>
              </a:avLst>
            </a:prstGeom>
            <a:solidFill>
              <a:srgbClr val="FFFCF5"/>
            </a:solidFill>
            <a:ln w="19050">
              <a:solidFill>
                <a:srgbClr val="F5A623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3390900" y="1409700"/>
              <a:ext cx="2628900" cy="47625"/>
            </a:xfrm>
            <a:prstGeom prst="roundRect">
              <a:avLst>
                <a:gd name="adj" fmla="val 50000"/>
              </a:avLst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619500" y="167640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FDF1DC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3774281" y="1831181"/>
              <a:ext cx="185738" cy="185738"/>
              <a:chOff x="3774281" y="1831181"/>
              <a:chExt cx="185738" cy="18573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774281" y="1975644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918744" y="1831181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20637" y="41275"/>
                    </a:move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  <a:cubicBezTo>
                      <a:pt x="0" y="32035"/>
                      <a:pt x="9240" y="41275"/>
                      <a:pt x="20637" y="4127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3794919" y="1851819"/>
                <a:ext cx="154781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44463">
                    <a:moveTo>
                      <a:pt x="61912" y="144463"/>
                    </a:moveTo>
                    <a:lnTo>
                      <a:pt x="118666" y="144463"/>
                    </a:lnTo>
                    <a:cubicBezTo>
                      <a:pt x="138612" y="144463"/>
                      <a:pt x="154781" y="128293"/>
                      <a:pt x="154781" y="108347"/>
                    </a:cubicBezTo>
                    <a:cubicBezTo>
                      <a:pt x="154781" y="88401"/>
                      <a:pt x="138612" y="72231"/>
                      <a:pt x="118666" y="72231"/>
                    </a:cubicBezTo>
                    <a:lnTo>
                      <a:pt x="36116" y="72231"/>
                    </a:lnTo>
                    <a:cubicBezTo>
                      <a:pt x="16170" y="72231"/>
                      <a:pt x="0" y="56062"/>
                      <a:pt x="0" y="36116"/>
                    </a:cubicBezTo>
                    <a:cubicBezTo>
                      <a:pt x="0" y="16170"/>
                      <a:pt x="16170" y="0"/>
                      <a:pt x="36116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254818" y="17997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0AE6A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01402" y="23417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溯源分析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06165" y="27251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薄弱点 → 根因的图谱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06165" y="29537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路径可视化，每步附带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06165" y="31823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依赖理由。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172200" y="1409700"/>
            <a:ext cx="2628900" cy="2114550"/>
            <a:chOff x="6172200" y="1409700"/>
            <a:chExt cx="2628900" cy="2114550"/>
          </a:xfrm>
        </p:grpSpPr>
        <p:sp>
          <p:nvSpPr>
            <p:cNvPr id="37" name="Rectangle 37"/>
            <p:cNvSpPr/>
            <p:nvPr/>
          </p:nvSpPr>
          <p:spPr>
            <a:xfrm>
              <a:off x="6172200" y="1409700"/>
              <a:ext cx="26289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8" name="Rectangle 38"/>
            <p:cNvSpPr/>
            <p:nvPr/>
          </p:nvSpPr>
          <p:spPr>
            <a:xfrm>
              <a:off x="6172200" y="1409700"/>
              <a:ext cx="2628900" cy="47625"/>
            </a:xfrm>
            <a:prstGeom prst="roundRect">
              <a:avLst>
                <a:gd name="adj" fmla="val 50000"/>
              </a:avLst>
            </a:prstGeom>
            <a:solidFill>
              <a:srgbClr val="1B4B8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00800" y="167640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8EEF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555581" y="1841500"/>
              <a:ext cx="185738" cy="165100"/>
              <a:chOff x="6555581" y="1841500"/>
              <a:chExt cx="185738" cy="1651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555581" y="1841500"/>
                <a:ext cx="185738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65100">
                    <a:moveTo>
                      <a:pt x="0" y="30956"/>
                    </a:moveTo>
                    <a:lnTo>
                      <a:pt x="61912" y="0"/>
                    </a:lnTo>
                    <a:lnTo>
                      <a:pt x="123825" y="30956"/>
                    </a:lnTo>
                    <a:lnTo>
                      <a:pt x="185738" y="0"/>
                    </a:lnTo>
                    <a:lnTo>
                      <a:pt x="185738" y="134144"/>
                    </a:lnTo>
                    <a:lnTo>
                      <a:pt x="123825" y="165100"/>
                    </a:lnTo>
                    <a:lnTo>
                      <a:pt x="61912" y="134144"/>
                    </a:lnTo>
                    <a:lnTo>
                      <a:pt x="0" y="165100"/>
                    </a:ln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617494" y="1841500"/>
                <a:ext cx="9525" cy="1341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144">
                    <a:moveTo>
                      <a:pt x="0" y="0"/>
                    </a:moveTo>
                    <a:lnTo>
                      <a:pt x="0" y="134144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79406" y="1872456"/>
                <a:ext cx="9525" cy="1341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144">
                    <a:moveTo>
                      <a:pt x="0" y="0"/>
                    </a:moveTo>
                    <a:lnTo>
                      <a:pt x="0" y="134144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036118" y="17997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82702" y="23417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学习路径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87465" y="2725102"/>
              <a:ext cx="12798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DAG 学习路径，展示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87465" y="29537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节点状态与掌握度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87465" y="318230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进度。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953500" y="1409700"/>
            <a:ext cx="2628900" cy="2114550"/>
            <a:chOff x="8953500" y="1409700"/>
            <a:chExt cx="2628900" cy="2114550"/>
          </a:xfrm>
        </p:grpSpPr>
        <p:sp>
          <p:nvSpPr>
            <p:cNvPr id="50" name="Rectangle 50"/>
            <p:cNvSpPr/>
            <p:nvPr/>
          </p:nvSpPr>
          <p:spPr>
            <a:xfrm>
              <a:off x="8953500" y="1409700"/>
              <a:ext cx="26289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1" name="Rectangle 51"/>
            <p:cNvSpPr/>
            <p:nvPr/>
          </p:nvSpPr>
          <p:spPr>
            <a:xfrm>
              <a:off x="8953500" y="1409700"/>
              <a:ext cx="2628900" cy="47625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182100" y="167640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2F4F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9326562" y="1851819"/>
              <a:ext cx="206375" cy="144463"/>
              <a:chOff x="9326562" y="1851819"/>
              <a:chExt cx="206375" cy="14446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9326562" y="1851819"/>
                <a:ext cx="206375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103188">
                    <a:moveTo>
                      <a:pt x="206375" y="41275"/>
                    </a:moveTo>
                    <a:lnTo>
                      <a:pt x="103188" y="0"/>
                    </a:lnTo>
                    <a:lnTo>
                      <a:pt x="0" y="41275"/>
                    </a:lnTo>
                    <a:lnTo>
                      <a:pt x="103188" y="82550"/>
                    </a:lnTo>
                    <a:lnTo>
                      <a:pt x="206375" y="41275"/>
                    </a:lnTo>
                    <a:lnTo>
                      <a:pt x="206375" y="103188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367838" y="1909604"/>
                <a:ext cx="123825" cy="86678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86678">
                    <a:moveTo>
                      <a:pt x="0" y="0"/>
                    </a:moveTo>
                    <a:lnTo>
                      <a:pt x="0" y="55721"/>
                    </a:lnTo>
                    <a:cubicBezTo>
                      <a:pt x="0" y="72818"/>
                      <a:pt x="27719" y="86678"/>
                      <a:pt x="61912" y="86678"/>
                    </a:cubicBezTo>
                    <a:cubicBezTo>
                      <a:pt x="96106" y="86678"/>
                      <a:pt x="123825" y="72818"/>
                      <a:pt x="123825" y="55721"/>
                    </a:cubicBezTo>
                    <a:lnTo>
                      <a:pt x="123825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817418" y="17997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64002" y="2341721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个性化教学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68765" y="27251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分层讲解 + 例题，按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68765" y="29537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认知风格适配讲解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68765" y="318230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方式。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9600" y="3752850"/>
            <a:ext cx="3505200" cy="2114550"/>
            <a:chOff x="609600" y="3752850"/>
            <a:chExt cx="3505200" cy="2114550"/>
          </a:xfrm>
        </p:grpSpPr>
        <p:sp>
          <p:nvSpPr>
            <p:cNvPr id="62" name="Rectangle 62"/>
            <p:cNvSpPr/>
            <p:nvPr/>
          </p:nvSpPr>
          <p:spPr>
            <a:xfrm>
              <a:off x="609600" y="3752850"/>
              <a:ext cx="35052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3" name="Rectangle 63"/>
            <p:cNvSpPr/>
            <p:nvPr/>
          </p:nvSpPr>
          <p:spPr>
            <a:xfrm>
              <a:off x="609600" y="3752850"/>
              <a:ext cx="3505200" cy="47625"/>
            </a:xfrm>
            <a:prstGeom prst="roundRect">
              <a:avLst>
                <a:gd name="adj" fmla="val 50000"/>
              </a:avLst>
            </a:prstGeom>
            <a:solidFill>
              <a:srgbClr val="1B4B8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38200" y="40195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8EEF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1013619" y="4174331"/>
              <a:ext cx="144462" cy="185738"/>
              <a:chOff x="1013619" y="4174331"/>
              <a:chExt cx="144462" cy="185738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013619" y="4194969"/>
                <a:ext cx="144462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65100">
                    <a:moveTo>
                      <a:pt x="41275" y="0"/>
                    </a:moveTo>
                    <a:lnTo>
                      <a:pt x="20637" y="0"/>
                    </a:lnTo>
                    <a:cubicBezTo>
                      <a:pt x="9240" y="0"/>
                      <a:pt x="0" y="9240"/>
                      <a:pt x="0" y="20637"/>
                    </a:cubicBezTo>
                    <a:lnTo>
                      <a:pt x="0" y="144462"/>
                    </a:lnTo>
                    <a:cubicBezTo>
                      <a:pt x="0" y="155860"/>
                      <a:pt x="9240" y="165100"/>
                      <a:pt x="20637" y="165100"/>
                    </a:cubicBezTo>
                    <a:lnTo>
                      <a:pt x="123825" y="165100"/>
                    </a:lnTo>
                    <a:cubicBezTo>
                      <a:pt x="135223" y="165100"/>
                      <a:pt x="144462" y="155860"/>
                      <a:pt x="144462" y="144462"/>
                    </a:cubicBezTo>
                    <a:lnTo>
                      <a:pt x="144462" y="20637"/>
                    </a:lnTo>
                    <a:cubicBezTo>
                      <a:pt x="144462" y="9240"/>
                      <a:pt x="135223" y="0"/>
                      <a:pt x="123825" y="0"/>
                    </a:cubicBezTo>
                    <a:lnTo>
                      <a:pt x="103187" y="0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054894" y="4174331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41275" y="0"/>
                    </a:lnTo>
                    <a:cubicBezTo>
                      <a:pt x="52673" y="0"/>
                      <a:pt x="61912" y="9240"/>
                      <a:pt x="61912" y="20638"/>
                    </a:cubicBezTo>
                    <a:cubicBezTo>
                      <a:pt x="61912" y="32035"/>
                      <a:pt x="52673" y="41275"/>
                      <a:pt x="412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473518" y="41428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0102" y="46848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针对练习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4865" y="5068252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检查点测试驱动巩固，通过即解锁下一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4865" y="52968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节点，失败触发针对性补救，形成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4865" y="55254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练习闭环。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4343400" y="3752850"/>
            <a:ext cx="3505200" cy="2114550"/>
            <a:chOff x="4343400" y="3752850"/>
            <a:chExt cx="3505200" cy="2114550"/>
          </a:xfrm>
        </p:grpSpPr>
        <p:sp>
          <p:nvSpPr>
            <p:cNvPr id="74" name="Rectangle 74"/>
            <p:cNvSpPr/>
            <p:nvPr/>
          </p:nvSpPr>
          <p:spPr>
            <a:xfrm>
              <a:off x="4343400" y="3752850"/>
              <a:ext cx="35052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19050">
              <a:solidFill>
                <a:srgbClr val="00A6D6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5" name="Rectangle 75"/>
            <p:cNvSpPr/>
            <p:nvPr/>
          </p:nvSpPr>
          <p:spPr>
            <a:xfrm>
              <a:off x="4343400" y="3752850"/>
              <a:ext cx="3505200" cy="47625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4572000" y="40195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2F4FA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4726781" y="4184650"/>
              <a:ext cx="185738" cy="175419"/>
              <a:chOff x="4726781" y="4184650"/>
              <a:chExt cx="185738" cy="175419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4726781" y="4184650"/>
                <a:ext cx="185738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75419">
                    <a:moveTo>
                      <a:pt x="154781" y="0"/>
                    </a:moveTo>
                    <a:cubicBezTo>
                      <a:pt x="171878" y="0"/>
                      <a:pt x="185738" y="13860"/>
                      <a:pt x="185738" y="30956"/>
                    </a:cubicBezTo>
                    <a:lnTo>
                      <a:pt x="185738" y="113506"/>
                    </a:lnTo>
                    <a:cubicBezTo>
                      <a:pt x="185738" y="130603"/>
                      <a:pt x="171878" y="144463"/>
                      <a:pt x="154781" y="144463"/>
                    </a:cubicBezTo>
                    <a:lnTo>
                      <a:pt x="103187" y="144463"/>
                    </a:lnTo>
                    <a:lnTo>
                      <a:pt x="51594" y="175419"/>
                    </a:lnTo>
                    <a:lnTo>
                      <a:pt x="51594" y="144463"/>
                    </a:lnTo>
                    <a:lnTo>
                      <a:pt x="30956" y="144463"/>
                    </a:lnTo>
                    <a:cubicBezTo>
                      <a:pt x="13860" y="144463"/>
                      <a:pt x="0" y="130603"/>
                      <a:pt x="0" y="113506"/>
                    </a:cubicBezTo>
                    <a:lnTo>
                      <a:pt x="0" y="30956"/>
                    </a:ln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4793853" y="423624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4845447" y="423624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4793853" y="4277519"/>
                <a:ext cx="51594" cy="10840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10840">
                    <a:moveTo>
                      <a:pt x="0" y="0"/>
                    </a:moveTo>
                    <a:cubicBezTo>
                      <a:pt x="6793" y="6933"/>
                      <a:pt x="16091" y="10840"/>
                      <a:pt x="25797" y="10840"/>
                    </a:cubicBezTo>
                    <a:cubicBezTo>
                      <a:pt x="35503" y="10840"/>
                      <a:pt x="44801" y="6933"/>
                      <a:pt x="51594" y="0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5207318" y="41428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553902" y="4684871"/>
              <a:ext cx="106374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AI 伴学对话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558665" y="5068252"/>
              <a:ext cx="23369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学习节点内嵌 Chat，上下文感知当前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558665" y="52968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知识点，随问随答，流式输出边想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558665" y="55254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边答。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8077200" y="3752850"/>
            <a:ext cx="3505200" cy="2114550"/>
            <a:chOff x="8077200" y="3752850"/>
            <a:chExt cx="3505200" cy="2114550"/>
          </a:xfrm>
        </p:grpSpPr>
        <p:sp>
          <p:nvSpPr>
            <p:cNvPr id="88" name="Rectangle 88"/>
            <p:cNvSpPr/>
            <p:nvPr/>
          </p:nvSpPr>
          <p:spPr>
            <a:xfrm>
              <a:off x="8077200" y="3752850"/>
              <a:ext cx="35052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9" name="Rectangle 89"/>
            <p:cNvSpPr/>
            <p:nvPr/>
          </p:nvSpPr>
          <p:spPr>
            <a:xfrm>
              <a:off x="8077200" y="3752850"/>
              <a:ext cx="3505200" cy="47625"/>
            </a:xfrm>
            <a:prstGeom prst="roundRect">
              <a:avLst>
                <a:gd name="adj" fmla="val 50000"/>
              </a:avLst>
            </a:prstGeom>
            <a:solidFill>
              <a:srgbClr val="0E2E5C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8305800" y="40195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AF0F8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8481219" y="4174331"/>
              <a:ext cx="144463" cy="185738"/>
              <a:chOff x="8481219" y="4174331"/>
              <a:chExt cx="144463" cy="185738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8481219" y="4194969"/>
                <a:ext cx="144463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65100">
                    <a:moveTo>
                      <a:pt x="41275" y="0"/>
                    </a:moveTo>
                    <a:lnTo>
                      <a:pt x="20638" y="0"/>
                    </a:lnTo>
                    <a:cubicBezTo>
                      <a:pt x="9240" y="0"/>
                      <a:pt x="0" y="9240"/>
                      <a:pt x="0" y="20637"/>
                    </a:cubicBezTo>
                    <a:lnTo>
                      <a:pt x="0" y="144462"/>
                    </a:lnTo>
                    <a:cubicBezTo>
                      <a:pt x="0" y="155860"/>
                      <a:pt x="9240" y="165100"/>
                      <a:pt x="20638" y="165100"/>
                    </a:cubicBezTo>
                    <a:lnTo>
                      <a:pt x="123825" y="165100"/>
                    </a:lnTo>
                    <a:cubicBezTo>
                      <a:pt x="135223" y="165100"/>
                      <a:pt x="144463" y="155860"/>
                      <a:pt x="144463" y="144462"/>
                    </a:cubicBezTo>
                    <a:lnTo>
                      <a:pt x="144463" y="20637"/>
                    </a:lnTo>
                    <a:cubicBezTo>
                      <a:pt x="144463" y="9240"/>
                      <a:pt x="135223" y="0"/>
                      <a:pt x="123825" y="0"/>
                    </a:cubicBezTo>
                    <a:lnTo>
                      <a:pt x="103188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522494" y="4174331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  <a:cubicBezTo>
                      <a:pt x="52673" y="0"/>
                      <a:pt x="61912" y="9240"/>
                      <a:pt x="61912" y="20638"/>
                    </a:cubicBezTo>
                    <a:cubicBezTo>
                      <a:pt x="61912" y="32035"/>
                      <a:pt x="52673" y="41275"/>
                      <a:pt x="41275" y="41275"/>
                    </a:cubicBezTo>
                    <a:lnTo>
                      <a:pt x="20637" y="41275"/>
                    </a:lnTo>
                    <a:cubicBezTo>
                      <a:pt x="9240" y="41275"/>
                      <a:pt x="0" y="32035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522494" y="4267200"/>
                <a:ext cx="9525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1594">
                    <a:moveTo>
                      <a:pt x="0" y="51594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8553450" y="4308475"/>
                <a:ext cx="9525" cy="103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9">
                    <a:moveTo>
                      <a:pt x="0" y="1031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584406" y="4287838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30956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8941118" y="41428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287702" y="46848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学习报告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292465" y="5068252"/>
              <a:ext cx="21479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掌握度历史曲线 + 错误模式分析，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292465" y="52968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让学生清晰看到自己的成长轨迹与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292465" y="55254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下一步重点。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598170" y="6475095"/>
            <a:ext cx="10995660" cy="182880"/>
            <a:chOff x="598170" y="6475095"/>
            <a:chExt cx="10995660" cy="182880"/>
          </a:xfrm>
        </p:grpSpPr>
        <p:sp>
          <p:nvSpPr>
            <p:cNvPr id="103" name="TextBox 103"/>
            <p:cNvSpPr txBox="1"/>
            <p:nvPr/>
          </p:nvSpPr>
          <p:spPr>
            <a:xfrm>
              <a:off x="598170" y="64750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468957" y="647509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6" grpId="0"/>
      <p:bldP spid="49" grpId="0"/>
      <p:bldP spid="61" grpId="0"/>
      <p:bldP spid="73" grpId="0"/>
      <p:bldP spid="87" grpId="0"/>
      <p:bldP spid="10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419991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教师端 · 数据驱动的因材施教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4087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把全班学习数据变成可决策的洞察，所有结论均基于真实数据聚合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04 创新价值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609600" y="1428750"/>
            <a:ext cx="3505200" cy="2114550"/>
            <a:chOff x="609600" y="1428750"/>
            <a:chExt cx="3505200" cy="2114550"/>
          </a:xfrm>
        </p:grpSpPr>
        <p:sp>
          <p:nvSpPr>
            <p:cNvPr id="9" name="Rectangle 9"/>
            <p:cNvSpPr/>
            <p:nvPr/>
          </p:nvSpPr>
          <p:spPr>
            <a:xfrm>
              <a:off x="609600" y="1428750"/>
              <a:ext cx="35052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838200" y="16954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8EEF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04888" y="1862138"/>
              <a:ext cx="200024" cy="200025"/>
              <a:chOff x="1004888" y="1862138"/>
              <a:chExt cx="200024" cy="2000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27112" y="18621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4888" y="19954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49350" y="186358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71575" y="1997154"/>
                <a:ext cx="33337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7" h="65008">
                    <a:moveTo>
                      <a:pt x="33337" y="65008"/>
                    </a:moveTo>
                    <a:lnTo>
                      <a:pt x="33337" y="42783"/>
                    </a:lnTo>
                    <a:cubicBezTo>
                      <a:pt x="33221" y="22609"/>
                      <a:pt x="19534" y="504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B4B8A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3643455" y="1638300"/>
              <a:ext cx="43324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1B4B8A">
                      <a:alphaMod val="8000"/>
                    </a:srgbClr>
                  </a:solidFill>
                  <a:latin typeface="Arial Black"/>
                  <a:ea typeface="Microsoft YaHei"/>
                  <a:cs typeface="Arial Black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0102" y="24179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班级管理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865" y="28013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学生列表一览，成绩、学习进度与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4865" y="30299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预警状态集中呈现，掌握全班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865" y="325850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动态。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43400" y="1428750"/>
            <a:ext cx="3505200" cy="2114550"/>
            <a:chOff x="4343400" y="1428750"/>
            <a:chExt cx="3505200" cy="2114550"/>
          </a:xfrm>
        </p:grpSpPr>
        <p:sp>
          <p:nvSpPr>
            <p:cNvPr id="22" name="Rectangle 22"/>
            <p:cNvSpPr/>
            <p:nvPr/>
          </p:nvSpPr>
          <p:spPr>
            <a:xfrm>
              <a:off x="4343400" y="1428750"/>
              <a:ext cx="3505200" cy="2114550"/>
            </a:xfrm>
            <a:prstGeom prst="roundRect">
              <a:avLst>
                <a:gd name="adj" fmla="val 6306"/>
              </a:avLst>
            </a:prstGeom>
            <a:solidFill>
              <a:srgbClr val="FFFCF5"/>
            </a:solidFill>
            <a:ln w="19050">
              <a:solidFill>
                <a:srgbClr val="F5A623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4572000" y="16954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FDF1DC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4760912" y="1851025"/>
              <a:ext cx="155575" cy="211137"/>
            </a:xfrm>
            <a:custGeom>
              <a:avLst/>
              <a:gdLst/>
              <a:ahLst/>
              <a:cxnLst/>
              <a:rect l="l" t="t" r="r" b="b"/>
              <a:pathLst>
                <a:path w="155575" h="211137">
                  <a:moveTo>
                    <a:pt x="77788" y="99357"/>
                  </a:moveTo>
                  <a:cubicBezTo>
                    <a:pt x="103713" y="62597"/>
                    <a:pt x="79643" y="12424"/>
                    <a:pt x="66675" y="0"/>
                  </a:cubicBezTo>
                  <a:cubicBezTo>
                    <a:pt x="66675" y="37727"/>
                    <a:pt x="41839" y="58885"/>
                    <a:pt x="25925" y="74520"/>
                  </a:cubicBezTo>
                  <a:cubicBezTo>
                    <a:pt x="10035" y="90167"/>
                    <a:pt x="0" y="111125"/>
                    <a:pt x="0" y="136617"/>
                  </a:cubicBezTo>
                  <a:cubicBezTo>
                    <a:pt x="0" y="177778"/>
                    <a:pt x="34827" y="211137"/>
                    <a:pt x="77788" y="211137"/>
                  </a:cubicBezTo>
                  <a:cubicBezTo>
                    <a:pt x="120748" y="211137"/>
                    <a:pt x="155575" y="177778"/>
                    <a:pt x="155575" y="136617"/>
                  </a:cubicBezTo>
                  <a:cubicBezTo>
                    <a:pt x="155575" y="117592"/>
                    <a:pt x="141884" y="87689"/>
                    <a:pt x="129650" y="74520"/>
                  </a:cubicBezTo>
                  <a:cubicBezTo>
                    <a:pt x="106491" y="111781"/>
                    <a:pt x="93456" y="111781"/>
                    <a:pt x="77788" y="99357"/>
                  </a:cubicBezTo>
                </a:path>
              </a:pathLst>
            </a:custGeom>
            <a:noFill/>
            <a:ln w="19050">
              <a:solidFill>
                <a:srgbClr val="D9770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72242" y="1638300"/>
              <a:ext cx="5382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F5A623">
                      <a:alphaMod val="14000"/>
                    </a:srgbClr>
                  </a:solidFill>
                  <a:latin typeface="Arial Black"/>
                  <a:ea typeface="Microsoft YaHei"/>
                  <a:cs typeface="Arial Black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53902" y="2417921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知识热力图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58665" y="28013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班级各知识点薄弱分布一目了然，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8665" y="30299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支持下钻到具体知识点与学生，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58665" y="32585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精准定位教学重点。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77200" y="1428750"/>
            <a:ext cx="3505200" cy="2114550"/>
            <a:chOff x="8077200" y="1428750"/>
            <a:chExt cx="3505200" cy="2114550"/>
          </a:xfrm>
        </p:grpSpPr>
        <p:sp>
          <p:nvSpPr>
            <p:cNvPr id="31" name="Rectangle 31"/>
            <p:cNvSpPr/>
            <p:nvPr/>
          </p:nvSpPr>
          <p:spPr>
            <a:xfrm>
              <a:off x="8077200" y="1428750"/>
              <a:ext cx="35052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8305800" y="16954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2F4F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494712" y="1862138"/>
              <a:ext cx="155575" cy="200024"/>
              <a:chOff x="8494712" y="1862138"/>
              <a:chExt cx="155575" cy="20002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494712" y="1884362"/>
                <a:ext cx="15557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77800">
                    <a:moveTo>
                      <a:pt x="44450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55575"/>
                    </a:lnTo>
                    <a:cubicBezTo>
                      <a:pt x="0" y="167850"/>
                      <a:pt x="9950" y="177800"/>
                      <a:pt x="22225" y="177800"/>
                    </a:cubicBezTo>
                    <a:lnTo>
                      <a:pt x="133350" y="177800"/>
                    </a:lnTo>
                    <a:cubicBezTo>
                      <a:pt x="145625" y="177800"/>
                      <a:pt x="155575" y="167850"/>
                      <a:pt x="155575" y="155575"/>
                    </a:cubicBezTo>
                    <a:lnTo>
                      <a:pt x="155575" y="22225"/>
                    </a:lnTo>
                    <a:cubicBezTo>
                      <a:pt x="155575" y="9950"/>
                      <a:pt x="145625" y="0"/>
                      <a:pt x="133350" y="0"/>
                    </a:cubicBez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539162" y="186213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cubicBezTo>
                      <a:pt x="66675" y="34500"/>
                      <a:pt x="56725" y="44450"/>
                      <a:pt x="44450" y="44450"/>
                    </a:cubicBezTo>
                    <a:lnTo>
                      <a:pt x="22225" y="44450"/>
                    </a:lnTo>
                    <a:cubicBezTo>
                      <a:pt x="9950" y="44450"/>
                      <a:pt x="0" y="3450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1006042" y="1638300"/>
              <a:ext cx="5382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00A6D6">
                      <a:alphaMod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7702" y="241792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分层作业生成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92465" y="2801302"/>
              <a:ext cx="2028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基础 / 提高 / 拓展三层作业自动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92465" y="30299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生成，真实题目而非占位，一键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92465" y="32585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布置全班。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3771900"/>
            <a:ext cx="3505200" cy="2114550"/>
            <a:chOff x="609600" y="3771900"/>
            <a:chExt cx="3505200" cy="2114550"/>
          </a:xfrm>
        </p:grpSpPr>
        <p:sp>
          <p:nvSpPr>
            <p:cNvPr id="42" name="Rectangle 42"/>
            <p:cNvSpPr/>
            <p:nvPr/>
          </p:nvSpPr>
          <p:spPr>
            <a:xfrm>
              <a:off x="609600" y="3771900"/>
              <a:ext cx="35052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838200" y="40386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FDECEC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992829" y="4201596"/>
              <a:ext cx="224133" cy="192560"/>
              <a:chOff x="992829" y="4201596"/>
              <a:chExt cx="224133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104900" y="427196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E04F4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92829" y="420159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E04F4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04900" y="4349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E04F4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3538442" y="3981450"/>
              <a:ext cx="5382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E04F4F">
                      <a:alphaMod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04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0102" y="47610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学生预警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4865" y="51444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掌握度下降、长期未学、连续错题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4865" y="53730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自动触发预警，让教师第一时间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4865" y="56016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介入帮扶。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343400" y="3771900"/>
            <a:ext cx="3505200" cy="2114550"/>
            <a:chOff x="4343400" y="3771900"/>
            <a:chExt cx="3505200" cy="2114550"/>
          </a:xfrm>
        </p:grpSpPr>
        <p:sp>
          <p:nvSpPr>
            <p:cNvPr id="54" name="Rectangle 54"/>
            <p:cNvSpPr/>
            <p:nvPr/>
          </p:nvSpPr>
          <p:spPr>
            <a:xfrm>
              <a:off x="4343400" y="3771900"/>
              <a:ext cx="35052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5" name="Rectangle 55"/>
            <p:cNvSpPr/>
            <p:nvPr/>
          </p:nvSpPr>
          <p:spPr>
            <a:xfrm>
              <a:off x="4572000" y="40386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0F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4738688" y="4216400"/>
              <a:ext cx="200025" cy="187325"/>
              <a:chOff x="4738688" y="4216400"/>
              <a:chExt cx="200025" cy="1873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4805362" y="42608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444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872038" y="428307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4838700" y="4294188"/>
                <a:ext cx="952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3">
                    <a:moveTo>
                      <a:pt x="0" y="11113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4738688" y="4216400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4749800" y="4216400"/>
                <a:ext cx="1778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33350">
                    <a:moveTo>
                      <a:pt x="0" y="0"/>
                    </a:moveTo>
                    <a:lnTo>
                      <a:pt x="0" y="111125"/>
                    </a:lnTo>
                    <a:cubicBezTo>
                      <a:pt x="0" y="123400"/>
                      <a:pt x="9950" y="133350"/>
                      <a:pt x="22225" y="133350"/>
                    </a:cubicBezTo>
                    <a:lnTo>
                      <a:pt x="155575" y="133350"/>
                    </a:lnTo>
                    <a:cubicBezTo>
                      <a:pt x="167850" y="133350"/>
                      <a:pt x="177800" y="123400"/>
                      <a:pt x="177800" y="11112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4838700" y="43497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4805362" y="4394200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E2E5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272242" y="3981450"/>
              <a:ext cx="5382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0E2E5C">
                      <a:alphaMod val="8000"/>
                    </a:srgbClr>
                  </a:solidFill>
                  <a:latin typeface="Arial Black"/>
                  <a:ea typeface="Microsoft YaHei"/>
                  <a:cs typeface="Arial Black"/>
                </a:rPr>
                <a:t>05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553902" y="47610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班级周报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558665" y="51444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基于真实学习数据聚合，给出有据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58665" y="53730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可循的分析结论与教学建议，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558665" y="56016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减轻周报负担。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077200" y="3771900"/>
            <a:ext cx="3505200" cy="2114550"/>
            <a:chOff x="8077200" y="3771900"/>
            <a:chExt cx="3505200" cy="2114550"/>
          </a:xfrm>
        </p:grpSpPr>
        <p:sp>
          <p:nvSpPr>
            <p:cNvPr id="70" name="Rectangle 70"/>
            <p:cNvSpPr/>
            <p:nvPr/>
          </p:nvSpPr>
          <p:spPr>
            <a:xfrm>
              <a:off x="8077200" y="3771900"/>
              <a:ext cx="35052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1" name="Rectangle 71"/>
            <p:cNvSpPr/>
            <p:nvPr/>
          </p:nvSpPr>
          <p:spPr>
            <a:xfrm>
              <a:off x="8305800" y="40386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2F4FA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8494712" y="4216400"/>
              <a:ext cx="166688" cy="188912"/>
              <a:chOff x="8494712" y="4216400"/>
              <a:chExt cx="166688" cy="188912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494712" y="4216400"/>
                <a:ext cx="13335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7800">
                    <a:moveTo>
                      <a:pt x="51284" y="177800"/>
                    </a:moveTo>
                    <a:lnTo>
                      <a:pt x="22225" y="177800"/>
                    </a:lnTo>
                    <a:cubicBezTo>
                      <a:pt x="9950" y="177800"/>
                      <a:pt x="0" y="167850"/>
                      <a:pt x="0" y="155575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594725" y="4360862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539162" y="4260850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539162" y="430530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1006042" y="3981450"/>
              <a:ext cx="5382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00A6D6">
                      <a:alphaMod val="10000"/>
                    </a:srgbClr>
                  </a:solidFill>
                  <a:latin typeface="Arial Black"/>
                  <a:ea typeface="Microsoft YaHei"/>
                  <a:cs typeface="Arial Black"/>
                </a:rPr>
                <a:t>06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287702" y="47610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作业互通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292465" y="51444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教师布置的分层作业实时同步到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292465" y="5373052"/>
              <a:ext cx="20009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学生“我的作业”，完成情况回流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292465" y="56016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教师端形成闭环。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98170" y="6475095"/>
            <a:ext cx="10995660" cy="182880"/>
            <a:chOff x="598170" y="6475095"/>
            <a:chExt cx="10995660" cy="182880"/>
          </a:xfrm>
        </p:grpSpPr>
        <p:sp>
          <p:nvSpPr>
            <p:cNvPr id="83" name="TextBox 83"/>
            <p:cNvSpPr txBox="1"/>
            <p:nvPr/>
          </p:nvSpPr>
          <p:spPr>
            <a:xfrm>
              <a:off x="598170" y="64750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468957" y="647509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0" grpId="0"/>
      <p:bldP spid="41" grpId="0"/>
      <p:bldP spid="53" grpId="0"/>
      <p:bldP spid="69" grpId="0"/>
      <p:bldP spid="8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320754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精准个性化的数据底座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4227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五维学生画像，支撑诊断自适应、分层教学与路径规划的每一个决策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04 创新价值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1160526" y="1584960"/>
            <a:ext cx="5298948" cy="4168140"/>
            <a:chOff x="1160526" y="1584960"/>
            <a:chExt cx="5298948" cy="4168140"/>
          </a:xfrm>
        </p:grpSpPr>
        <p:sp>
          <p:nvSpPr>
            <p:cNvPr id="9" name="Polygon 9"/>
            <p:cNvSpPr/>
            <p:nvPr/>
          </p:nvSpPr>
          <p:spPr>
            <a:xfrm>
              <a:off x="1998345" y="1905000"/>
              <a:ext cx="3623310" cy="3446145"/>
            </a:xfrm>
            <a:custGeom>
              <a:avLst/>
              <a:gdLst/>
              <a:ahLst/>
              <a:cxnLst/>
              <a:rect l="l" t="t" r="r" b="b"/>
              <a:pathLst>
                <a:path w="3623310" h="3446145">
                  <a:moveTo>
                    <a:pt x="1811655" y="0"/>
                  </a:moveTo>
                  <a:lnTo>
                    <a:pt x="3623310" y="1316355"/>
                  </a:lnTo>
                  <a:lnTo>
                    <a:pt x="2931795" y="3446145"/>
                  </a:lnTo>
                  <a:lnTo>
                    <a:pt x="691515" y="3446145"/>
                  </a:lnTo>
                  <a:lnTo>
                    <a:pt x="0" y="1316355"/>
                  </a:lnTo>
                  <a:close/>
                </a:path>
              </a:pathLst>
            </a:custGeom>
            <a:solidFill>
              <a:srgbClr val="F8FAFC"/>
            </a:solidFill>
            <a:ln w="14288">
              <a:solidFill>
                <a:srgbClr val="CBD5E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451735" y="2381250"/>
              <a:ext cx="2716530" cy="2585085"/>
            </a:xfrm>
            <a:custGeom>
              <a:avLst/>
              <a:gdLst/>
              <a:ahLst/>
              <a:cxnLst/>
              <a:rect l="l" t="t" r="r" b="b"/>
              <a:pathLst>
                <a:path w="2716530" h="2585085">
                  <a:moveTo>
                    <a:pt x="1358265" y="0"/>
                  </a:moveTo>
                  <a:lnTo>
                    <a:pt x="2716530" y="987742"/>
                  </a:lnTo>
                  <a:lnTo>
                    <a:pt x="2198370" y="2585085"/>
                  </a:lnTo>
                  <a:lnTo>
                    <a:pt x="518160" y="2585085"/>
                  </a:lnTo>
                  <a:lnTo>
                    <a:pt x="0" y="987742"/>
                  </a:lnTo>
                  <a:close/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2904172" y="2857500"/>
              <a:ext cx="1811655" cy="1724978"/>
            </a:xfrm>
            <a:custGeom>
              <a:avLst/>
              <a:gdLst/>
              <a:ahLst/>
              <a:cxnLst/>
              <a:rect l="l" t="t" r="r" b="b"/>
              <a:pathLst>
                <a:path w="1811655" h="1724978">
                  <a:moveTo>
                    <a:pt x="905828" y="0"/>
                  </a:moveTo>
                  <a:lnTo>
                    <a:pt x="1811655" y="658178"/>
                  </a:lnTo>
                  <a:lnTo>
                    <a:pt x="1465898" y="1724978"/>
                  </a:lnTo>
                  <a:lnTo>
                    <a:pt x="345758" y="1724978"/>
                  </a:lnTo>
                  <a:lnTo>
                    <a:pt x="0" y="658178"/>
                  </a:lnTo>
                  <a:close/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356610" y="3333750"/>
              <a:ext cx="906780" cy="863917"/>
            </a:xfrm>
            <a:custGeom>
              <a:avLst/>
              <a:gdLst/>
              <a:ahLst/>
              <a:cxnLst/>
              <a:rect l="l" t="t" r="r" b="b"/>
              <a:pathLst>
                <a:path w="906780" h="863917">
                  <a:moveTo>
                    <a:pt x="453390" y="0"/>
                  </a:moveTo>
                  <a:lnTo>
                    <a:pt x="906780" y="328612"/>
                  </a:lnTo>
                  <a:lnTo>
                    <a:pt x="733425" y="863917"/>
                  </a:lnTo>
                  <a:lnTo>
                    <a:pt x="173355" y="863917"/>
                  </a:lnTo>
                  <a:lnTo>
                    <a:pt x="0" y="328612"/>
                  </a:lnTo>
                  <a:close/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998345" y="1905000"/>
              <a:ext cx="3623310" cy="3446145"/>
              <a:chOff x="1998345" y="1905000"/>
              <a:chExt cx="3623310" cy="3446145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3810000" y="1905000"/>
                <a:ext cx="9525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0">
                    <a:moveTo>
                      <a:pt x="0" y="190500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0000" y="3221355"/>
                <a:ext cx="1811655" cy="588645"/>
              </a:xfrm>
              <a:custGeom>
                <a:avLst/>
                <a:gdLst/>
                <a:ahLst/>
                <a:cxnLst/>
                <a:rect l="l" t="t" r="r" b="b"/>
                <a:pathLst>
                  <a:path w="1811655" h="588645">
                    <a:moveTo>
                      <a:pt x="0" y="588645"/>
                    </a:moveTo>
                    <a:lnTo>
                      <a:pt x="1811655" y="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3810000" y="3810000"/>
                <a:ext cx="1120140" cy="1541145"/>
              </a:xfrm>
              <a:custGeom>
                <a:avLst/>
                <a:gdLst/>
                <a:ahLst/>
                <a:cxnLst/>
                <a:rect l="l" t="t" r="r" b="b"/>
                <a:pathLst>
                  <a:path w="1120140" h="1541145">
                    <a:moveTo>
                      <a:pt x="0" y="0"/>
                    </a:moveTo>
                    <a:lnTo>
                      <a:pt x="1120140" y="1541145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2689860" y="3810000"/>
                <a:ext cx="1120140" cy="1541145"/>
              </a:xfrm>
              <a:custGeom>
                <a:avLst/>
                <a:gdLst/>
                <a:ahLst/>
                <a:cxnLst/>
                <a:rect l="l" t="t" r="r" b="b"/>
                <a:pathLst>
                  <a:path w="1120140" h="1541145">
                    <a:moveTo>
                      <a:pt x="1120140" y="0"/>
                    </a:moveTo>
                    <a:lnTo>
                      <a:pt x="0" y="1541145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998345" y="3221355"/>
                <a:ext cx="1811655" cy="588645"/>
              </a:xfrm>
              <a:custGeom>
                <a:avLst/>
                <a:gdLst/>
                <a:ahLst/>
                <a:cxnLst/>
                <a:rect l="l" t="t" r="r" b="b"/>
                <a:pathLst>
                  <a:path w="1811655" h="588645">
                    <a:moveTo>
                      <a:pt x="1811655" y="588645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CBD5E1"/>
                </a:solidFill>
              </a:ln>
            </p:spPr>
          </p:sp>
        </p:grpSp>
        <p:sp>
          <p:nvSpPr>
            <p:cNvPr id="19" name="Polygon 19"/>
            <p:cNvSpPr/>
            <p:nvPr/>
          </p:nvSpPr>
          <p:spPr>
            <a:xfrm>
              <a:off x="2541270" y="2247900"/>
              <a:ext cx="2501265" cy="2918460"/>
            </a:xfrm>
            <a:custGeom>
              <a:avLst/>
              <a:gdLst/>
              <a:ahLst/>
              <a:cxnLst/>
              <a:rect l="l" t="t" r="r" b="b"/>
              <a:pathLst>
                <a:path w="2501265" h="2918460">
                  <a:moveTo>
                    <a:pt x="1268730" y="0"/>
                  </a:moveTo>
                  <a:lnTo>
                    <a:pt x="2501265" y="1162050"/>
                  </a:lnTo>
                  <a:lnTo>
                    <a:pt x="2108835" y="2718435"/>
                  </a:lnTo>
                  <a:lnTo>
                    <a:pt x="282892" y="2918460"/>
                  </a:lnTo>
                  <a:lnTo>
                    <a:pt x="0" y="1149668"/>
                  </a:lnTo>
                  <a:close/>
                </a:path>
              </a:pathLst>
            </a:custGeom>
            <a:gradFill>
              <a:gsLst>
                <a:gs pos="0">
                  <a:srgbClr val="00A6D6">
                    <a:alpha val="55000"/>
                  </a:srgbClr>
                </a:gs>
                <a:gs pos="100000">
                  <a:srgbClr val="0E2E5C">
                    <a:alpha val="30000"/>
                  </a:srgbClr>
                </a:gs>
              </a:gsLst>
              <a:lin ang="2700000" scaled="1"/>
            </a:gradFill>
            <a:ln w="28575">
              <a:solidFill>
                <a:srgbClr val="00A6D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752850" y="2190750"/>
              <a:ext cx="114300" cy="114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A6D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985385" y="3352800"/>
              <a:ext cx="114300" cy="114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A6D6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592955" y="4909185"/>
              <a:ext cx="114300" cy="114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A6D6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767012" y="5109210"/>
              <a:ext cx="114300" cy="114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A6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484120" y="3340418"/>
              <a:ext cx="114300" cy="1143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A6D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22533" y="200929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82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78742" y="32856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68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50118" y="48477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75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66349" y="50382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88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18699" y="3285649"/>
              <a:ext cx="1749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70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58718" y="15849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知识状态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56910" y="30327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错误模式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77918" y="55092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学习行为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39518" y="55092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认知风格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60526" y="30327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目标画像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858000" y="1504950"/>
            <a:ext cx="4724400" cy="4362450"/>
            <a:chOff x="6858000" y="1504950"/>
            <a:chExt cx="4724400" cy="4362450"/>
          </a:xfrm>
        </p:grpSpPr>
        <p:grpSp>
          <p:nvGrpSpPr>
            <p:cNvPr id="40" name="Group 40"/>
            <p:cNvGrpSpPr/>
            <p:nvPr/>
          </p:nvGrpSpPr>
          <p:grpSpPr>
            <a:xfrm>
              <a:off x="6858000" y="1504950"/>
              <a:ext cx="4724400" cy="647700"/>
              <a:chOff x="6858000" y="1504950"/>
              <a:chExt cx="4724400" cy="6477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858000" y="1504950"/>
                <a:ext cx="4724400" cy="647700"/>
              </a:xfrm>
              <a:prstGeom prst="roundRect">
                <a:avLst>
                  <a:gd name="adj" fmla="val 17647"/>
                </a:avLst>
              </a:prstGeom>
              <a:solidFill>
                <a:srgbClr val="F4F7FB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7115175" y="1762125"/>
                <a:ext cx="133350" cy="133350"/>
              </a:xfrm>
              <a:prstGeom prst="ellipse">
                <a:avLst/>
              </a:prstGeom>
              <a:solidFill>
                <a:srgbClr val="0E2E5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413308" y="16530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知识状态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417118" y="1894999"/>
                <a:ext cx="27486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各知识点掌握度（BKT 估计），驱动诊断与路径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858000" y="2266950"/>
              <a:ext cx="4724400" cy="647700"/>
              <a:chOff x="6858000" y="2266950"/>
              <a:chExt cx="4724400" cy="6477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858000" y="2266950"/>
                <a:ext cx="4724400" cy="647700"/>
              </a:xfrm>
              <a:prstGeom prst="roundRect">
                <a:avLst>
                  <a:gd name="adj" fmla="val 17647"/>
                </a:avLst>
              </a:prstGeom>
              <a:solidFill>
                <a:srgbClr val="F4F7FB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7115175" y="2524125"/>
                <a:ext cx="133350" cy="133350"/>
              </a:xfrm>
              <a:prstGeom prst="ellipse">
                <a:avLst/>
              </a:prstGeom>
              <a:solidFill>
                <a:srgbClr val="E04F4F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413308" y="24150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错误模式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417118" y="2656999"/>
                <a:ext cx="23650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高频错误类型与归因，辅助溯源根因定位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6858000" y="3028950"/>
              <a:ext cx="4724400" cy="647700"/>
              <a:chOff x="6858000" y="3028950"/>
              <a:chExt cx="4724400" cy="6477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6858000" y="3028950"/>
                <a:ext cx="4724400" cy="647700"/>
              </a:xfrm>
              <a:prstGeom prst="roundRect">
                <a:avLst>
                  <a:gd name="adj" fmla="val 17647"/>
                </a:avLst>
              </a:prstGeom>
              <a:solidFill>
                <a:srgbClr val="F4F7FB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7115175" y="3286125"/>
                <a:ext cx="133350" cy="133350"/>
              </a:xfrm>
              <a:prstGeom prst="ellipse">
                <a:avLst/>
              </a:prstGeom>
              <a:solidFill>
                <a:srgbClr val="00A6D6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413308" y="31770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学习行为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417118" y="3418999"/>
                <a:ext cx="23650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学习时长、频次与节奏，反映投入与习惯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6858000" y="3790950"/>
              <a:ext cx="4724400" cy="647700"/>
              <a:chOff x="6858000" y="3790950"/>
              <a:chExt cx="4724400" cy="6477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6858000" y="3790950"/>
                <a:ext cx="4724400" cy="647700"/>
              </a:xfrm>
              <a:prstGeom prst="roundRect">
                <a:avLst>
                  <a:gd name="adj" fmla="val 17647"/>
                </a:avLst>
              </a:prstGeom>
              <a:solidFill>
                <a:srgbClr val="F4F7FB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7115175" y="4048125"/>
                <a:ext cx="133350" cy="13335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413308" y="39390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认知风格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417118" y="4180999"/>
                <a:ext cx="25340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偏好图示 / 文字 / 步骤，驱动教学方式适配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858000" y="4552950"/>
              <a:ext cx="4724400" cy="647700"/>
              <a:chOff x="6858000" y="4552950"/>
              <a:chExt cx="4724400" cy="6477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858000" y="4552950"/>
                <a:ext cx="4724400" cy="647700"/>
              </a:xfrm>
              <a:prstGeom prst="roundRect">
                <a:avLst>
                  <a:gd name="adj" fmla="val 17647"/>
                </a:avLst>
              </a:prstGeom>
              <a:solidFill>
                <a:srgbClr val="F4F7FB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7115175" y="4810125"/>
                <a:ext cx="133350" cy="133350"/>
              </a:xfrm>
              <a:prstGeom prst="ellipse">
                <a:avLst/>
              </a:prstGeom>
              <a:solidFill>
                <a:srgbClr val="1B4B8A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413308" y="47010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目标画像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417118" y="4942999"/>
                <a:ext cx="24950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学习目标与期望水平，校准路径深度与难度</a:t>
                </a:r>
              </a:p>
            </p:txBody>
          </p:sp>
        </p:grpSp>
        <p:sp>
          <p:nvSpPr>
            <p:cNvPr id="61" name="Rectangle 61"/>
            <p:cNvSpPr/>
            <p:nvPr/>
          </p:nvSpPr>
          <p:spPr>
            <a:xfrm>
              <a:off x="6858000" y="5334000"/>
              <a:ext cx="4724400" cy="533400"/>
            </a:xfrm>
            <a:prstGeom prst="roundRect">
              <a:avLst>
                <a:gd name="adj" fmla="val 21429"/>
              </a:avLst>
            </a:prstGeom>
            <a:solidFill>
              <a:srgbClr val="E2F4F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093168" y="5490200"/>
              <a:ext cx="215889" cy="210512"/>
              <a:chOff x="7093168" y="5490200"/>
              <a:chExt cx="215889" cy="210512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189788" y="55895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2"/>
                    </a:moveTo>
                    <a:cubicBezTo>
                      <a:pt x="0" y="17250"/>
                      <a:pt x="4975" y="22225"/>
                      <a:pt x="11112" y="22225"/>
                    </a:cubicBezTo>
                    <a:cubicBezTo>
                      <a:pt x="17250" y="22225"/>
                      <a:pt x="22225" y="17250"/>
                      <a:pt x="22225" y="11112"/>
                    </a:cubicBezTo>
                    <a:cubicBezTo>
                      <a:pt x="22225" y="4975"/>
                      <a:pt x="17250" y="0"/>
                      <a:pt x="11112" y="0"/>
                    </a:cubicBezTo>
                    <a:cubicBezTo>
                      <a:pt x="4975" y="0"/>
                      <a:pt x="0" y="4975"/>
                      <a:pt x="0" y="11112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141241" y="5539220"/>
                <a:ext cx="120640" cy="117047"/>
              </a:xfrm>
              <a:custGeom>
                <a:avLst/>
                <a:gdLst/>
                <a:ahLst/>
                <a:cxnLst/>
                <a:rect l="l" t="t" r="r" b="b"/>
                <a:pathLst>
                  <a:path w="120640" h="117047">
                    <a:moveTo>
                      <a:pt x="98664" y="101040"/>
                    </a:moveTo>
                    <a:cubicBezTo>
                      <a:pt x="117564" y="82401"/>
                      <a:pt x="120640" y="52997"/>
                      <a:pt x="106006" y="30850"/>
                    </a:cubicBezTo>
                    <a:cubicBezTo>
                      <a:pt x="91373" y="8703"/>
                      <a:pt x="63118" y="0"/>
                      <a:pt x="38560" y="10075"/>
                    </a:cubicBezTo>
                    <a:cubicBezTo>
                      <a:pt x="14002" y="20150"/>
                      <a:pt x="0" y="46189"/>
                      <a:pt x="5137" y="72232"/>
                    </a:cubicBezTo>
                    <a:cubicBezTo>
                      <a:pt x="10274" y="98275"/>
                      <a:pt x="33114" y="117047"/>
                      <a:pt x="59659" y="117042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093168" y="5490200"/>
                <a:ext cx="215889" cy="210512"/>
              </a:xfrm>
              <a:custGeom>
                <a:avLst/>
                <a:gdLst/>
                <a:ahLst/>
                <a:cxnLst/>
                <a:rect l="l" t="t" r="r" b="b"/>
                <a:pathLst>
                  <a:path w="215889" h="210512">
                    <a:moveTo>
                      <a:pt x="183652" y="175619"/>
                    </a:moveTo>
                    <a:cubicBezTo>
                      <a:pt x="214252" y="139950"/>
                      <a:pt x="215889" y="87788"/>
                      <a:pt x="187588" y="50270"/>
                    </a:cubicBezTo>
                    <a:cubicBezTo>
                      <a:pt x="159286" y="12752"/>
                      <a:pt x="108680" y="0"/>
                      <a:pt x="65979" y="19626"/>
                    </a:cubicBezTo>
                    <a:cubicBezTo>
                      <a:pt x="23277" y="39251"/>
                      <a:pt x="0" y="85960"/>
                      <a:pt x="10042" y="131871"/>
                    </a:cubicBezTo>
                    <a:cubicBezTo>
                      <a:pt x="20084" y="177781"/>
                      <a:pt x="60736" y="210506"/>
                      <a:pt x="107732" y="210512"/>
                    </a:cubicBez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00900" y="560070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00A6D6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434262" y="5536406"/>
              <a:ext cx="21944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Redis 缓存 · 画像命中率 &gt; 80%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98170" y="6513195"/>
            <a:ext cx="10995660" cy="182880"/>
            <a:chOff x="598170" y="6513195"/>
            <a:chExt cx="10995660" cy="182880"/>
          </a:xfrm>
        </p:grpSpPr>
        <p:sp>
          <p:nvSpPr>
            <p:cNvPr id="69" name="TextBox 69"/>
            <p:cNvSpPr txBox="1"/>
            <p:nvPr/>
          </p:nvSpPr>
          <p:spPr>
            <a:xfrm>
              <a:off x="598170" y="65131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468957" y="651319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6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42912"/>
            <a:ext cx="10986135" cy="590550"/>
            <a:chOff x="609600" y="442912"/>
            <a:chExt cx="10986135" cy="590550"/>
          </a:xfrm>
        </p:grpSpPr>
        <p:sp>
          <p:nvSpPr>
            <p:cNvPr id="3" name="Rectangle 3"/>
            <p:cNvSpPr/>
            <p:nvPr/>
          </p:nvSpPr>
          <p:spPr>
            <a:xfrm>
              <a:off x="609600" y="495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0A6D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1525" y="442912"/>
              <a:ext cx="3254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2E5C"/>
                  </a:solidFill>
                  <a:latin typeface="Arial"/>
                  <a:ea typeface="Microsoft YaHei"/>
                  <a:cs typeface="Arial"/>
                </a:rPr>
                <a:t>创新价值 · 差异化优势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20102"/>
              <a:ext cx="3807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技术与产品双重创新，构筑同类产品难以复制的差异化护城河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75166" y="591502"/>
              <a:ext cx="82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04 创新价值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1143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E2E8F0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609600" y="1352550"/>
            <a:ext cx="10972800" cy="876300"/>
            <a:chOff x="609600" y="1352550"/>
            <a:chExt cx="10972800" cy="876300"/>
          </a:xfrm>
        </p:grpSpPr>
        <p:sp>
          <p:nvSpPr>
            <p:cNvPr id="9" name="Rectangle 9"/>
            <p:cNvSpPr/>
            <p:nvPr/>
          </p:nvSpPr>
          <p:spPr>
            <a:xfrm>
              <a:off x="609600" y="135255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0E2E5C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16781" y="1659731"/>
              <a:ext cx="242888" cy="242888"/>
              <a:chOff x="916781" y="1659731"/>
              <a:chExt cx="242888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16781" y="1659731"/>
                <a:ext cx="24288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21444">
                    <a:moveTo>
                      <a:pt x="0" y="121444"/>
                    </a:moveTo>
                    <a:lnTo>
                      <a:pt x="13494" y="121444"/>
                    </a:lnTo>
                    <a:moveTo>
                      <a:pt x="121444" y="0"/>
                    </a:moveTo>
                    <a:lnTo>
                      <a:pt x="121444" y="13494"/>
                    </a:lnTo>
                    <a:moveTo>
                      <a:pt x="229394" y="121444"/>
                    </a:moveTo>
                    <a:lnTo>
                      <a:pt x="242888" y="121444"/>
                    </a:lnTo>
                    <a:moveTo>
                      <a:pt x="35084" y="35084"/>
                    </a:moveTo>
                    <a:lnTo>
                      <a:pt x="44529" y="44529"/>
                    </a:lnTo>
                    <a:moveTo>
                      <a:pt x="207804" y="35084"/>
                    </a:moveTo>
                    <a:lnTo>
                      <a:pt x="198358" y="44529"/>
                    </a:lnTo>
                  </a:path>
                </a:pathLst>
              </a:custGeom>
              <a:noFill/>
              <a:ln w="19050">
                <a:solidFill>
                  <a:srgbClr val="F5A623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5035" y="1713706"/>
                <a:ext cx="14638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46380" h="188913">
                    <a:moveTo>
                      <a:pt x="32709" y="121444"/>
                    </a:moveTo>
                    <a:cubicBezTo>
                      <a:pt x="9476" y="104019"/>
                      <a:pt x="0" y="73684"/>
                      <a:pt x="9183" y="46133"/>
                    </a:cubicBezTo>
                    <a:cubicBezTo>
                      <a:pt x="18367" y="18583"/>
                      <a:pt x="44149" y="0"/>
                      <a:pt x="73190" y="0"/>
                    </a:cubicBezTo>
                    <a:cubicBezTo>
                      <a:pt x="102231" y="0"/>
                      <a:pt x="128013" y="18583"/>
                      <a:pt x="137196" y="46133"/>
                    </a:cubicBezTo>
                    <a:cubicBezTo>
                      <a:pt x="146380" y="73684"/>
                      <a:pt x="136904" y="104019"/>
                      <a:pt x="113671" y="121444"/>
                    </a:cubicBezTo>
                    <a:cubicBezTo>
                      <a:pt x="102986" y="132021"/>
                      <a:pt x="97976" y="147053"/>
                      <a:pt x="100177" y="161925"/>
                    </a:cubicBezTo>
                    <a:cubicBezTo>
                      <a:pt x="100177" y="176830"/>
                      <a:pt x="88095" y="188913"/>
                      <a:pt x="73190" y="188913"/>
                    </a:cubicBezTo>
                    <a:cubicBezTo>
                      <a:pt x="58285" y="188913"/>
                      <a:pt x="46202" y="176830"/>
                      <a:pt x="46202" y="161925"/>
                    </a:cubicBezTo>
                    <a:cubicBezTo>
                      <a:pt x="48404" y="147053"/>
                      <a:pt x="43394" y="132021"/>
                      <a:pt x="32709" y="121444"/>
                    </a:cubicBezTo>
                  </a:path>
                </a:pathLst>
              </a:custGeom>
              <a:noFill/>
              <a:ln w="19050">
                <a:solidFill>
                  <a:srgbClr val="F5A623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7189" y="1848644"/>
                <a:ext cx="6207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071" h="9525">
                    <a:moveTo>
                      <a:pt x="0" y="0"/>
                    </a:moveTo>
                    <a:lnTo>
                      <a:pt x="62071" y="0"/>
                    </a:lnTo>
                  </a:path>
                </a:pathLst>
              </a:custGeom>
              <a:noFill/>
              <a:ln w="19050">
                <a:solidFill>
                  <a:srgbClr val="F5A623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98258" y="15578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核心创新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02068" y="1875949"/>
              <a:ext cx="694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B0D0"/>
                  </a:solidFill>
                  <a:latin typeface="Arial"/>
                  <a:ea typeface="Microsoft YaHei"/>
                  <a:cs typeface="Arial"/>
                </a:rPr>
                <a:t>技术 + 产品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2571750" y="1524000"/>
              <a:ext cx="8743950" cy="533400"/>
              <a:chOff x="2571750" y="1524000"/>
              <a:chExt cx="8743950" cy="5334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571750" y="1524000"/>
                <a:ext cx="2095500" cy="533400"/>
              </a:xfrm>
              <a:prstGeom prst="roundRect">
                <a:avLst>
                  <a:gd name="adj" fmla="val 17857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944582" y="1639252"/>
                <a:ext cx="13498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4EEF8"/>
                    </a:solidFill>
                    <a:latin typeface="Arial"/>
                    <a:ea typeface="Microsoft YaHei"/>
                    <a:cs typeface="Arial"/>
                  </a:rPr>
                  <a:t>事件驱动多智体协作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248727" y="185404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FB0D0"/>
                    </a:solidFill>
                    <a:latin typeface="Arial"/>
                    <a:ea typeface="Microsoft YaHei"/>
                    <a:cs typeface="Arial"/>
                  </a:rPr>
                  <a:t>松耦合·可扩展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781550" y="1524000"/>
                <a:ext cx="2095500" cy="533400"/>
              </a:xfrm>
              <a:prstGeom prst="roundRect">
                <a:avLst>
                  <a:gd name="adj" fmla="val 17857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374910" y="16392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FD0EE"/>
                    </a:solidFill>
                    <a:latin typeface="Arial"/>
                    <a:ea typeface="Microsoft YaHei"/>
                    <a:cs typeface="Arial"/>
                  </a:rPr>
                  <a:t>图谱递归溯源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458527" y="185404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FB0D0"/>
                    </a:solidFill>
                    <a:latin typeface="Arial"/>
                    <a:ea typeface="Microsoft YaHei"/>
                    <a:cs typeface="Arial"/>
                  </a:rPr>
                  <a:t>找根因·可解释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6991350" y="1524000"/>
                <a:ext cx="2095500" cy="533400"/>
              </a:xfrm>
              <a:prstGeom prst="roundRect">
                <a:avLst>
                  <a:gd name="adj" fmla="val 17857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511201" y="16392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4EEF8"/>
                    </a:solidFill>
                    <a:latin typeface="Arial"/>
                    <a:ea typeface="Microsoft YaHei"/>
                    <a:cs typeface="Arial"/>
                  </a:rPr>
                  <a:t>防幻觉三层机制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53588" y="185404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FB0D0"/>
                    </a:solidFill>
                    <a:latin typeface="Arial"/>
                    <a:ea typeface="Microsoft YaHei"/>
                    <a:cs typeface="Arial"/>
                  </a:rPr>
                  <a:t>学科准确性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9201150" y="1524000"/>
                <a:ext cx="2114550" cy="533400"/>
              </a:xfrm>
              <a:prstGeom prst="roundRect">
                <a:avLst>
                  <a:gd name="adj" fmla="val 17857"/>
                </a:avLst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804035" y="16392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4EEF8"/>
                    </a:solidFill>
                    <a:latin typeface="Arial"/>
                    <a:ea typeface="Microsoft YaHei"/>
                    <a:cs typeface="Arial"/>
                  </a:rPr>
                  <a:t>多模型高可用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917906" y="185404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FB0D0"/>
                    </a:solidFill>
                    <a:latin typeface="Arial"/>
                    <a:ea typeface="Microsoft YaHei"/>
                    <a:cs typeface="Arial"/>
                  </a:rPr>
                  <a:t>自动降级回退</a:t>
                </a:r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595312" y="2450306"/>
            <a:ext cx="27300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A6D6"/>
                </a:solidFill>
                <a:latin typeface="Arial"/>
                <a:ea typeface="Microsoft YaHei"/>
                <a:cs typeface="Arial"/>
              </a:rPr>
              <a:t>对标差异化 · 我们补上了别人缺的那块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609600" y="2743200"/>
            <a:ext cx="5334000" cy="1485900"/>
            <a:chOff x="609600" y="2743200"/>
            <a:chExt cx="5334000" cy="1485900"/>
          </a:xfrm>
        </p:grpSpPr>
        <p:sp>
          <p:nvSpPr>
            <p:cNvPr id="31" name="Rectangle 31"/>
            <p:cNvSpPr/>
            <p:nvPr/>
          </p:nvSpPr>
          <p:spPr>
            <a:xfrm>
              <a:off x="609600" y="2743200"/>
              <a:ext cx="5334000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525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609600" y="2743200"/>
              <a:ext cx="47625" cy="1485900"/>
            </a:xfrm>
            <a:prstGeom prst="roundRect">
              <a:avLst>
                <a:gd name="adj" fmla="val 50000"/>
              </a:avLst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8202" y="2932271"/>
              <a:ext cx="110365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vs 题库 App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340350" y="2928938"/>
              <a:ext cx="177800" cy="200025"/>
              <a:chOff x="5340350" y="2928938"/>
              <a:chExt cx="177800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5340350" y="29400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473700" y="30734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418138" y="2962275"/>
                <a:ext cx="77787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111125">
                    <a:moveTo>
                      <a:pt x="0" y="0"/>
                    </a:moveTo>
                    <a:lnTo>
                      <a:pt x="55562" y="0"/>
                    </a:lnTo>
                    <a:cubicBezTo>
                      <a:pt x="67837" y="0"/>
                      <a:pt x="77787" y="9950"/>
                      <a:pt x="77787" y="22225"/>
                    </a:cubicBezTo>
                    <a:lnTo>
                      <a:pt x="77787" y="11112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418138" y="2928938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33338" y="66675"/>
                    </a:moveTo>
                    <a:lnTo>
                      <a:pt x="0" y="33338"/>
                    </a:ln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362575" y="2984500"/>
                <a:ext cx="77787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111125">
                    <a:moveTo>
                      <a:pt x="77787" y="111125"/>
                    </a:move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407025" y="3062288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0"/>
                    </a:moveTo>
                    <a:lnTo>
                      <a:pt x="33338" y="33338"/>
                    </a:ln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62965" y="3277552"/>
              <a:ext cx="2546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4F4F"/>
                  </a:solidFill>
                  <a:latin typeface="Arial"/>
                  <a:ea typeface="Microsoft YaHei"/>
                  <a:cs typeface="Arial"/>
                </a:rPr>
                <a:t>局限：只推题、只统计对错，不解决根因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76300" y="35433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19956" y="3794919"/>
              <a:ext cx="130969" cy="87312"/>
            </a:xfrm>
            <a:custGeom>
              <a:avLst/>
              <a:gdLst/>
              <a:ahLst/>
              <a:cxnLst/>
              <a:rect l="l" t="t" r="r" b="b"/>
              <a:pathLst>
                <a:path w="130969" h="87312">
                  <a:moveTo>
                    <a:pt x="0" y="43656"/>
                  </a:moveTo>
                  <a:lnTo>
                    <a:pt x="43656" y="87312"/>
                  </a:lnTo>
                  <a:lnTo>
                    <a:pt x="130969" y="0"/>
                  </a:lnTo>
                </a:path>
              </a:pathLst>
            </a:custGeom>
            <a:noFill/>
            <a:ln w="23812">
              <a:solidFill>
                <a:srgbClr val="16A34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48239" y="3768804"/>
              <a:ext cx="2782967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我方：图谱溯源找根因，先补依赖再练习，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48239" y="3978354"/>
              <a:ext cx="14778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从源头解决而非刷题。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248400" y="2743200"/>
            <a:ext cx="5334000" cy="1485900"/>
            <a:chOff x="6248400" y="2743200"/>
            <a:chExt cx="5334000" cy="1485900"/>
          </a:xfrm>
        </p:grpSpPr>
        <p:sp>
          <p:nvSpPr>
            <p:cNvPr id="47" name="Rectangle 47"/>
            <p:cNvSpPr/>
            <p:nvPr/>
          </p:nvSpPr>
          <p:spPr>
            <a:xfrm>
              <a:off x="6248400" y="2743200"/>
              <a:ext cx="5334000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5250"/>
                </a:srgbClr>
              </a:outerShdw>
            </a:effectLst>
          </p:spPr>
        </p:sp>
        <p:sp>
          <p:nvSpPr>
            <p:cNvPr id="48" name="Rectangle 48"/>
            <p:cNvSpPr/>
            <p:nvPr/>
          </p:nvSpPr>
          <p:spPr>
            <a:xfrm>
              <a:off x="6248400" y="2743200"/>
              <a:ext cx="47625" cy="1485900"/>
            </a:xfrm>
            <a:prstGeom prst="roundRect">
              <a:avLst>
                <a:gd name="adj" fmla="val 50000"/>
              </a:avLst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97002" y="2932271"/>
              <a:ext cx="140294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vs 通用 AI 助手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10979150" y="2928938"/>
              <a:ext cx="177800" cy="200025"/>
              <a:chOff x="10979150" y="2928938"/>
              <a:chExt cx="177800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0979150" y="29400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1112500" y="30734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1056938" y="2962275"/>
                <a:ext cx="777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11125">
                    <a:moveTo>
                      <a:pt x="0" y="0"/>
                    </a:moveTo>
                    <a:lnTo>
                      <a:pt x="55563" y="0"/>
                    </a:lnTo>
                    <a:cubicBezTo>
                      <a:pt x="67837" y="0"/>
                      <a:pt x="77788" y="9950"/>
                      <a:pt x="77788" y="22225"/>
                    </a:cubicBezTo>
                    <a:lnTo>
                      <a:pt x="77788" y="11112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056938" y="2928938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33338" y="66675"/>
                    </a:moveTo>
                    <a:lnTo>
                      <a:pt x="0" y="33338"/>
                    </a:ln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001375" y="2984500"/>
                <a:ext cx="777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11125">
                    <a:moveTo>
                      <a:pt x="77788" y="111125"/>
                    </a:move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045825" y="3062288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0"/>
                    </a:moveTo>
                    <a:lnTo>
                      <a:pt x="33338" y="33338"/>
                    </a:ln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501765" y="3277552"/>
              <a:ext cx="2546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4F4F"/>
                  </a:solidFill>
                  <a:latin typeface="Arial"/>
                  <a:ea typeface="Microsoft YaHei"/>
                  <a:cs typeface="Arial"/>
                </a:rPr>
                <a:t>局限：无学科结构，易幻觉，难规划路径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515100" y="35433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6558756" y="3794919"/>
              <a:ext cx="130969" cy="87312"/>
            </a:xfrm>
            <a:custGeom>
              <a:avLst/>
              <a:gdLst/>
              <a:ahLst/>
              <a:cxnLst/>
              <a:rect l="l" t="t" r="r" b="b"/>
              <a:pathLst>
                <a:path w="130969" h="87312">
                  <a:moveTo>
                    <a:pt x="0" y="43656"/>
                  </a:moveTo>
                  <a:lnTo>
                    <a:pt x="43656" y="87312"/>
                  </a:lnTo>
                  <a:lnTo>
                    <a:pt x="130969" y="0"/>
                  </a:lnTo>
                </a:path>
              </a:pathLst>
            </a:custGeom>
            <a:noFill/>
            <a:ln w="23812">
              <a:solidFill>
                <a:srgbClr val="16A34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87039" y="3768804"/>
              <a:ext cx="2949738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我方：知识图谱注入学科结构 + 防幻觉三层，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87039" y="3978354"/>
              <a:ext cx="147780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生成有据、推理可靠。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09600" y="4381500"/>
            <a:ext cx="5334000" cy="1485900"/>
            <a:chOff x="609600" y="4381500"/>
            <a:chExt cx="5334000" cy="1485900"/>
          </a:xfrm>
        </p:grpSpPr>
        <p:sp>
          <p:nvSpPr>
            <p:cNvPr id="63" name="Rectangle 63"/>
            <p:cNvSpPr/>
            <p:nvPr/>
          </p:nvSpPr>
          <p:spPr>
            <a:xfrm>
              <a:off x="609600" y="4381500"/>
              <a:ext cx="5334000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525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609600" y="4381500"/>
              <a:ext cx="47625" cy="1485900"/>
            </a:xfrm>
            <a:prstGeom prst="roundRect">
              <a:avLst>
                <a:gd name="adj" fmla="val 50000"/>
              </a:avLst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58202" y="4570571"/>
              <a:ext cx="17122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vs 自适应学习系统</a:t>
              </a:r>
            </a:p>
          </p:txBody>
        </p:sp>
        <p:grpSp>
          <p:nvGrpSpPr>
            <p:cNvPr id="72" name="Group 72"/>
            <p:cNvGrpSpPr/>
            <p:nvPr/>
          </p:nvGrpSpPr>
          <p:grpSpPr>
            <a:xfrm>
              <a:off x="5340350" y="4567238"/>
              <a:ext cx="177800" cy="200025"/>
              <a:chOff x="5340350" y="4567238"/>
              <a:chExt cx="177800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5340350" y="45783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5473700" y="47117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5418138" y="4600575"/>
                <a:ext cx="77787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111125">
                    <a:moveTo>
                      <a:pt x="0" y="0"/>
                    </a:moveTo>
                    <a:lnTo>
                      <a:pt x="55562" y="0"/>
                    </a:lnTo>
                    <a:cubicBezTo>
                      <a:pt x="67837" y="0"/>
                      <a:pt x="77787" y="9950"/>
                      <a:pt x="77787" y="22225"/>
                    </a:cubicBezTo>
                    <a:lnTo>
                      <a:pt x="77787" y="11112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5418138" y="4567238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33338" y="66675"/>
                    </a:moveTo>
                    <a:lnTo>
                      <a:pt x="0" y="33338"/>
                    </a:ln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5362575" y="4622800"/>
                <a:ext cx="77787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77787" h="111125">
                    <a:moveTo>
                      <a:pt x="77787" y="111125"/>
                    </a:move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5407025" y="4700588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0"/>
                    </a:moveTo>
                    <a:lnTo>
                      <a:pt x="33338" y="33338"/>
                    </a:ln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862965" y="4915852"/>
              <a:ext cx="2546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4F4F"/>
                  </a:solidFill>
                  <a:latin typeface="Arial"/>
                  <a:ea typeface="Microsoft YaHei"/>
                  <a:cs typeface="Arial"/>
                </a:rPr>
                <a:t>局限：调难度但缺乏知识点间的关联推理</a:t>
              </a:r>
            </a:p>
          </p:txBody>
        </p:sp>
        <p:sp>
          <p:nvSpPr>
            <p:cNvPr id="74" name="Line 74"/>
            <p:cNvSpPr/>
            <p:nvPr/>
          </p:nvSpPr>
          <p:spPr>
            <a:xfrm>
              <a:off x="876300" y="51816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F1F5F9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919956" y="543321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23812">
              <a:solidFill>
                <a:srgbClr val="16A34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148239" y="5407104"/>
              <a:ext cx="2369665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我方：图谱递归回溯 + 跨模块溯源，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48239" y="5616654"/>
              <a:ext cx="2057876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真正做到关联推理与因材施教。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6248400" y="4381500"/>
            <a:ext cx="5334000" cy="1485900"/>
            <a:chOff x="6248400" y="4381500"/>
            <a:chExt cx="5334000" cy="1485900"/>
          </a:xfrm>
        </p:grpSpPr>
        <p:sp>
          <p:nvSpPr>
            <p:cNvPr id="79" name="Rectangle 79"/>
            <p:cNvSpPr/>
            <p:nvPr/>
          </p:nvSpPr>
          <p:spPr>
            <a:xfrm>
              <a:off x="6248400" y="4381500"/>
              <a:ext cx="5334000" cy="1485900"/>
            </a:xfrm>
            <a:prstGeom prst="roundRect">
              <a:avLst>
                <a:gd name="adj" fmla="val 8974"/>
              </a:avLst>
            </a:prstGeom>
            <a:solidFill>
              <a:srgbClr val="FFFCF5"/>
            </a:solidFill>
            <a:ln w="19050">
              <a:solidFill>
                <a:srgbClr val="F5A623"/>
              </a:solidFill>
            </a:ln>
            <a:effectLst>
              <a:outerShdw blurRad="95250" dist="28575" dir="5400000" algn="ctr" rotWithShape="0">
                <a:srgbClr val="0F172A">
                  <a:alpha val="5250"/>
                </a:srgbClr>
              </a:outerShdw>
            </a:effectLst>
          </p:spPr>
        </p:sp>
        <p:sp>
          <p:nvSpPr>
            <p:cNvPr id="80" name="Rectangle 80"/>
            <p:cNvSpPr/>
            <p:nvPr/>
          </p:nvSpPr>
          <p:spPr>
            <a:xfrm>
              <a:off x="6248400" y="4381500"/>
              <a:ext cx="47625" cy="1485900"/>
            </a:xfrm>
            <a:prstGeom prst="roundRect">
              <a:avLst>
                <a:gd name="adj" fmla="val 50000"/>
              </a:avLst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497002" y="4570571"/>
              <a:ext cx="131315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vs 一对一辅导</a:t>
              </a:r>
            </a:p>
          </p:txBody>
        </p:sp>
        <p:grpSp>
          <p:nvGrpSpPr>
            <p:cNvPr id="88" name="Group 88"/>
            <p:cNvGrpSpPr/>
            <p:nvPr/>
          </p:nvGrpSpPr>
          <p:grpSpPr>
            <a:xfrm>
              <a:off x="10979150" y="4567238"/>
              <a:ext cx="177800" cy="200025"/>
              <a:chOff x="10979150" y="4567238"/>
              <a:chExt cx="177800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10979150" y="45783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11112500" y="47117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11056938" y="4600575"/>
                <a:ext cx="777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11125">
                    <a:moveTo>
                      <a:pt x="0" y="0"/>
                    </a:moveTo>
                    <a:lnTo>
                      <a:pt x="55563" y="0"/>
                    </a:lnTo>
                    <a:cubicBezTo>
                      <a:pt x="67837" y="0"/>
                      <a:pt x="77788" y="9950"/>
                      <a:pt x="77788" y="22225"/>
                    </a:cubicBezTo>
                    <a:lnTo>
                      <a:pt x="77788" y="1111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11056938" y="4567238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33338" y="66675"/>
                    </a:moveTo>
                    <a:lnTo>
                      <a:pt x="0" y="33338"/>
                    </a:ln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1001375" y="4622800"/>
                <a:ext cx="777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11125">
                    <a:moveTo>
                      <a:pt x="77788" y="111125"/>
                    </a:move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11045825" y="4700588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0"/>
                    </a:moveTo>
                    <a:lnTo>
                      <a:pt x="33338" y="33338"/>
                    </a:ln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6501765" y="4915852"/>
              <a:ext cx="2827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4F4F"/>
                  </a:solidFill>
                  <a:latin typeface="Arial"/>
                  <a:ea typeface="Microsoft YaHei"/>
                  <a:cs typeface="Arial"/>
                </a:rPr>
                <a:t>局限：效果好但资源稀缺、成本高、难规模化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6515100" y="51816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FBEAD0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6558756" y="5433219"/>
              <a:ext cx="130969" cy="87313"/>
            </a:xfrm>
            <a:custGeom>
              <a:avLst/>
              <a:gdLst/>
              <a:ahLst/>
              <a:cxnLst/>
              <a:rect l="l" t="t" r="r" b="b"/>
              <a:pathLst>
                <a:path w="130969" h="87313">
                  <a:moveTo>
                    <a:pt x="0" y="43656"/>
                  </a:moveTo>
                  <a:lnTo>
                    <a:pt x="43656" y="87313"/>
                  </a:lnTo>
                  <a:lnTo>
                    <a:pt x="130969" y="0"/>
                  </a:lnTo>
                </a:path>
              </a:pathLst>
            </a:custGeom>
            <a:noFill/>
            <a:ln w="23812">
              <a:solidFill>
                <a:srgbClr val="16A34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787039" y="5407104"/>
              <a:ext cx="2920734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我方：AI 智能体 7×24 提供一对一级别辅导，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787039" y="5616654"/>
              <a:ext cx="1622822" cy="2209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8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低成本、可规模化复制。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598170" y="6513195"/>
            <a:ext cx="10995660" cy="182880"/>
            <a:chOff x="598170" y="6513195"/>
            <a:chExt cx="10995660" cy="182880"/>
          </a:xfrm>
        </p:grpSpPr>
        <p:sp>
          <p:nvSpPr>
            <p:cNvPr id="95" name="TextBox 95"/>
            <p:cNvSpPr txBox="1"/>
            <p:nvPr/>
          </p:nvSpPr>
          <p:spPr>
            <a:xfrm>
              <a:off x="598170" y="6513195"/>
              <a:ext cx="28552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SmartMentor 智导师 · 中国软件杯 A3 赛题参赛汇报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468957" y="651319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AA5B1"/>
                  </a:solidFill>
                  <a:latin typeface="Arial"/>
                  <a:ea typeface="Microsoft YaHei"/>
                  <a:cs typeface="Arial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6" grpId="0"/>
      <p:bldP spid="62" grpId="0"/>
      <p:bldP spid="78" grpId="0"/>
      <p:bldP spid="9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2E5C"/>
              </a:gs>
              <a:gs pos="55000">
                <a:srgbClr val="113A72"/>
              </a:gs>
              <a:gs pos="100000">
                <a:srgbClr val="0A2348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A6D6">
                  <a:alpha val="28000"/>
                </a:srgbClr>
              </a:gs>
              <a:gs pos="100000">
                <a:srgbClr val="00A6D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1428750" y="571500"/>
            <a:ext cx="9620250" cy="1428750"/>
            <a:chOff x="1428750" y="571500"/>
            <a:chExt cx="9620250" cy="1428750"/>
          </a:xfrm>
        </p:grpSpPr>
        <p:sp>
          <p:nvSpPr>
            <p:cNvPr id="4" name="Line 4"/>
            <p:cNvSpPr/>
            <p:nvPr/>
          </p:nvSpPr>
          <p:spPr>
            <a:xfrm>
              <a:off x="1428750" y="762000"/>
              <a:ext cx="952500" cy="381000"/>
            </a:xfrm>
            <a:custGeom>
              <a:avLst/>
              <a:gdLst/>
              <a:ahLst/>
              <a:cxnLst/>
              <a:rect l="l" t="t" r="r" b="b"/>
              <a:pathLst>
                <a:path w="952500" h="381000">
                  <a:moveTo>
                    <a:pt x="0" y="381000"/>
                  </a:moveTo>
                  <a:lnTo>
                    <a:pt x="952500" y="0"/>
                  </a:lnTo>
                </a:path>
              </a:pathLst>
            </a:custGeom>
            <a:noFill/>
            <a:ln w="11430">
              <a:solidFill>
                <a:srgbClr val="3E6BA0">
                  <a:alpha val="4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428750" y="1143000"/>
              <a:ext cx="666750" cy="857250"/>
            </a:xfrm>
            <a:custGeom>
              <a:avLst/>
              <a:gdLst/>
              <a:ahLst/>
              <a:cxnLst/>
              <a:rect l="l" t="t" r="r" b="b"/>
              <a:pathLst>
                <a:path w="666750" h="857250">
                  <a:moveTo>
                    <a:pt x="0" y="0"/>
                  </a:moveTo>
                  <a:lnTo>
                    <a:pt x="666750" y="857250"/>
                  </a:lnTo>
                </a:path>
              </a:pathLst>
            </a:custGeom>
            <a:noFill/>
            <a:ln w="11430">
              <a:solidFill>
                <a:srgbClr val="3E6BA0">
                  <a:alpha val="4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0287000" y="1143000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0"/>
                  </a:moveTo>
                  <a:lnTo>
                    <a:pt x="762000" y="571500"/>
                  </a:lnTo>
                </a:path>
              </a:pathLst>
            </a:custGeom>
            <a:noFill/>
            <a:ln w="11430">
              <a:solidFill>
                <a:srgbClr val="3E6BA0">
                  <a:alpha val="4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620250" y="571500"/>
              <a:ext cx="666750" cy="571500"/>
            </a:xfrm>
            <a:custGeom>
              <a:avLst/>
              <a:gdLst/>
              <a:ahLst/>
              <a:cxnLst/>
              <a:rect l="l" t="t" r="r" b="b"/>
              <a:pathLst>
                <a:path w="666750" h="571500">
                  <a:moveTo>
                    <a:pt x="666750" y="57150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3E6BA0">
                  <a:alpha val="40000"/>
                </a:srgbClr>
              </a:solidFill>
            </a:ln>
          </p:spPr>
        </p:sp>
      </p:grpSp>
      <p:sp>
        <p:nvSpPr>
          <p:cNvPr id="9" name="Ellipse 9"/>
          <p:cNvSpPr/>
          <p:nvPr/>
        </p:nvSpPr>
        <p:spPr>
          <a:xfrm>
            <a:off x="1362075" y="1076325"/>
            <a:ext cx="133350" cy="133350"/>
          </a:xfrm>
          <a:prstGeom prst="ellipse">
            <a:avLst/>
          </a:prstGeom>
          <a:solidFill>
            <a:srgbClr val="00A6D6">
              <a:alpha val="7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2343150" y="723900"/>
            <a:ext cx="76200" cy="76200"/>
          </a:xfrm>
          <a:prstGeom prst="ellipse">
            <a:avLst/>
          </a:prstGeom>
          <a:solidFill>
            <a:srgbClr val="5FD0EE">
              <a:alpha val="60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2047875" y="1952625"/>
            <a:ext cx="95250" cy="95250"/>
          </a:xfrm>
          <a:prstGeom prst="ellipse">
            <a:avLst/>
          </a:prstGeom>
          <a:solidFill>
            <a:srgbClr val="5FD0EE">
              <a:alpha val="5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0220325" y="1076325"/>
            <a:ext cx="133350" cy="133350"/>
          </a:xfrm>
          <a:prstGeom prst="ellipse">
            <a:avLst/>
          </a:prstGeom>
          <a:solidFill>
            <a:srgbClr val="F5A623">
              <a:alpha val="7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1010900" y="1676400"/>
            <a:ext cx="76200" cy="76200"/>
          </a:xfrm>
          <a:prstGeom prst="ellipse">
            <a:avLst/>
          </a:prstGeom>
          <a:solidFill>
            <a:srgbClr val="5FD0EE">
              <a:alpha val="60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572625" y="523875"/>
            <a:ext cx="95250" cy="95250"/>
          </a:xfrm>
          <a:prstGeom prst="ellipse">
            <a:avLst/>
          </a:prstGeom>
          <a:solidFill>
            <a:srgbClr val="5FD0EE">
              <a:alpha val="50000"/>
            </a:srgbClr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2942511" y="1206500"/>
            <a:ext cx="6306979" cy="2053431"/>
            <a:chOff x="2942511" y="1206500"/>
            <a:chExt cx="6306979" cy="2053431"/>
          </a:xfrm>
        </p:grpSpPr>
        <p:grpSp>
          <p:nvGrpSpPr>
            <p:cNvPr id="18" name="Group 18"/>
            <p:cNvGrpSpPr/>
            <p:nvPr/>
          </p:nvGrpSpPr>
          <p:grpSpPr>
            <a:xfrm>
              <a:off x="5884777" y="1206500"/>
              <a:ext cx="414423" cy="414423"/>
              <a:chOff x="5884777" y="1206500"/>
              <a:chExt cx="414423" cy="41442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892800" y="1206500"/>
                <a:ext cx="4064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06400">
                    <a:moveTo>
                      <a:pt x="0" y="228600"/>
                    </a:moveTo>
                    <a:cubicBezTo>
                      <a:pt x="93223" y="239679"/>
                      <a:pt x="166721" y="313177"/>
                      <a:pt x="177800" y="406400"/>
                    </a:cubicBezTo>
                    <a:cubicBezTo>
                      <a:pt x="223446" y="380085"/>
                      <a:pt x="252261" y="332059"/>
                      <a:pt x="254000" y="279400"/>
                    </a:cubicBezTo>
                    <a:cubicBezTo>
                      <a:pt x="341218" y="248718"/>
                      <a:pt x="401366" y="168520"/>
                      <a:pt x="406400" y="76200"/>
                    </a:cubicBezTo>
                    <a:cubicBezTo>
                      <a:pt x="406400" y="34116"/>
                      <a:pt x="372284" y="0"/>
                      <a:pt x="330200" y="0"/>
                    </a:cubicBezTo>
                    <a:cubicBezTo>
                      <a:pt x="237880" y="5034"/>
                      <a:pt x="157682" y="65182"/>
                      <a:pt x="127000" y="152400"/>
                    </a:cubicBezTo>
                    <a:cubicBezTo>
                      <a:pt x="74341" y="154139"/>
                      <a:pt x="26315" y="182954"/>
                      <a:pt x="0" y="228600"/>
                    </a:cubicBez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884777" y="1460500"/>
                <a:ext cx="160423" cy="160423"/>
              </a:xfrm>
              <a:custGeom>
                <a:avLst/>
                <a:gdLst/>
                <a:ahLst/>
                <a:cxnLst/>
                <a:rect l="l" t="t" r="r" b="b"/>
                <a:pathLst>
                  <a:path w="160423" h="160423">
                    <a:moveTo>
                      <a:pt x="84223" y="0"/>
                    </a:moveTo>
                    <a:cubicBezTo>
                      <a:pt x="30145" y="30530"/>
                      <a:pt x="0" y="90820"/>
                      <a:pt x="8023" y="152400"/>
                    </a:cubicBezTo>
                    <a:cubicBezTo>
                      <a:pt x="69603" y="160423"/>
                      <a:pt x="129893" y="130278"/>
                      <a:pt x="160423" y="76200"/>
                    </a:cubicBez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146800" y="13081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5FD0EE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043095" y="1941195"/>
              <a:ext cx="6105811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FFFFF"/>
                  </a:solidFill>
                  <a:latin typeface="Arial Black"/>
                  <a:ea typeface="Microsoft YaHei"/>
                  <a:cs typeface="Arial Black"/>
                </a:rPr>
                <a:t>治本式学习，从这里开始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410200" y="2628900"/>
              <a:ext cx="1371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A6D6"/>
                </a:gs>
                <a:gs pos="100000">
                  <a:srgbClr val="5FD0EE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42511" y="2970371"/>
              <a:ext cx="630697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AFC4DF"/>
                  </a:solidFill>
                  <a:latin typeface="Arial"/>
                  <a:ea typeface="Microsoft YaHei"/>
                  <a:cs typeface="Arial"/>
                </a:rPr>
                <a:t>完整命中 A3 赛题三大要求：个性化资源生成 · 学习多智能体 · 融合大模型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14400" y="3619500"/>
            <a:ext cx="10363200" cy="2400300"/>
            <a:chOff x="914400" y="3619500"/>
            <a:chExt cx="10363200" cy="2400300"/>
          </a:xfrm>
        </p:grpSpPr>
        <p:grpSp>
          <p:nvGrpSpPr>
            <p:cNvPr id="40" name="Group 40"/>
            <p:cNvGrpSpPr/>
            <p:nvPr/>
          </p:nvGrpSpPr>
          <p:grpSpPr>
            <a:xfrm>
              <a:off x="914400" y="3619500"/>
              <a:ext cx="5029200" cy="2400300"/>
              <a:chOff x="914400" y="3619500"/>
              <a:chExt cx="5029200" cy="24003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914400" y="3619500"/>
                <a:ext cx="5029200" cy="2400300"/>
              </a:xfrm>
              <a:prstGeom prst="roundRect">
                <a:avLst>
                  <a:gd name="adj" fmla="val 6349"/>
                </a:avLst>
              </a:prstGeom>
              <a:solidFill>
                <a:srgbClr val="FFFFFF">
                  <a:alpha val="6000"/>
                </a:srgbClr>
              </a:solidFill>
              <a:ln w="14288">
                <a:solidFill>
                  <a:srgbClr val="3E6BA0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1227006" y="3907631"/>
                <a:ext cx="232011" cy="241403"/>
                <a:chOff x="1227006" y="3907631"/>
                <a:chExt cx="232011" cy="241403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1262062" y="3907631"/>
                  <a:ext cx="161925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61925">
                      <a:moveTo>
                        <a:pt x="0" y="80962"/>
                      </a:moveTo>
                      <a:cubicBezTo>
                        <a:pt x="0" y="125677"/>
                        <a:pt x="36248" y="161925"/>
                        <a:pt x="80962" y="161925"/>
                      </a:cubicBezTo>
                      <a:cubicBezTo>
                        <a:pt x="125677" y="161925"/>
                        <a:pt x="161925" y="125677"/>
                        <a:pt x="161925" y="80962"/>
                      </a:cubicBezTo>
                      <a:cubicBezTo>
                        <a:pt x="161925" y="36248"/>
                        <a:pt x="125677" y="0"/>
                        <a:pt x="80962" y="0"/>
                      </a:cubicBezTo>
                      <a:cubicBezTo>
                        <a:pt x="36248" y="0"/>
                        <a:pt x="0" y="36248"/>
                        <a:pt x="0" y="80962"/>
                      </a:cubicBez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343025" y="4029075"/>
                  <a:ext cx="115992" cy="119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92" h="119959">
                      <a:moveTo>
                        <a:pt x="0" y="40481"/>
                      </a:moveTo>
                      <a:lnTo>
                        <a:pt x="45879" y="119959"/>
                      </a:lnTo>
                      <a:lnTo>
                        <a:pt x="67442" y="76334"/>
                      </a:lnTo>
                      <a:lnTo>
                        <a:pt x="115992" y="79465"/>
                      </a:lnTo>
                      <a:lnTo>
                        <a:pt x="70114" y="0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227006" y="4029075"/>
                  <a:ext cx="115992" cy="119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92" h="119946">
                      <a:moveTo>
                        <a:pt x="45879" y="0"/>
                      </a:moveTo>
                      <a:lnTo>
                        <a:pt x="0" y="79478"/>
                      </a:lnTo>
                      <a:lnTo>
                        <a:pt x="48551" y="76334"/>
                      </a:lnTo>
                      <a:lnTo>
                        <a:pt x="70114" y="119946"/>
                      </a:lnTo>
                      <a:lnTo>
                        <a:pt x="115992" y="40481"/>
                      </a:lnTo>
                    </a:path>
                  </a:pathLst>
                </a:custGeom>
                <a:noFill/>
                <a:ln w="19050">
                  <a:solidFill>
                    <a:srgbClr val="5FD0EE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599248" y="39447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已落地成果</a:t>
                </a:r>
              </a:p>
            </p:txBody>
          </p:sp>
          <p:grpSp>
            <p:nvGrpSpPr>
              <p:cNvPr id="39" name="Group 39"/>
              <p:cNvGrpSpPr/>
              <p:nvPr/>
            </p:nvGrpSpPr>
            <p:grpSpPr>
              <a:xfrm>
                <a:off x="1224756" y="4436983"/>
                <a:ext cx="2849229" cy="1455420"/>
                <a:chOff x="1224756" y="4436983"/>
                <a:chExt cx="2849229" cy="145542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1224756" y="4461669"/>
                  <a:ext cx="130969" cy="8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87312">
                      <a:moveTo>
                        <a:pt x="0" y="43656"/>
                      </a:moveTo>
                      <a:lnTo>
                        <a:pt x="43656" y="87312"/>
                      </a:lnTo>
                      <a:lnTo>
                        <a:pt x="130969" y="0"/>
                      </a:lnTo>
                    </a:path>
                  </a:pathLst>
                </a:custGeom>
                <a:noFill/>
                <a:ln w="23812">
                  <a:solidFill>
                    <a:srgbClr val="16A34A"/>
                  </a:solidFill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471136" y="4436983"/>
                  <a:ext cx="2362569" cy="236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2" dirty="0">
                      <a:solidFill>
                        <a:srgbClr val="E4EEF8"/>
                      </a:solidFill>
                      <a:latin typeface="Arial"/>
                      <a:ea typeface="Microsoft YaHei"/>
                      <a:cs typeface="Arial"/>
                    </a:rPr>
                    <a:t>5 Agent 闭环 + 知识图谱递归溯源</a:t>
                  </a:r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224756" y="4766469"/>
                  <a:ext cx="130969" cy="8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87312">
                      <a:moveTo>
                        <a:pt x="0" y="43656"/>
                      </a:moveTo>
                      <a:lnTo>
                        <a:pt x="43656" y="87312"/>
                      </a:lnTo>
                      <a:lnTo>
                        <a:pt x="130969" y="0"/>
                      </a:lnTo>
                    </a:path>
                  </a:pathLst>
                </a:custGeom>
                <a:noFill/>
                <a:ln w="23812">
                  <a:solidFill>
                    <a:srgbClr val="16A34A"/>
                  </a:solidFill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1471136" y="4741783"/>
                  <a:ext cx="2223052" cy="236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2" dirty="0">
                      <a:solidFill>
                        <a:srgbClr val="E4EEF8"/>
                      </a:solidFill>
                      <a:latin typeface="Arial"/>
                      <a:ea typeface="Microsoft YaHei"/>
                      <a:cs typeface="Arial"/>
                    </a:rPr>
                    <a:t>防幻觉三层机制 + 多模型高可用</a:t>
                  </a:r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224756" y="5071269"/>
                  <a:ext cx="130969" cy="8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87313">
                      <a:moveTo>
                        <a:pt x="0" y="43656"/>
                      </a:moveTo>
                      <a:lnTo>
                        <a:pt x="43656" y="87313"/>
                      </a:lnTo>
                      <a:lnTo>
                        <a:pt x="130969" y="0"/>
                      </a:lnTo>
                    </a:path>
                  </a:pathLst>
                </a:custGeom>
                <a:noFill/>
                <a:ln w="23812">
                  <a:solidFill>
                    <a:srgbClr val="16A34A"/>
                  </a:solidFill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1471136" y="5046583"/>
                  <a:ext cx="2602849" cy="236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2" dirty="0">
                      <a:solidFill>
                        <a:srgbClr val="E4EEF8"/>
                      </a:solidFill>
                      <a:latin typeface="Arial"/>
                      <a:ea typeface="Microsoft YaHei"/>
                      <a:cs typeface="Arial"/>
                    </a:rPr>
                    <a:t>学生端 7 功能 + 教师端 6 功能完整 UI</a:t>
                  </a:r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224756" y="5376069"/>
                  <a:ext cx="130969" cy="8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87313">
                      <a:moveTo>
                        <a:pt x="0" y="43656"/>
                      </a:moveTo>
                      <a:lnTo>
                        <a:pt x="43656" y="87313"/>
                      </a:lnTo>
                      <a:lnTo>
                        <a:pt x="130969" y="0"/>
                      </a:lnTo>
                    </a:path>
                  </a:pathLst>
                </a:custGeom>
                <a:noFill/>
                <a:ln w="23812">
                  <a:solidFill>
                    <a:srgbClr val="16A34A"/>
                  </a:solidFill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471136" y="5351383"/>
                  <a:ext cx="2060281" cy="236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2" dirty="0">
                      <a:solidFill>
                        <a:srgbClr val="E4EEF8"/>
                      </a:solidFill>
                      <a:latin typeface="Arial"/>
                      <a:ea typeface="Microsoft YaHei"/>
                      <a:cs typeface="Arial"/>
                    </a:rPr>
                    <a:t>40+ 后端接口 + 离线演示模式</a:t>
                  </a:r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224756" y="5680869"/>
                  <a:ext cx="130969" cy="87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87313">
                      <a:moveTo>
                        <a:pt x="0" y="43656"/>
                      </a:moveTo>
                      <a:lnTo>
                        <a:pt x="43656" y="87313"/>
                      </a:lnTo>
                      <a:lnTo>
                        <a:pt x="130969" y="0"/>
                      </a:lnTo>
                    </a:path>
                  </a:pathLst>
                </a:custGeom>
                <a:noFill/>
                <a:ln w="23812">
                  <a:solidFill>
                    <a:srgbClr val="16A34A"/>
                  </a:solidFill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471136" y="5656183"/>
                  <a:ext cx="2223052" cy="236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2" dirty="0">
                      <a:solidFill>
                        <a:srgbClr val="E4EEF8"/>
                      </a:solidFill>
                      <a:latin typeface="Arial"/>
                      <a:ea typeface="Microsoft YaHei"/>
                      <a:cs typeface="Arial"/>
                    </a:rPr>
                    <a:t>导数 + 函数知识链路全流程跑通</a:t>
                  </a:r>
                </a:p>
              </p:txBody>
            </p:sp>
          </p:grpSp>
        </p:grpSp>
        <p:grpSp>
          <p:nvGrpSpPr>
            <p:cNvPr id="58" name="Group 58"/>
            <p:cNvGrpSpPr/>
            <p:nvPr/>
          </p:nvGrpSpPr>
          <p:grpSpPr>
            <a:xfrm>
              <a:off x="6248400" y="3619500"/>
              <a:ext cx="5029200" cy="2400300"/>
              <a:chOff x="6248400" y="3619500"/>
              <a:chExt cx="5029200" cy="24003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248400" y="3619500"/>
                <a:ext cx="5029200" cy="2400300"/>
              </a:xfrm>
              <a:prstGeom prst="roundRect">
                <a:avLst>
                  <a:gd name="adj" fmla="val 6349"/>
                </a:avLst>
              </a:prstGeom>
              <a:solidFill>
                <a:srgbClr val="FFFFFF">
                  <a:alpha val="6000"/>
                </a:srgbClr>
              </a:solidFill>
              <a:ln w="14288">
                <a:solidFill>
                  <a:srgbClr val="3E6BA0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6564813" y="3921125"/>
                <a:ext cx="220162" cy="220162"/>
                <a:chOff x="6564813" y="3921125"/>
                <a:chExt cx="220162" cy="220162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6569075" y="3921125"/>
                  <a:ext cx="215900" cy="21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0" h="215900">
                      <a:moveTo>
                        <a:pt x="0" y="121444"/>
                      </a:moveTo>
                      <a:cubicBezTo>
                        <a:pt x="49525" y="127329"/>
                        <a:pt x="88571" y="166375"/>
                        <a:pt x="94456" y="215900"/>
                      </a:cubicBezTo>
                      <a:cubicBezTo>
                        <a:pt x="118705" y="201920"/>
                        <a:pt x="134014" y="176406"/>
                        <a:pt x="134938" y="148431"/>
                      </a:cubicBezTo>
                      <a:cubicBezTo>
                        <a:pt x="181272" y="132131"/>
                        <a:pt x="213226" y="89526"/>
                        <a:pt x="215900" y="40481"/>
                      </a:cubicBezTo>
                      <a:cubicBezTo>
                        <a:pt x="215900" y="18124"/>
                        <a:pt x="197776" y="0"/>
                        <a:pt x="175419" y="0"/>
                      </a:cubicBezTo>
                      <a:cubicBezTo>
                        <a:pt x="126374" y="2674"/>
                        <a:pt x="83769" y="34628"/>
                        <a:pt x="67469" y="80962"/>
                      </a:cubicBezTo>
                      <a:cubicBezTo>
                        <a:pt x="39494" y="81886"/>
                        <a:pt x="13980" y="97195"/>
                        <a:pt x="0" y="121444"/>
                      </a:cubicBez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564813" y="4056062"/>
                  <a:ext cx="85225" cy="8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25" h="85225">
                      <a:moveTo>
                        <a:pt x="44743" y="0"/>
                      </a:moveTo>
                      <a:cubicBezTo>
                        <a:pt x="16014" y="16219"/>
                        <a:pt x="0" y="48248"/>
                        <a:pt x="4262" y="80962"/>
                      </a:cubicBezTo>
                      <a:cubicBezTo>
                        <a:pt x="36977" y="85225"/>
                        <a:pt x="69006" y="69210"/>
                        <a:pt x="85225" y="40481"/>
                      </a:cubicBez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704012" y="3975100"/>
                  <a:ext cx="26987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7" h="26988">
                      <a:moveTo>
                        <a:pt x="0" y="13494"/>
                      </a:moveTo>
                      <a:cubicBezTo>
                        <a:pt x="0" y="20946"/>
                        <a:pt x="6041" y="26988"/>
                        <a:pt x="13494" y="26988"/>
                      </a:cubicBezTo>
                      <a:cubicBezTo>
                        <a:pt x="20946" y="26988"/>
                        <a:pt x="26987" y="20946"/>
                        <a:pt x="26987" y="13494"/>
                      </a:cubicBezTo>
                      <a:cubicBezTo>
                        <a:pt x="26987" y="6041"/>
                        <a:pt x="20946" y="0"/>
                        <a:pt x="13494" y="0"/>
                      </a:cubicBezTo>
                      <a:cubicBezTo>
                        <a:pt x="6041" y="0"/>
                        <a:pt x="0" y="6041"/>
                        <a:pt x="0" y="13494"/>
                      </a:cubicBezTo>
                    </a:path>
                  </a:pathLst>
                </a:custGeom>
                <a:noFill/>
                <a:ln w="19050">
                  <a:solidFill>
                    <a:srgbClr val="F5A623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6933248" y="3944779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未来展望</a:t>
                </a:r>
              </a:p>
            </p:txBody>
          </p:sp>
          <p:grpSp>
            <p:nvGrpSpPr>
              <p:cNvPr id="57" name="Group 57"/>
              <p:cNvGrpSpPr/>
              <p:nvPr/>
            </p:nvGrpSpPr>
            <p:grpSpPr>
              <a:xfrm>
                <a:off x="6581775" y="4436983"/>
                <a:ext cx="2423160" cy="1455420"/>
                <a:chOff x="6581775" y="4436983"/>
                <a:chExt cx="2423160" cy="1455420"/>
              </a:xfrm>
            </p:grpSpPr>
            <p:sp>
              <p:nvSpPr>
                <p:cNvPr id="47" name="Ellipse 47"/>
                <p:cNvSpPr/>
                <p:nvPr/>
              </p:nvSpPr>
              <p:spPr>
                <a:xfrm>
                  <a:off x="6581775" y="4457700"/>
                  <a:ext cx="76200" cy="76200"/>
                </a:xfrm>
                <a:prstGeom prst="ellipse">
                  <a:avLst/>
                </a:prstGeom>
                <a:solidFill>
                  <a:srgbClr val="F5A623"/>
                </a:solidFill>
                <a:ln>
                  <a:noFill/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6805136" y="4436983"/>
                  <a:ext cx="1889760" cy="236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2" dirty="0">
                      <a:solidFill>
                        <a:srgbClr val="E4EEF8"/>
                      </a:solidFill>
                      <a:latin typeface="Arial"/>
                      <a:ea typeface="Microsoft YaHei"/>
                      <a:cs typeface="Arial"/>
                    </a:rPr>
                    <a:t>知识图谱可视化编辑与扩充</a:t>
                  </a:r>
                </a:p>
              </p:txBody>
            </p:sp>
            <p:sp>
              <p:nvSpPr>
                <p:cNvPr id="49" name="Ellipse 49"/>
                <p:cNvSpPr/>
                <p:nvPr/>
              </p:nvSpPr>
              <p:spPr>
                <a:xfrm>
                  <a:off x="6581775" y="4762500"/>
                  <a:ext cx="76200" cy="76200"/>
                </a:xfrm>
                <a:prstGeom prst="ellipse">
                  <a:avLst/>
                </a:prstGeom>
                <a:solidFill>
                  <a:srgbClr val="F5A623"/>
                </a:solidFill>
                <a:ln>
                  <a:noFill/>
                </a:ln>
              </p:spPr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6805136" y="4741783"/>
                  <a:ext cx="1734741" cy="236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2" dirty="0">
                      <a:solidFill>
                        <a:srgbClr val="E4EEF8"/>
                      </a:solidFill>
                      <a:latin typeface="Arial"/>
                      <a:ea typeface="Microsoft YaHei"/>
                      <a:cs typeface="Arial"/>
                    </a:rPr>
                    <a:t>题库质量自动评分与去重</a:t>
                  </a:r>
                </a:p>
              </p:txBody>
            </p:sp>
            <p:sp>
              <p:nvSpPr>
                <p:cNvPr id="51" name="Ellipse 51"/>
                <p:cNvSpPr/>
                <p:nvPr/>
              </p:nvSpPr>
              <p:spPr>
                <a:xfrm>
                  <a:off x="6581775" y="5067300"/>
                  <a:ext cx="76200" cy="76200"/>
                </a:xfrm>
                <a:prstGeom prst="ellipse">
                  <a:avLst/>
                </a:prstGeom>
                <a:solidFill>
                  <a:srgbClr val="F5A623"/>
                </a:solidFill>
                <a:ln>
                  <a:noFill/>
                </a:ln>
              </p:spPr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6805136" y="5046583"/>
                  <a:ext cx="2052530" cy="236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2" dirty="0">
                      <a:solidFill>
                        <a:srgbClr val="E4EEF8"/>
                      </a:solidFill>
                      <a:latin typeface="Arial"/>
                      <a:ea typeface="Microsoft YaHei"/>
                      <a:cs typeface="Arial"/>
                    </a:rPr>
                    <a:t>Agent 决策审计日志与可追溯</a:t>
                  </a:r>
                </a:p>
              </p:txBody>
            </p:sp>
            <p:sp>
              <p:nvSpPr>
                <p:cNvPr id="53" name="Ellipse 53"/>
                <p:cNvSpPr/>
                <p:nvPr/>
              </p:nvSpPr>
              <p:spPr>
                <a:xfrm>
                  <a:off x="6581775" y="5372100"/>
                  <a:ext cx="76200" cy="76200"/>
                </a:xfrm>
                <a:prstGeom prst="ellipse">
                  <a:avLst/>
                </a:prstGeom>
                <a:solidFill>
                  <a:srgbClr val="F5A623"/>
                </a:solidFill>
                <a:ln>
                  <a:noFill/>
                </a:ln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6805136" y="5351383"/>
                  <a:ext cx="2199799" cy="236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2" dirty="0">
                      <a:solidFill>
                        <a:srgbClr val="E4EEF8"/>
                      </a:solidFill>
                      <a:latin typeface="Arial"/>
                      <a:ea typeface="Microsoft YaHei"/>
                      <a:cs typeface="Arial"/>
                    </a:rPr>
                    <a:t>从数学扩展到物理、化学等学科</a:t>
                  </a:r>
                </a:p>
              </p:txBody>
            </p:sp>
            <p:sp>
              <p:nvSpPr>
                <p:cNvPr id="55" name="Ellipse 55"/>
                <p:cNvSpPr/>
                <p:nvPr/>
              </p:nvSpPr>
              <p:spPr>
                <a:xfrm>
                  <a:off x="6581775" y="5676900"/>
                  <a:ext cx="76200" cy="76200"/>
                </a:xfrm>
                <a:prstGeom prst="ellipse">
                  <a:avLst/>
                </a:prstGeom>
                <a:solidFill>
                  <a:srgbClr val="F5A623"/>
                </a:solidFill>
                <a:ln>
                  <a:noFill/>
                </a:ln>
              </p:spPr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6805136" y="5656183"/>
                  <a:ext cx="1889760" cy="236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62" dirty="0">
                      <a:solidFill>
                        <a:srgbClr val="E4EEF8"/>
                      </a:solidFill>
                      <a:latin typeface="Arial"/>
                      <a:ea typeface="Microsoft YaHei"/>
                      <a:cs typeface="Arial"/>
                    </a:rPr>
                    <a:t>规模化部署与多校协同验证</a:t>
                  </a:r>
                </a:p>
              </p:txBody>
            </p:sp>
          </p:grpSp>
        </p:grpSp>
      </p:grpSp>
      <p:grpSp>
        <p:nvGrpSpPr>
          <p:cNvPr id="62" name="Group 62"/>
          <p:cNvGrpSpPr/>
          <p:nvPr/>
        </p:nvGrpSpPr>
        <p:grpSpPr>
          <a:xfrm>
            <a:off x="914400" y="6324600"/>
            <a:ext cx="10363200" cy="400050"/>
            <a:chOff x="914400" y="6324600"/>
            <a:chExt cx="10363200" cy="400050"/>
          </a:xfrm>
        </p:grpSpPr>
        <p:sp>
          <p:nvSpPr>
            <p:cNvPr id="60" name="Line 60"/>
            <p:cNvSpPr/>
            <p:nvPr/>
          </p:nvSpPr>
          <p:spPr>
            <a:xfrm>
              <a:off x="914400" y="632460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rgbClr val="3E6BA0">
                  <a:alpha val="50000"/>
                </a:srgbClr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24265" y="6480810"/>
              <a:ext cx="47434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FC4DF"/>
                  </a:solidFill>
                  <a:latin typeface="Arial"/>
                  <a:ea typeface="Microsoft YaHei"/>
                  <a:cs typeface="Arial"/>
                </a:rPr>
                <a:t>感谢聆听 · 恳请评审专家批评指正 — SmartMentor 智导师团队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5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